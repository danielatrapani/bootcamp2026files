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978" autoAdjust="0"/>
    <p:restoredTop sz="87231" autoAdjust="0"/>
  </p:normalViewPr>
  <p:slideViewPr>
    <p:cSldViewPr snapToGrid="0">
      <p:cViewPr varScale="1">
        <p:scale>
          <a:sx n="122" d="100"/>
          <a:sy n="122" d="100"/>
        </p:scale>
        <p:origin x="408" y="96"/>
      </p:cViewPr>
      <p:guideLst/>
    </p:cSldViewPr>
  </p:slideViewPr>
  <p:notesTextViewPr>
    <p:cViewPr>
      <p:scale>
        <a:sx n="300" d="100"/>
        <a:sy n="3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39C2DA-0C19-4C46-AFFD-ADFFE0F0D683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C52256-F689-4531-A383-342A3D03AC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056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   https://en.wikipedia.org/wiki/GitHub#Mascot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52256-F689-4531-A383-342A3D03AC4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9425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(open source project)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52256-F689-4531-A383-342A3D03AC4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8595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Microsoft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52256-F689-4531-A383-342A3D03AC4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9146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52256-F689-4531-A383-342A3D03AC4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9622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52256-F689-4531-A383-342A3D03AC4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0086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3, 4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52256-F689-4531-A383-342A3D03AC4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9967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52256-F689-4531-A383-342A3D03AC4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8282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1, 4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52256-F689-4531-A383-342A3D03AC4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5640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3, 1, 2, 5, 4  or</a:t>
            </a:r>
          </a:p>
          <a:p>
            <a:r>
              <a:rPr lang="en-US" dirty="0"/>
              <a:t>3, 5, 1, 2, 4</a:t>
            </a:r>
          </a:p>
          <a:p>
            <a:r>
              <a:rPr lang="en-US" dirty="0"/>
              <a:t>  (i.e. remote must occur before push)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52256-F689-4531-A383-342A3D03AC4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9182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52256-F689-4531-A383-342A3D03AC4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7477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BBA6B-9236-DFB6-4DCF-7D225BCBF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C019D9-CBC7-2394-56BF-C0F9B92681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DC30A4-A769-4F60-F8AC-0B466A4CB5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2C9E68-0C99-412F-1F21-B40766AF48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52256-F689-4531-A383-342A3D03AC4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3409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B1E99-4CE8-E259-FE76-55CE71966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D298B3-8223-18AF-A8D2-EDCB6C5783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D0BCA7-77C7-E74A-5769-42DA7A0B10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2,4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2BAE6-D114-9C8D-1776-694BBAC9D8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52256-F689-4531-A383-342A3D03AC4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0435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6BCC9-5B54-ED08-DE72-DCAF1C7CE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412EB7-8CA1-E2C2-6D13-E1077831F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23B866-01D5-335B-D58D-1040483CD0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4C56F5-1AD4-70B9-952F-C00F6B22BA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52256-F689-4531-A383-342A3D03AC4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2404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89069-6347-17AE-44D6-1298AF675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C4254D-20A2-30CD-79CE-4761A68F6E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906B8A-D504-93BB-CB82-096FB20815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2,3,4,6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237CB6-41A9-98A7-D54C-61A4AA1113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52256-F689-4531-A383-342A3D03AC4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747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C1EE6-2AFE-40D0-CD6E-15C6676BE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366127-D16A-D61C-96BC-110FE51FD0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001D76-0A36-620A-157F-30C2DA7CCE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1,3,4,5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FABC7-B430-B95D-4175-86F2651052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52256-F689-4531-A383-342A3D03AC4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280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2368E-9F52-442B-8F3D-DA9F741B75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FA066B-FB44-4698-9E7A-F97853912B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738A4-7057-43D4-A124-EC2D20805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63FA-250E-49A4-85CA-97BBDFE27065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9093FF-58EE-484E-994C-28E1F5089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003E8-E97E-43C8-8443-11CD252B1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FE1E9-1DD5-46F6-9460-07441E39C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070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52541-9998-42C3-8B85-6846B338C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38490-4F37-4FBE-9D93-9554CD1CD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8B6BD-B3C9-4506-AA0B-43633EF8D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63FA-250E-49A4-85CA-97BBDFE27065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DFC4F-10C1-46F7-96C3-6FA45CF9D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8C746-0F5B-4445-8DE4-2B21B26C5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FE1E9-1DD5-46F6-9460-07441E39C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136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1F1EF-6925-4556-941B-DFABA7068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9567C4-B85E-486F-8CDD-834A807572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BD35B-5D04-4FA6-8553-18CC0C233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63FA-250E-49A4-85CA-97BBDFE27065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AA276-59BB-4CAE-A236-AF2DED549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708131-5E72-4D69-81C8-120576175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FE1E9-1DD5-46F6-9460-07441E39C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468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62704-DD5C-4A21-94FA-917571A8E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E9855-9F40-4A39-94AB-DCCCAECB05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844237-2703-4548-A3E5-923E5A4C06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7E009B-B0CF-4061-A974-5B1E9F326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63FA-250E-49A4-85CA-97BBDFE27065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D11D16-717B-4E55-AE9A-7A8EE7D2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646285-0A33-4273-99A5-742CF2D14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FE1E9-1DD5-46F6-9460-07441E39C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492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4F40D-E9FF-40D0-BD3B-FBE6462CF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2C5FFB-DD8A-4655-9678-C36077469D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42CD5-8164-451D-8B8B-A73070408F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D3E48C-3006-40F8-A3F2-0175669218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72D39E-692F-4DF4-A256-1E3CEB71F4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5480A9-E36E-479C-9AEA-B46B07B9D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63FA-250E-49A4-85CA-97BBDFE27065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DC39AB-1896-4340-800D-88A875186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D590F5-72F7-4DE3-AC8D-BE7396ACA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FE1E9-1DD5-46F6-9460-07441E39C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177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06E87-0433-4879-8F7D-CF506040E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D9CF7A-1404-48BA-AFF9-0A7835186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63FA-250E-49A4-85CA-97BBDFE27065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AD4A53-696F-4E2F-8245-C84A9E6AF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DB8479-BC11-470F-A1CB-B62A3C679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FE1E9-1DD5-46F6-9460-07441E39C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742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E2C182-8ADE-46DD-85C6-DBFEE6C2F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63FA-250E-49A4-85CA-97BBDFE27065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9FB081-349B-404B-8798-8417B4273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94BC5D-C182-43D9-BD79-4ADFE1937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FE1E9-1DD5-46F6-9460-07441E39C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16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91E1A-208F-41ED-9696-91CF493BA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1C7D9-BFEE-45D2-80C0-32EC0785E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58657D-52B1-4F42-8DDC-61A949D109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34C5FF-C69C-42C0-BF07-09AA5A8D8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63FA-250E-49A4-85CA-97BBDFE27065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D91C23-988D-49F8-86A2-7C56162FA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CB98FA-FDCA-460B-9FA8-A97252FFB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FE1E9-1DD5-46F6-9460-07441E39C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729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CFC6D-5FDF-429A-A6BB-C433B7D47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CC1650-C550-4E66-A737-12ECD0BFF8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B9FB4C-858F-4694-BB00-D3AFD9B85E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FB54FE-65B9-4721-8C7E-9672357FB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63FA-250E-49A4-85CA-97BBDFE27065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2D7C44-8C3E-4A08-B937-925581563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35AD3D-CFFD-4F12-A288-B19D763D3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FE1E9-1DD5-46F6-9460-07441E39C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030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687FB-3ED5-411E-AAE2-C01729112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FA1AD4-6D77-4DD2-9E8F-901184D601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B0FC7C-F450-4CED-9E7B-6362F14BD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63FA-250E-49A4-85CA-97BBDFE27065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91A75-0548-4C8F-BCB3-DEB5291A2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0619B-4651-4CE7-BEEF-0BD8A779D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FE1E9-1DD5-46F6-9460-07441E39C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096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645FA6-D020-4BA1-90D8-F0961E0CB7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EE45B3-EE89-47BA-8D80-27C83B3D47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0D9CF-0C24-4038-8788-BCF6B16AA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63FA-250E-49A4-85CA-97BBDFE27065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7FD375-542A-453C-90C8-7CE16A13E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D380AD-3C4B-4C6B-AA71-72842473A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FE1E9-1DD5-46F6-9460-07441E39C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436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D64C01-36C1-4DCC-BDE9-88C25BBA0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A75756-6D90-4CDF-A503-517C702AD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89088-2AAD-4B80-81BE-F87A421F91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1563FA-250E-49A4-85CA-97BBDFE27065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A1BEB-5052-4F32-9F7D-EA4418F52B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71343-AF9C-47A3-918D-F2F3096BD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DFE1E9-1DD5-46F6-9460-07441E39C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726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ACA37-F59B-4567-918B-A833C1EAB4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Git / GitHub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387A58-6758-4707-9804-5CE8DEA756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940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D3584-1DFD-42BF-AF3F-9DEF872A1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GitHub’s mascot is: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7E071-C41F-49A7-861C-19EC84D4E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Rubber Ducky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Octocat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Code Puppy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GitCat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Hexacat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940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D4817-69BE-44B0-8E02-0799F40EB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is owned by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956FC-E15C-4C47-89F6-C25F3DD1F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Oracle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Linux Foundation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No one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Microsoft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Apple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57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D4817-69BE-44B0-8E02-0799F40EB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is owned by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956FC-E15C-4C47-89F6-C25F3DD1F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Oracle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Linux Foundation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No one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Microsoft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Apple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5713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240D7-C97F-426F-B00D-2D71C3AAA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creating a directory to hold repositories…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917EA-AB5C-4582-95A7-2BB43E457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Create a directory on C: named “repos”.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Create a directory on any drive named “repost”.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While it is common to create a directory on drive C: named “repos”, you can create a directory anywhere named anything.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Create a directory on C: named “repos” and run “git </a:t>
            </a:r>
            <a:r>
              <a:rPr lang="en-US" dirty="0" err="1"/>
              <a:t>init</a:t>
            </a:r>
            <a:r>
              <a:rPr lang="en-US" dirty="0"/>
              <a:t>”.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6854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240D7-C97F-426F-B00D-2D71C3AAA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creating a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917EA-AB5C-4582-95A7-2BB43E457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Run</a:t>
            </a:r>
            <a:r>
              <a:rPr lang="en-US" dirty="0">
                <a:latin typeface="Consolas" panose="020B0609020204030204" pitchFamily="49" charset="0"/>
              </a:rPr>
              <a:t> git </a:t>
            </a:r>
            <a:r>
              <a:rPr lang="en-US" dirty="0" err="1">
                <a:latin typeface="Consolas" panose="020B0609020204030204" pitchFamily="49" charset="0"/>
              </a:rPr>
              <a:t>init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/>
              <a:t>in the top level directory of the repos folder.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Run</a:t>
            </a:r>
            <a:r>
              <a:rPr lang="en-US" dirty="0">
                <a:latin typeface="Consolas" panose="020B0609020204030204" pitchFamily="49" charset="0"/>
              </a:rPr>
              <a:t> git </a:t>
            </a:r>
            <a:r>
              <a:rPr lang="en-US" dirty="0" err="1">
                <a:latin typeface="Consolas" panose="020B0609020204030204" pitchFamily="49" charset="0"/>
              </a:rPr>
              <a:t>init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/>
              <a:t>in every directory.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Run</a:t>
            </a:r>
            <a:r>
              <a:rPr lang="en-US" dirty="0">
                <a:latin typeface="Consolas" panose="020B0609020204030204" pitchFamily="49" charset="0"/>
              </a:rPr>
              <a:t> git </a:t>
            </a:r>
            <a:r>
              <a:rPr lang="en-US" dirty="0" err="1">
                <a:latin typeface="Consolas" panose="020B0609020204030204" pitchFamily="49" charset="0"/>
              </a:rPr>
              <a:t>init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/>
              <a:t>in each project’s top directory.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Run</a:t>
            </a:r>
            <a:r>
              <a:rPr lang="en-US" dirty="0">
                <a:latin typeface="Consolas" panose="020B0609020204030204" pitchFamily="49" charset="0"/>
              </a:rPr>
              <a:t> git </a:t>
            </a:r>
            <a:r>
              <a:rPr lang="en-US" dirty="0" err="1">
                <a:latin typeface="Consolas" panose="020B0609020204030204" pitchFamily="49" charset="0"/>
              </a:rPr>
              <a:t>init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/>
              <a:t>in each project’s top directory and each subfolder.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188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240D7-C97F-426F-B00D-2D71C3AAA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is true. Pick 2.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917EA-AB5C-4582-95A7-2BB43E457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You must have a GitHub account in the cloud to use git locally.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You must have git locally to use GitHub in the cloud.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GitHub can be used without git.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git can be used without GitHub.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758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34FE8-2E44-4AA0-9EA8-AE07385ED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Most common sequence for project updates…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41E64-898F-4CB8-B470-5699EF5F2D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Create/edit a code file, run </a:t>
            </a:r>
            <a:r>
              <a:rPr lang="en-US" u="sng" dirty="0"/>
              <a:t>git commit</a:t>
            </a:r>
            <a:r>
              <a:rPr lang="en-US" dirty="0"/>
              <a:t>, run </a:t>
            </a:r>
            <a:r>
              <a:rPr lang="en-US" u="sng" dirty="0"/>
              <a:t>git add</a:t>
            </a:r>
            <a:r>
              <a:rPr lang="en-US" dirty="0"/>
              <a:t>, run </a:t>
            </a:r>
            <a:r>
              <a:rPr lang="en-US" u="sng" dirty="0"/>
              <a:t>git push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Create/edit a code file, run </a:t>
            </a:r>
            <a:r>
              <a:rPr lang="en-US" u="sng" dirty="0"/>
              <a:t>git add</a:t>
            </a:r>
            <a:r>
              <a:rPr lang="en-US" dirty="0"/>
              <a:t>, run </a:t>
            </a:r>
            <a:r>
              <a:rPr lang="en-US" u="sng" dirty="0"/>
              <a:t>git commit</a:t>
            </a:r>
            <a:r>
              <a:rPr lang="en-US" dirty="0"/>
              <a:t>, run </a:t>
            </a:r>
            <a:r>
              <a:rPr lang="en-US" u="sng" dirty="0"/>
              <a:t>git push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Create/edit a code file , run </a:t>
            </a:r>
            <a:r>
              <a:rPr lang="en-US" u="sng" dirty="0"/>
              <a:t>git push</a:t>
            </a:r>
            <a:r>
              <a:rPr lang="en-US" dirty="0"/>
              <a:t>, run </a:t>
            </a:r>
            <a:r>
              <a:rPr lang="en-US" u="sng" dirty="0"/>
              <a:t>git add</a:t>
            </a:r>
            <a:r>
              <a:rPr lang="en-US" dirty="0"/>
              <a:t>, run </a:t>
            </a:r>
            <a:r>
              <a:rPr lang="en-US" u="sng" dirty="0"/>
              <a:t>git commit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Run git add, create/edit a code file , run </a:t>
            </a:r>
            <a:r>
              <a:rPr lang="en-US" u="sng" dirty="0"/>
              <a:t>git push</a:t>
            </a:r>
            <a:r>
              <a:rPr lang="en-US" dirty="0"/>
              <a:t>, run </a:t>
            </a:r>
            <a:r>
              <a:rPr lang="en-US" u="sng" dirty="0"/>
              <a:t>git commit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903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AE126-2646-4767-A76B-92227B795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should learn the command line version because:  </a:t>
            </a:r>
            <a:r>
              <a:rPr lang="en-US" sz="2800" dirty="0"/>
              <a:t>(pick 2)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30118-FFC5-4101-909A-20B9C67A7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Every git command works there.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It’s always better than the GUI’s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It’s the most common way that git is used by professional developers.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There will probably be interview questions about using the command line version.</a:t>
            </a:r>
          </a:p>
        </p:txBody>
      </p:sp>
    </p:spTree>
    <p:extLst>
      <p:ext uri="{BB962C8B-B14F-4D97-AF65-F5344CB8AC3E}">
        <p14:creationId xmlns:p14="http://schemas.microsoft.com/office/powerpoint/2010/main" val="311113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1FFC8-D783-46E1-81D1-A0FD51B2E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the correct order of these commands… (pick 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E5FC1-51C4-4FDA-BE5E-1C817AE5D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git add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git commit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git </a:t>
            </a:r>
            <a:r>
              <a:rPr lang="en-US" dirty="0" err="1"/>
              <a:t>init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git push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git remote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git upload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0574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57EF0-9252-1740-30CC-4DDCD3EA9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“git add” does what?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1EED7-FA00-CC00-C1AF-A07A4EB87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Adds the file to GitHub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Moves the file to “staging” and makes it available for the next commit.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Adds additional text to an existing file.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7960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0A82D-4F60-AF7A-E98F-8595FAA79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40B50-F7C4-25EC-8D43-A717749EE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command copies data to GitHub or other shared repository?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E9ECE-44B8-3BC4-6D15-E147EDECA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git push </a:t>
            </a:r>
            <a:r>
              <a:rPr lang="en-US" dirty="0" err="1"/>
              <a:t>github</a:t>
            </a:r>
            <a:r>
              <a:rPr lang="en-US" dirty="0"/>
              <a:t> </a:t>
            </a:r>
            <a:r>
              <a:rPr lang="en-US" i="1" dirty="0" err="1"/>
              <a:t>branchnamehere</a:t>
            </a:r>
            <a:endParaRPr lang="en-US" i="1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git pull origin </a:t>
            </a:r>
            <a:r>
              <a:rPr lang="en-US" i="1" dirty="0" err="1"/>
              <a:t>branchnamehere</a:t>
            </a:r>
            <a:endParaRPr lang="en-US" i="1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git upload main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git push origin </a:t>
            </a:r>
            <a:r>
              <a:rPr lang="en-US" i="1" dirty="0" err="1"/>
              <a:t>branchnamehere</a:t>
            </a:r>
            <a:endParaRPr lang="en-US" i="1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git commit main </a:t>
            </a:r>
            <a:r>
              <a:rPr lang="en-US" i="1" dirty="0" err="1"/>
              <a:t>branchnamehere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0610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84148-FB11-98A6-8EA1-1C500DE1F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94B85-075C-63AE-EEAE-F042A7E0C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command switches between branches?  (pick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28404-5A1D-37B0-46A6-2B1D9EEF5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git pull origin </a:t>
            </a:r>
            <a:r>
              <a:rPr lang="en-US" i="1" dirty="0" err="1"/>
              <a:t>branchnamehere</a:t>
            </a:r>
            <a:endParaRPr lang="en-US" i="1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git checkout  </a:t>
            </a:r>
            <a:r>
              <a:rPr lang="en-US" i="1" dirty="0" err="1"/>
              <a:t>branchnamehere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git select </a:t>
            </a:r>
            <a:r>
              <a:rPr lang="en-US" i="1" dirty="0" err="1"/>
              <a:t>branchnamehere</a:t>
            </a:r>
            <a:endParaRPr lang="en-US" i="1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git switch </a:t>
            </a:r>
            <a:r>
              <a:rPr lang="en-US" i="1" dirty="0" err="1"/>
              <a:t>branchnamehere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89437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D66A0-B8A2-811B-B6CE-A6914E448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B8D98-ED2A-7F7E-AEB0-A66DA9C19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creation of a parallel set of files for a new feature or to fix a bug is called creating a…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26E3D-3A95-E0D2-E3A6-60AD701A1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Tree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Directory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Repository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Backup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Branch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Project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66287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8B6CF-2C4B-8C4B-A69E-86610A5A4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D1E91-0E89-5FA7-339C-A49AF84E7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files and directories might you exclude from upload to GitHub using a .</a:t>
            </a:r>
            <a:r>
              <a:rPr lang="en-US" dirty="0" err="1"/>
              <a:t>gitignore</a:t>
            </a:r>
            <a:r>
              <a:rPr lang="en-US" dirty="0"/>
              <a:t> file?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99A3B-3284-6BD3-291E-98EFD411AF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Product.cs</a:t>
            </a:r>
            <a:r>
              <a:rPr lang="en-US" dirty="0"/>
              <a:t>    (a C# code file)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TeamProjectUpdate.pptx  (a PowerPoint file)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ThingsIDontKnow.txt  (a list of things to learn more about)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ProjectNotes.docx  (a Word document)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VendorCodes.xml  (a text data file)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TeamLunchOrder.xlsx  (an Excel file)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Homepage.html  (an HTML web page)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9342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A4294-F548-2736-0899-56831A826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080A5-9E98-9F86-403C-1D0CFF746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is true for the .</a:t>
            </a:r>
            <a:r>
              <a:rPr lang="en-US"/>
              <a:t>git directory</a:t>
            </a:r>
            <a:br>
              <a:rPr lang="en-US"/>
            </a:br>
            <a:r>
              <a:rPr lang="en-US"/>
              <a:t>(pick 4)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DD522-123F-F812-3FEF-7375F1CC1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It is created when </a:t>
            </a:r>
            <a:r>
              <a:rPr lang="en-US" dirty="0">
                <a:latin typeface="Consolas" panose="020B0609020204030204" pitchFamily="49" charset="0"/>
              </a:rPr>
              <a:t>git </a:t>
            </a:r>
            <a:r>
              <a:rPr lang="en-US" dirty="0" err="1">
                <a:latin typeface="Consolas" panose="020B0609020204030204" pitchFamily="49" charset="0"/>
              </a:rPr>
              <a:t>init</a:t>
            </a:r>
            <a:r>
              <a:rPr lang="en-US" dirty="0"/>
              <a:t> is run in a directory.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It is uploaded to GitHub when running  </a:t>
            </a:r>
            <a:r>
              <a:rPr lang="en-US" dirty="0">
                <a:latin typeface="Consolas" panose="020B0609020204030204" pitchFamily="49" charset="0"/>
              </a:rPr>
              <a:t>git push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It is NOT uploaded to GitHub when running  </a:t>
            </a:r>
            <a:r>
              <a:rPr lang="en-US" dirty="0">
                <a:latin typeface="Consolas" panose="020B0609020204030204" pitchFamily="49" charset="0"/>
              </a:rPr>
              <a:t>git push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If deleted, you will lose all history of all commits and branches.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Deleting it removes git from the directory.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It is automatically created when you run </a:t>
            </a:r>
            <a:r>
              <a:rPr lang="en-US" dirty="0">
                <a:latin typeface="Consolas" panose="020B0609020204030204" pitchFamily="49" charset="0"/>
              </a:rPr>
              <a:t>git </a:t>
            </a:r>
            <a:r>
              <a:rPr lang="en-US" dirty="0" err="1">
                <a:latin typeface="Consolas" panose="020B0609020204030204" pitchFamily="49" charset="0"/>
              </a:rPr>
              <a:t>init</a:t>
            </a:r>
            <a:r>
              <a:rPr lang="en-US" dirty="0"/>
              <a:t> and can be deleted with no side effects.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721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7156</TotalTime>
  <Words>727</Words>
  <Application>Microsoft Office PowerPoint</Application>
  <PresentationFormat>Widescreen</PresentationFormat>
  <Paragraphs>147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Consolas</vt:lpstr>
      <vt:lpstr>Office Theme</vt:lpstr>
      <vt:lpstr>Git / GitHub</vt:lpstr>
      <vt:lpstr>The GitHub’s mascot is:</vt:lpstr>
      <vt:lpstr>Git is owned by </vt:lpstr>
      <vt:lpstr>GitHub is owned by </vt:lpstr>
      <vt:lpstr>When creating a directory to hold repositories…</vt:lpstr>
      <vt:lpstr>When creating a repository</vt:lpstr>
      <vt:lpstr>Which is true. Pick 2.</vt:lpstr>
      <vt:lpstr>Most common sequence for project updates…</vt:lpstr>
      <vt:lpstr>You should learn the command line version because:  (pick 2)</vt:lpstr>
      <vt:lpstr>What’s the correct order of these commands… (pick 5)</vt:lpstr>
      <vt:lpstr>“git add” does what?</vt:lpstr>
      <vt:lpstr>Which command copies data to GitHub or other shared repository?</vt:lpstr>
      <vt:lpstr>Which command switches between branches?  (pick 2)</vt:lpstr>
      <vt:lpstr>The creation of a parallel set of files for a new feature or to fix a bug is called creating a…</vt:lpstr>
      <vt:lpstr>Which files and directories might you exclude from upload to GitHub using a .gitignore file?</vt:lpstr>
      <vt:lpstr>Which is true for the .git directory (pick 4)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/ GitHub</dc:title>
  <dc:creator>Mike Smith</dc:creator>
  <cp:lastModifiedBy>Daniela Trapani</cp:lastModifiedBy>
  <cp:revision>12</cp:revision>
  <dcterms:created xsi:type="dcterms:W3CDTF">2022-04-18T12:28:37Z</dcterms:created>
  <dcterms:modified xsi:type="dcterms:W3CDTF">2026-06-02T15:55:09Z</dcterms:modified>
</cp:coreProperties>
</file>