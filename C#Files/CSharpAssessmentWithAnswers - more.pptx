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7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a Trapani" userId="30b41bef89cfceee" providerId="LiveId" clId="{ADEB5723-9D39-45AE-898F-3FDA33EC1B39}"/>
    <pc:docChg chg="modSld">
      <pc:chgData name="Daniela Trapani" userId="30b41bef89cfceee" providerId="LiveId" clId="{ADEB5723-9D39-45AE-898F-3FDA33EC1B39}" dt="2026-06-26T12:49:08.891" v="9" actId="20577"/>
      <pc:docMkLst>
        <pc:docMk/>
      </pc:docMkLst>
      <pc:sldChg chg="modSp mod">
        <pc:chgData name="Daniela Trapani" userId="30b41bef89cfceee" providerId="LiveId" clId="{ADEB5723-9D39-45AE-898F-3FDA33EC1B39}" dt="2026-06-26T12:49:08.891" v="9" actId="20577"/>
        <pc:sldMkLst>
          <pc:docMk/>
          <pc:sldMk cId="0" sldId="277"/>
        </pc:sldMkLst>
        <pc:spChg chg="mod">
          <ac:chgData name="Daniela Trapani" userId="30b41bef89cfceee" providerId="LiveId" clId="{ADEB5723-9D39-45AE-898F-3FDA33EC1B39}" dt="2026-06-26T12:49:08.891" v="9" actId="20577"/>
          <ac:spMkLst>
            <pc:docMk/>
            <pc:sldMk cId="0" sldId="277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425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3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0" y="100584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1B3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; }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777240" y="1691640"/>
            <a:ext cx="822960" cy="64008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; }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 DEVELOPER  ASSESSMENT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Fundamentals Quiz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95528" y="3337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BF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covering the core building blocks of the language.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73152" cy="365760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429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</a:t>
            </a:r>
            <a:r>
              <a:rPr lang="en-US" sz="1600" b="1" kern="0" spc="20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932688"/>
            <a:ext cx="75895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80960" y="4617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; 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the purpose of a </a:t>
            </a:r>
            <a:r>
              <a:rPr lang="en-US" sz="2100" b="1" dirty="0">
                <a:solidFill>
                  <a:srgbClr val="0E8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</a:t>
            </a: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loop?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240280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Sorts the elements of a collection into ascending order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889504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2889504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Removes duplicate items from a collection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538728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3538728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Iterate through each item in a collection one at a time without needing to manage an index or counter manually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4187952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4187952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of the above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73152" cy="365760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429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</a:t>
            </a:r>
            <a:r>
              <a:rPr lang="en-US" sz="1600" b="1" kern="0" spc="20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971800" y="438912"/>
            <a:ext cx="1143000" cy="402336"/>
          </a:xfrm>
          <a:prstGeom prst="roundRect">
            <a:avLst>
              <a:gd name="adj" fmla="val 18182"/>
            </a:avLst>
          </a:prstGeom>
          <a:solidFill>
            <a:srgbClr val="1633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971800" y="438912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932688"/>
            <a:ext cx="75895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0" y="4617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; 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097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</a:t>
            </a: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</a:t>
            </a: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purpose of a </a:t>
            </a:r>
            <a:r>
              <a:rPr lang="en-US" sz="2100" b="1">
                <a:solidFill>
                  <a:srgbClr val="0E8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</a:t>
            </a: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loop?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2240280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Sorts the elements of a collection into ascending order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889504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700"/>
          </a:p>
        </p:txBody>
      </p:sp>
      <p:sp>
        <p:nvSpPr>
          <p:cNvPr id="12" name="Text 10"/>
          <p:cNvSpPr/>
          <p:nvPr/>
        </p:nvSpPr>
        <p:spPr>
          <a:xfrm>
            <a:off x="1508760" y="2889504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Removes duplicate items from a collection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777240" y="3538728"/>
            <a:ext cx="7589520" cy="521208"/>
          </a:xfrm>
          <a:prstGeom prst="roundRect">
            <a:avLst>
              <a:gd name="adj" fmla="val 10526"/>
            </a:avLst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3538728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700"/>
          </a:p>
        </p:txBody>
      </p:sp>
      <p:sp>
        <p:nvSpPr>
          <p:cNvPr id="15" name="Text 13"/>
          <p:cNvSpPr/>
          <p:nvPr/>
        </p:nvSpPr>
        <p:spPr>
          <a:xfrm>
            <a:off x="1508760" y="3538728"/>
            <a:ext cx="5394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Iterate through each item in a collection one at a time without needing to manage an index or counter manually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903720" y="3538728"/>
            <a:ext cx="1325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960120" y="4187952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4187952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of the above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73152" cy="365760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429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</a:t>
            </a:r>
            <a:r>
              <a:rPr lang="en-US" sz="1600" b="1" kern="0" spc="20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932688"/>
            <a:ext cx="75895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80960" y="4617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; 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or False: </a:t>
            </a: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may define as many constructors as you like</a:t>
            </a: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long as each one has </a:t>
            </a: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 parameter list.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502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240280"/>
            <a:ext cx="66751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3538728"/>
            <a:ext cx="502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3538728"/>
            <a:ext cx="66751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73152" cy="365760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429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</a:t>
            </a:r>
            <a:r>
              <a:rPr lang="en-US" sz="1600" b="1" kern="0" spc="20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971800" y="438912"/>
            <a:ext cx="1143000" cy="402336"/>
          </a:xfrm>
          <a:prstGeom prst="roundRect">
            <a:avLst>
              <a:gd name="adj" fmla="val 18182"/>
            </a:avLst>
          </a:prstGeom>
          <a:solidFill>
            <a:srgbClr val="1633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971800" y="438912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932688"/>
            <a:ext cx="75895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0" y="4617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; 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097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or False: </a:t>
            </a: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may define as many constructors as you like</a:t>
            </a: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long as each one has </a:t>
            </a: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 parameter list.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77240" y="2240280"/>
            <a:ext cx="7589520" cy="1170432"/>
          </a:xfrm>
          <a:prstGeom prst="roundRect">
            <a:avLst>
              <a:gd name="adj" fmla="val 4688"/>
            </a:avLst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0120" y="2240280"/>
            <a:ext cx="502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700"/>
          </a:p>
        </p:txBody>
      </p:sp>
      <p:sp>
        <p:nvSpPr>
          <p:cNvPr id="11" name="Text 9"/>
          <p:cNvSpPr/>
          <p:nvPr/>
        </p:nvSpPr>
        <p:spPr>
          <a:xfrm>
            <a:off x="1508760" y="2240280"/>
            <a:ext cx="5394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6903720" y="2240280"/>
            <a:ext cx="1325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960120" y="3538728"/>
            <a:ext cx="502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700"/>
          </a:p>
        </p:txBody>
      </p:sp>
      <p:sp>
        <p:nvSpPr>
          <p:cNvPr id="14" name="Text 12"/>
          <p:cNvSpPr/>
          <p:nvPr/>
        </p:nvSpPr>
        <p:spPr>
          <a:xfrm>
            <a:off x="1508760" y="3538728"/>
            <a:ext cx="66751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</a:t>
            </a:r>
            <a:endParaRPr lang="en-US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73152" cy="365760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429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</a:t>
            </a:r>
            <a:r>
              <a:rPr lang="en-US" sz="1600" b="1" kern="0" spc="20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932688"/>
            <a:ext cx="75895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80960" y="4617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; 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Assuming </a:t>
            </a:r>
            <a:r>
              <a:rPr lang="en-US" sz="2100" b="1">
                <a:solidFill>
                  <a:srgbClr val="0E8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holds a valid integer, which line is a correctly written ternary expression</a:t>
            </a: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240280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x = ternary(a, 4, 9);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889504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2889504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x = (a &lt; 10) ? 4 : 9;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538728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3538728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x = 4 if (a &lt; 10) else 9;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4187952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4187952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</a:t>
            </a:r>
            <a:r>
              <a:rPr lang="en-US" sz="1600" dirty="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the above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73152" cy="365760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429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</a:t>
            </a:r>
            <a:r>
              <a:rPr lang="en-US" sz="1600" b="1" kern="0" spc="20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971800" y="438912"/>
            <a:ext cx="1143000" cy="402336"/>
          </a:xfrm>
          <a:prstGeom prst="roundRect">
            <a:avLst>
              <a:gd name="adj" fmla="val 18182"/>
            </a:avLst>
          </a:prstGeom>
          <a:solidFill>
            <a:srgbClr val="1633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971800" y="438912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932688"/>
            <a:ext cx="75895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0" y="4617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; 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097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Assuming </a:t>
            </a:r>
            <a:r>
              <a:rPr lang="en-US" sz="2100" b="1">
                <a:solidFill>
                  <a:srgbClr val="0E8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holds a valid integer, which line is a correctly written ternary expression</a:t>
            </a: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2240280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x = ternary(a, 4, 9);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2889504"/>
            <a:ext cx="7589520" cy="521208"/>
          </a:xfrm>
          <a:prstGeom prst="roundRect">
            <a:avLst>
              <a:gd name="adj" fmla="val 10526"/>
            </a:avLst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2889504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700"/>
          </a:p>
        </p:txBody>
      </p:sp>
      <p:sp>
        <p:nvSpPr>
          <p:cNvPr id="13" name="Text 11"/>
          <p:cNvSpPr/>
          <p:nvPr/>
        </p:nvSpPr>
        <p:spPr>
          <a:xfrm>
            <a:off x="1508760" y="2889504"/>
            <a:ext cx="5394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x = (a &lt; 10) ? 4 : 9;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6903720" y="2889504"/>
            <a:ext cx="1325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960120" y="3538728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700"/>
          </a:p>
        </p:txBody>
      </p:sp>
      <p:sp>
        <p:nvSpPr>
          <p:cNvPr id="16" name="Text 14"/>
          <p:cNvSpPr/>
          <p:nvPr/>
        </p:nvSpPr>
        <p:spPr>
          <a:xfrm>
            <a:off x="1508760" y="3538728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x = 4 if (a &lt; 10) else 9;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960120" y="4187952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700"/>
          </a:p>
        </p:txBody>
      </p:sp>
      <p:sp>
        <p:nvSpPr>
          <p:cNvPr id="18" name="Text 16"/>
          <p:cNvSpPr/>
          <p:nvPr/>
        </p:nvSpPr>
        <p:spPr>
          <a:xfrm>
            <a:off x="1508760" y="4187952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of the above</a:t>
            </a:r>
            <a:endParaRPr lang="en-US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73152" cy="365760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429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</a:t>
            </a:r>
            <a:r>
              <a:rPr lang="en-US" sz="1600" b="1" kern="0" spc="20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932688"/>
            <a:ext cx="75895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80960" y="4617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; 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adding elements to </a:t>
            </a: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r>
              <a:rPr lang="en-US" sz="2100" b="1">
                <a:solidFill>
                  <a:srgbClr val="0E8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List&lt;int&gt;</a:t>
            </a: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what is one rule you must follow</a:t>
            </a: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240280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item added may be of any type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889504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2889504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item added must be of type string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538728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3538728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item added must be of type int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4187952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4187952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of the above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73152" cy="365760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429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</a:t>
            </a:r>
            <a:r>
              <a:rPr lang="en-US" sz="1600" b="1" kern="0" spc="20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971800" y="438912"/>
            <a:ext cx="1143000" cy="402336"/>
          </a:xfrm>
          <a:prstGeom prst="roundRect">
            <a:avLst>
              <a:gd name="adj" fmla="val 18182"/>
            </a:avLst>
          </a:prstGeom>
          <a:solidFill>
            <a:srgbClr val="1633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971800" y="438912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932688"/>
            <a:ext cx="75895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0" y="4617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; 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097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adding elements to </a:t>
            </a: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r>
              <a:rPr lang="en-US" sz="2100" b="1">
                <a:solidFill>
                  <a:srgbClr val="0E8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List&lt;int&gt;</a:t>
            </a: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what is one rule you must follow</a:t>
            </a: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2240280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item added may be of any type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889504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2889504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item added must be of type string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7240" y="3538728"/>
            <a:ext cx="7589520" cy="521208"/>
          </a:xfrm>
          <a:prstGeom prst="roundRect">
            <a:avLst>
              <a:gd name="adj" fmla="val 10526"/>
            </a:avLst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3538728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38728"/>
            <a:ext cx="5394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item added must be of type int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03720" y="3538728"/>
            <a:ext cx="1325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4187952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4187952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of the above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73152" cy="365760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429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</a:t>
            </a:r>
            <a:r>
              <a:rPr lang="en-US" sz="1600" b="1" kern="0" spc="20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932688"/>
            <a:ext cx="75895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80960" y="4617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; 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Given </a:t>
            </a: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array </a:t>
            </a:r>
            <a:r>
              <a:rPr lang="en-US" sz="2100" b="1">
                <a:solidFill>
                  <a:srgbClr val="0E8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nums = { 10, 20, 30, 40, 50 }</a:t>
            </a: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what value is stored at </a:t>
            </a:r>
            <a:r>
              <a:rPr lang="en-US" sz="2100" b="1">
                <a:solidFill>
                  <a:srgbClr val="0E8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nums[2]</a:t>
            </a: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240280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889504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2889504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538728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3538728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4187952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4187952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of the above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73152" cy="365760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429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</a:t>
            </a:r>
            <a:r>
              <a:rPr lang="en-US" sz="1600" b="1" kern="0" spc="20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971800" y="438912"/>
            <a:ext cx="1143000" cy="402336"/>
          </a:xfrm>
          <a:prstGeom prst="roundRect">
            <a:avLst>
              <a:gd name="adj" fmla="val 18182"/>
            </a:avLst>
          </a:prstGeom>
          <a:solidFill>
            <a:srgbClr val="1633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971800" y="438912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932688"/>
            <a:ext cx="75895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0" y="4617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; 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097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Given </a:t>
            </a: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array </a:t>
            </a:r>
            <a:r>
              <a:rPr lang="en-US" sz="2100" b="1">
                <a:solidFill>
                  <a:srgbClr val="0E8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nums = { 10, 20, 30, 40, 50 }</a:t>
            </a: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what value is stored at </a:t>
            </a:r>
            <a:r>
              <a:rPr lang="en-US" sz="2100" b="1">
                <a:solidFill>
                  <a:srgbClr val="0E8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nums[2]</a:t>
            </a: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2240280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2889504"/>
            <a:ext cx="7589520" cy="521208"/>
          </a:xfrm>
          <a:prstGeom prst="roundRect">
            <a:avLst>
              <a:gd name="adj" fmla="val 10526"/>
            </a:avLst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2889504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700"/>
          </a:p>
        </p:txBody>
      </p:sp>
      <p:sp>
        <p:nvSpPr>
          <p:cNvPr id="13" name="Text 11"/>
          <p:cNvSpPr/>
          <p:nvPr/>
        </p:nvSpPr>
        <p:spPr>
          <a:xfrm>
            <a:off x="1508760" y="2889504"/>
            <a:ext cx="5394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6903720" y="2889504"/>
            <a:ext cx="1325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960120" y="3538728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700"/>
          </a:p>
        </p:txBody>
      </p:sp>
      <p:sp>
        <p:nvSpPr>
          <p:cNvPr id="16" name="Text 14"/>
          <p:cNvSpPr/>
          <p:nvPr/>
        </p:nvSpPr>
        <p:spPr>
          <a:xfrm>
            <a:off x="1508760" y="3538728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960120" y="4187952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4187952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of the above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73152" cy="365760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429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</a:t>
            </a:r>
            <a:r>
              <a:rPr lang="en-US" sz="1600" b="1" kern="0" spc="20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932688"/>
            <a:ext cx="75895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80960" y="4617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; 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</a:t>
            </a: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of these statements will cause a compile error</a:t>
            </a: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50292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240280"/>
            <a:ext cx="667512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price </a:t>
            </a:r>
            <a:r>
              <a:rPr lang="en-US" sz="1600" dirty="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60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759659"/>
            <a:ext cx="50292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2759659"/>
            <a:ext cx="667512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double? price </a:t>
            </a:r>
            <a:r>
              <a:rPr lang="en-US" sz="1600" dirty="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60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0.0;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279038"/>
            <a:ext cx="50292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3279038"/>
            <a:ext cx="667512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price </a:t>
            </a:r>
            <a:r>
              <a:rPr lang="en-US" sz="1600" dirty="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60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3798418"/>
            <a:ext cx="50292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3798418"/>
            <a:ext cx="667512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double? price = null;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4317797"/>
            <a:ext cx="50292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1700"/>
          </a:p>
        </p:txBody>
      </p:sp>
      <p:sp>
        <p:nvSpPr>
          <p:cNvPr id="16" name="Text 14"/>
          <p:cNvSpPr/>
          <p:nvPr/>
        </p:nvSpPr>
        <p:spPr>
          <a:xfrm>
            <a:off x="1508760" y="4317797"/>
            <a:ext cx="667512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of the above</a:t>
            </a:r>
            <a:endParaRPr lang="en-US"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73152" cy="365760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429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</a:t>
            </a:r>
            <a:r>
              <a:rPr lang="en-US" sz="1600" b="1" kern="0" spc="20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971800" y="438912"/>
            <a:ext cx="1143000" cy="402336"/>
          </a:xfrm>
          <a:prstGeom prst="roundRect">
            <a:avLst>
              <a:gd name="adj" fmla="val 18182"/>
            </a:avLst>
          </a:prstGeom>
          <a:solidFill>
            <a:srgbClr val="1633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971800" y="438912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932688"/>
            <a:ext cx="75895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0" y="4617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; 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097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</a:t>
            </a: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of these statements will cause a compile error</a:t>
            </a: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50292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2240280"/>
            <a:ext cx="667512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price </a:t>
            </a:r>
            <a:r>
              <a:rPr lang="en-US" sz="1600" dirty="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60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0.0;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759659"/>
            <a:ext cx="50292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2759659"/>
            <a:ext cx="667512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double? price </a:t>
            </a:r>
            <a:r>
              <a:rPr lang="en-US" sz="1600" dirty="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60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7240" y="3279038"/>
            <a:ext cx="7589520" cy="391363"/>
          </a:xfrm>
          <a:prstGeom prst="roundRect">
            <a:avLst>
              <a:gd name="adj" fmla="val 14019"/>
            </a:avLst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3279038"/>
            <a:ext cx="50292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279038"/>
            <a:ext cx="539496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price </a:t>
            </a: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6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null;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03720" y="3279038"/>
            <a:ext cx="132588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798418"/>
            <a:ext cx="50292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3798418"/>
            <a:ext cx="667512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double? price = null;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4317797"/>
            <a:ext cx="50292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1700"/>
          </a:p>
        </p:txBody>
      </p:sp>
      <p:sp>
        <p:nvSpPr>
          <p:cNvPr id="20" name="Text 18"/>
          <p:cNvSpPr/>
          <p:nvPr/>
        </p:nvSpPr>
        <p:spPr>
          <a:xfrm>
            <a:off x="1508760" y="4317797"/>
            <a:ext cx="667512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of the above</a:t>
            </a:r>
            <a:endParaRPr lang="en-US"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73152" cy="365760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429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</a:t>
            </a:r>
            <a:r>
              <a:rPr lang="en-US" sz="1600" b="1" kern="0" spc="20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932688"/>
            <a:ext cx="75895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80960" y="4617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; 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of these is not regarded as a pillar of Object-Oriented Programming?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240280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Encapsulation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889504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2889504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Abstraction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538728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3538728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4187952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4187952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</a:t>
            </a:r>
            <a:r>
              <a:rPr lang="en-US" sz="1600" dirty="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the above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73152" cy="365760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429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</a:t>
            </a:r>
            <a:r>
              <a:rPr lang="en-US" sz="1600" b="1" kern="0" spc="20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971800" y="438912"/>
            <a:ext cx="1143000" cy="402336"/>
          </a:xfrm>
          <a:prstGeom prst="roundRect">
            <a:avLst>
              <a:gd name="adj" fmla="val 18182"/>
            </a:avLst>
          </a:prstGeom>
          <a:solidFill>
            <a:srgbClr val="1633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971800" y="438912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932688"/>
            <a:ext cx="75895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0" y="4617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; 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097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of these is not regarded as a pillar of Object-Oriented Programming?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2240280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Encapsulation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889504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700"/>
          </a:p>
        </p:txBody>
      </p:sp>
      <p:sp>
        <p:nvSpPr>
          <p:cNvPr id="12" name="Text 10"/>
          <p:cNvSpPr/>
          <p:nvPr/>
        </p:nvSpPr>
        <p:spPr>
          <a:xfrm>
            <a:off x="1508760" y="2889504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Abstraction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960120" y="4171782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cs typeface="Segoe UI" pitchFamily="34" charset="-120"/>
              </a:rPr>
              <a:t>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4171782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of the above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7240" y="3502152"/>
            <a:ext cx="7589520" cy="521208"/>
          </a:xfrm>
          <a:prstGeom prst="roundRect">
            <a:avLst>
              <a:gd name="adj" fmla="val 10526"/>
            </a:avLst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3502152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C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08760" y="3502152"/>
            <a:ext cx="5394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03720" y="3502152"/>
            <a:ext cx="1325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73152" cy="365760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429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</a:t>
            </a:r>
            <a:r>
              <a:rPr lang="en-US" sz="1600" b="1" kern="0" spc="20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932688"/>
            <a:ext cx="75895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80960" y="4617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; 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sealed class cannot be ________.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240280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Inherited from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889504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2889504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Instantiated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538728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3538728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and 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4187952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4187952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of the above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73152" cy="365760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429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</a:t>
            </a:r>
            <a:r>
              <a:rPr lang="en-US" sz="1600" b="1" kern="0" spc="20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971800" y="438912"/>
            <a:ext cx="1143000" cy="402336"/>
          </a:xfrm>
          <a:prstGeom prst="roundRect">
            <a:avLst>
              <a:gd name="adj" fmla="val 18182"/>
            </a:avLst>
          </a:prstGeom>
          <a:solidFill>
            <a:srgbClr val="1633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971800" y="438912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932688"/>
            <a:ext cx="75895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0" y="4617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; 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097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sealed class cannot be ________.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77240" y="2240280"/>
            <a:ext cx="7589520" cy="521208"/>
          </a:xfrm>
          <a:prstGeom prst="roundRect">
            <a:avLst>
              <a:gd name="adj" fmla="val 10526"/>
            </a:avLst>
          </a:prstGeom>
          <a:solidFill>
            <a:srgbClr val="0E8C8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60120" y="2240280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700"/>
          </a:p>
        </p:txBody>
      </p:sp>
      <p:sp>
        <p:nvSpPr>
          <p:cNvPr id="11" name="Text 9"/>
          <p:cNvSpPr/>
          <p:nvPr/>
        </p:nvSpPr>
        <p:spPr>
          <a:xfrm>
            <a:off x="1508760" y="2240280"/>
            <a:ext cx="5394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Inherited from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03720" y="2240280"/>
            <a:ext cx="1325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960120" y="2889504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700"/>
          </a:p>
        </p:txBody>
      </p:sp>
      <p:sp>
        <p:nvSpPr>
          <p:cNvPr id="14" name="Text 12"/>
          <p:cNvSpPr/>
          <p:nvPr/>
        </p:nvSpPr>
        <p:spPr>
          <a:xfrm>
            <a:off x="1508760" y="2889504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Instantiated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3538728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700"/>
          </a:p>
        </p:txBody>
      </p:sp>
      <p:sp>
        <p:nvSpPr>
          <p:cNvPr id="16" name="Text 14"/>
          <p:cNvSpPr/>
          <p:nvPr/>
        </p:nvSpPr>
        <p:spPr>
          <a:xfrm>
            <a:off x="1508760" y="3538728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and B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960120" y="4187952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4187952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of the above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73152" cy="365760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429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</a:t>
            </a:r>
            <a:r>
              <a:rPr lang="en-US" sz="1600" b="1" kern="0" spc="20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932688"/>
            <a:ext cx="75895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80960" y="4617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; 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</a:t>
            </a: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statement correctly creates an interpolated string</a:t>
            </a: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240280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str </a:t>
            </a:r>
            <a:r>
              <a:rPr lang="en-US" sz="1600" dirty="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60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"{nbr} doubled is {answer}";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889504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2889504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str </a:t>
            </a:r>
            <a:r>
              <a:rPr lang="en-US" sz="1600" dirty="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60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&amp;"{nbr} doubled is {answer}";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538728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3538728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str </a:t>
            </a:r>
            <a:r>
              <a:rPr lang="en-US" sz="1600" dirty="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60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$"{nbr} doubled is {answer}";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4187952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4187952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of the above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73152" cy="365760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429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</a:t>
            </a:r>
            <a:r>
              <a:rPr lang="en-US" sz="1600" b="1" kern="0" spc="20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971800" y="438912"/>
            <a:ext cx="1143000" cy="402336"/>
          </a:xfrm>
          <a:prstGeom prst="roundRect">
            <a:avLst>
              <a:gd name="adj" fmla="val 18182"/>
            </a:avLst>
          </a:prstGeom>
          <a:solidFill>
            <a:srgbClr val="1633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971800" y="438912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932688"/>
            <a:ext cx="75895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0" y="4617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; 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097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</a:t>
            </a: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statement correctly creates an interpolated string</a:t>
            </a: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2240280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str </a:t>
            </a:r>
            <a:r>
              <a:rPr lang="en-US" sz="1600" dirty="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60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"{nbr} doubled is {answer}";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889504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2889504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str </a:t>
            </a:r>
            <a:r>
              <a:rPr lang="en-US" sz="1600" dirty="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600">
                <a:solidFill>
                  <a:srgbClr val="2C3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&amp;"{nbr} doubled is {answer}";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7240" y="3538728"/>
            <a:ext cx="7589520" cy="521208"/>
          </a:xfrm>
          <a:prstGeom prst="roundRect">
            <a:avLst>
              <a:gd name="adj" fmla="val 10526"/>
            </a:avLst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3538728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38728"/>
            <a:ext cx="5394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str </a:t>
            </a: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6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$"{nbr} doubled is {answer}";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03720" y="3538728"/>
            <a:ext cx="1325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4187952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4187952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of the above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73152" cy="365760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429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</a:t>
            </a:r>
            <a:r>
              <a:rPr lang="en-US" sz="1600" b="1" kern="0" spc="20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932688"/>
            <a:ext cx="75895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80960" y="4617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; 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property of </a:t>
            </a: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 returns </a:t>
            </a: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 of characters it contains?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240280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Size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889504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2889504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538728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3538728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Length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4187952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4187952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of the above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73152" cy="365760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429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</a:t>
            </a:r>
            <a:r>
              <a:rPr lang="en-US" sz="1600" b="1" kern="0" spc="20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971800" y="438912"/>
            <a:ext cx="1143000" cy="402336"/>
          </a:xfrm>
          <a:prstGeom prst="roundRect">
            <a:avLst>
              <a:gd name="adj" fmla="val 18182"/>
            </a:avLst>
          </a:prstGeom>
          <a:solidFill>
            <a:srgbClr val="1633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971800" y="438912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932688"/>
            <a:ext cx="75895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0" y="4617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; 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097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property of </a:t>
            </a: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 returns </a:t>
            </a: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 of characters it contains?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2240280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Size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889504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2889504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7240" y="3538728"/>
            <a:ext cx="7589520" cy="521208"/>
          </a:xfrm>
          <a:prstGeom prst="roundRect">
            <a:avLst>
              <a:gd name="adj" fmla="val 10526"/>
            </a:avLst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3538728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38728"/>
            <a:ext cx="5394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Length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03720" y="3538728"/>
            <a:ext cx="1325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4187952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4187952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of the above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73152" cy="365760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429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</a:t>
            </a:r>
            <a:r>
              <a:rPr lang="en-US" sz="1600" b="1" kern="0" spc="20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932688"/>
            <a:ext cx="75895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80960" y="4617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; 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a </a:t>
            </a:r>
            <a:r>
              <a:rPr lang="en-US" sz="2100" b="1" dirty="0">
                <a:solidFill>
                  <a:srgbClr val="0E8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Dictionary&lt;string, int&gt;</a:t>
            </a: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what kind of data is stored as the value (not the key)?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240280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key is an integer and the value is a string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889504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2889504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string value is stored an integer number of times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538728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700"/>
          </a:p>
        </p:txBody>
      </p:sp>
      <p:sp>
        <p:nvSpPr>
          <p:cNvPr id="12" name="Text 10"/>
          <p:cNvSpPr/>
          <p:nvPr/>
        </p:nvSpPr>
        <p:spPr>
          <a:xfrm>
            <a:off x="1508760" y="3538728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key is a string and the value is an integer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960120" y="4187952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700"/>
          </a:p>
        </p:txBody>
      </p:sp>
      <p:sp>
        <p:nvSpPr>
          <p:cNvPr id="14" name="Text 12"/>
          <p:cNvSpPr/>
          <p:nvPr/>
        </p:nvSpPr>
        <p:spPr>
          <a:xfrm>
            <a:off x="1508760" y="4187952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of the above</a:t>
            </a:r>
            <a:endParaRPr lang="en-US" sz="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73152" cy="365760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429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</a:t>
            </a:r>
            <a:r>
              <a:rPr lang="en-US" sz="1600" b="1" kern="0" spc="20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971800" y="438912"/>
            <a:ext cx="1143000" cy="402336"/>
          </a:xfrm>
          <a:prstGeom prst="roundRect">
            <a:avLst>
              <a:gd name="adj" fmla="val 18182"/>
            </a:avLst>
          </a:prstGeom>
          <a:solidFill>
            <a:srgbClr val="1633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971800" y="438912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932688"/>
            <a:ext cx="75895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0" y="4617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; 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097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</a:t>
            </a: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r>
              <a:rPr lang="en-US" sz="2100" b="1">
                <a:solidFill>
                  <a:srgbClr val="0E8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SortedList&lt;string, int&gt;</a:t>
            </a: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what kind of data is stored </a:t>
            </a: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</a:t>
            </a: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value (not the key)?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700"/>
          </a:p>
        </p:txBody>
      </p:sp>
      <p:sp>
        <p:nvSpPr>
          <p:cNvPr id="10" name="Text 8"/>
          <p:cNvSpPr/>
          <p:nvPr/>
        </p:nvSpPr>
        <p:spPr>
          <a:xfrm>
            <a:off x="1508760" y="2240280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key is an integer and the value is a string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960120" y="2889504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700"/>
          </a:p>
        </p:txBody>
      </p:sp>
      <p:sp>
        <p:nvSpPr>
          <p:cNvPr id="12" name="Text 10"/>
          <p:cNvSpPr/>
          <p:nvPr/>
        </p:nvSpPr>
        <p:spPr>
          <a:xfrm>
            <a:off x="1508760" y="2889504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string value is stored an integer number of times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777240" y="3538728"/>
            <a:ext cx="7589520" cy="521208"/>
          </a:xfrm>
          <a:prstGeom prst="roundRect">
            <a:avLst>
              <a:gd name="adj" fmla="val 10526"/>
            </a:avLst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3538728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700"/>
          </a:p>
        </p:txBody>
      </p:sp>
      <p:sp>
        <p:nvSpPr>
          <p:cNvPr id="15" name="Text 13"/>
          <p:cNvSpPr/>
          <p:nvPr/>
        </p:nvSpPr>
        <p:spPr>
          <a:xfrm>
            <a:off x="1508760" y="3538728"/>
            <a:ext cx="5394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key is a string and the value is an integer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903720" y="3538728"/>
            <a:ext cx="1325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960120" y="4187952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700"/>
          </a:p>
        </p:txBody>
      </p:sp>
      <p:sp>
        <p:nvSpPr>
          <p:cNvPr id="18" name="Text 16"/>
          <p:cNvSpPr/>
          <p:nvPr/>
        </p:nvSpPr>
        <p:spPr>
          <a:xfrm>
            <a:off x="1508760" y="4187952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of the above</a:t>
            </a:r>
            <a:endParaRPr lang="en-US" sz="1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73152" cy="365760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429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</a:t>
            </a:r>
            <a:r>
              <a:rPr lang="en-US" sz="1600" b="1" kern="0" spc="20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932688"/>
            <a:ext cx="75895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80960" y="4617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; 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abstract</a:t>
            </a: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class cannot be ________.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240280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base class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889504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2889504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instantiated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538728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3538728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and 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4187952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4187952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of the above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73152" cy="365760"/>
          </a:xfrm>
          <a:prstGeom prst="rect">
            <a:avLst/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0120" y="4297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</a:t>
            </a:r>
            <a:r>
              <a:rPr lang="en-US" sz="1600" b="1" kern="0" spc="20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971800" y="438912"/>
            <a:ext cx="1143000" cy="402336"/>
          </a:xfrm>
          <a:prstGeom prst="roundRect">
            <a:avLst>
              <a:gd name="adj" fmla="val 18182"/>
            </a:avLst>
          </a:prstGeom>
          <a:solidFill>
            <a:srgbClr val="1633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971800" y="438912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932688"/>
            <a:ext cx="7589520" cy="0"/>
          </a:xfrm>
          <a:prstGeom prst="line">
            <a:avLst/>
          </a:prstGeom>
          <a:noFill/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0" y="4617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6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; 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097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abstract</a:t>
            </a:r>
            <a:r>
              <a:rPr lang="en-US" sz="2100" b="1" dirty="0">
                <a:solidFill>
                  <a:srgbClr val="1633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class cannot be ________.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700"/>
          </a:p>
        </p:txBody>
      </p:sp>
      <p:sp>
        <p:nvSpPr>
          <p:cNvPr id="10" name="Text 8"/>
          <p:cNvSpPr/>
          <p:nvPr/>
        </p:nvSpPr>
        <p:spPr>
          <a:xfrm>
            <a:off x="1508760" y="2240280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base class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777240" y="2889504"/>
            <a:ext cx="7589520" cy="521208"/>
          </a:xfrm>
          <a:prstGeom prst="roundRect">
            <a:avLst>
              <a:gd name="adj" fmla="val 10526"/>
            </a:avLst>
          </a:prstGeom>
          <a:solidFill>
            <a:srgbClr val="0E8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2889504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700"/>
          </a:p>
        </p:txBody>
      </p:sp>
      <p:sp>
        <p:nvSpPr>
          <p:cNvPr id="13" name="Text 11"/>
          <p:cNvSpPr/>
          <p:nvPr/>
        </p:nvSpPr>
        <p:spPr>
          <a:xfrm>
            <a:off x="1508760" y="2889504"/>
            <a:ext cx="5394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instantiated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6903720" y="2889504"/>
            <a:ext cx="1325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960120" y="3538728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08760" y="3538728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and 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4187952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8C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4187952"/>
            <a:ext cx="6675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C35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of the above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</TotalTime>
  <Words>1137</Words>
  <Application>Microsoft Office PowerPoint</Application>
  <PresentationFormat>On-screen Show (16:9)</PresentationFormat>
  <Paragraphs>314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Daniela Trapani</dc:creator>
  <cp:lastModifiedBy>Daniela Trapani</cp:lastModifiedBy>
  <cp:revision>1</cp:revision>
  <dcterms:created xsi:type="dcterms:W3CDTF">2026-06-26T01:18:53Z</dcterms:created>
  <dcterms:modified xsi:type="dcterms:W3CDTF">2026-06-26T12:49:15Z</dcterms:modified>
</cp:coreProperties>
</file>