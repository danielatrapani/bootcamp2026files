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94660"/>
  </p:normalViewPr>
  <p:slideViewPr>
    <p:cSldViewPr snapToGrid="0">
      <p:cViewPr varScale="1">
        <p:scale>
          <a:sx n="77" d="100"/>
          <a:sy n="77" d="100"/>
        </p:scale>
        <p:origin x="67" y="6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7914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solidFill>
            <a:srgbClr val="F4F0E6">
              <a:alpha val="0"/>
            </a:srgbClr>
          </a:solidFill>
          <a:ln w="28575">
            <a:solidFill>
              <a:srgbClr val="D8C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4F0E6">
              <a:alpha val="0"/>
            </a:srgbClr>
          </a:solidFill>
          <a:ln w="9525">
            <a:solidFill>
              <a:srgbClr val="C085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08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 •  OBJECT-ORIENTED PROGRAMMING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33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Inheritance </a:t>
            </a:r>
            <a:r>
              <a:rPr lang="en-US" sz="6000" b="1" dirty="0">
                <a:solidFill>
                  <a:srgbClr val="C085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Principles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and extending behavior the object-oriented way — a beginner's guide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818120" y="3977640"/>
            <a:ext cx="3749040" cy="1783080"/>
          </a:xfrm>
          <a:prstGeom prst="roundRect">
            <a:avLst>
              <a:gd name="adj" fmla="val 4103"/>
            </a:avLst>
          </a:prstGeom>
          <a:solidFill>
            <a:srgbClr val="FCFAF4"/>
          </a:solidFill>
          <a:ln w="12700">
            <a:solidFill>
              <a:srgbClr val="C0851C"/>
            </a:solidFill>
            <a:prstDash val="solid"/>
          </a:ln>
          <a:effectLst>
            <a:outerShdw blurRad="63500" dist="25400" dir="8100000" algn="bl" rotWithShape="0">
              <a:srgbClr val="8A827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19288" y="4160520"/>
            <a:ext cx="100584" cy="100584"/>
          </a:xfrm>
          <a:prstGeom prst="ellipse">
            <a:avLst/>
          </a:prstGeom>
          <a:solidFill>
            <a:srgbClr val="E8927C"/>
          </a:solidFill>
          <a:ln w="12700">
            <a:solidFill>
              <a:srgbClr val="E892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0456" y="4160520"/>
            <a:ext cx="100584" cy="1005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421624" y="4160520"/>
            <a:ext cx="100584" cy="100584"/>
          </a:xfrm>
          <a:prstGeom prst="ellipse">
            <a:avLst/>
          </a:prstGeom>
          <a:solidFill>
            <a:srgbClr val="9CB89B"/>
          </a:solidFill>
          <a:ln w="12700">
            <a:solidFill>
              <a:srgbClr val="9CB8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52760" y="40873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C#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110728" y="4434840"/>
            <a:ext cx="3291840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A80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Dog is an Animal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10728" y="4722876"/>
            <a:ext cx="3291840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25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400" dirty="0">
                <a:solidFill>
                  <a:srgbClr val="1F6F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</a:t>
            </a:r>
            <a:r>
              <a:rPr lang="en-US" sz="14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en-US" sz="1400" dirty="0">
                <a:solidFill>
                  <a:srgbClr val="1F6F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10728" y="5010912"/>
            <a:ext cx="3291840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... 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160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7A8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mechanics  ·  Polymorphism  ·  Best practices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292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in C#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571232" y="62910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  •   01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solidFill>
            <a:srgbClr val="F4F0E6">
              <a:alpha val="0"/>
            </a:srgbClr>
          </a:solidFill>
          <a:ln w="28575">
            <a:solidFill>
              <a:srgbClr val="D8C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8872" y="292608"/>
            <a:ext cx="11951208" cy="6400800"/>
          </a:xfrm>
          <a:prstGeom prst="rect">
            <a:avLst/>
          </a:prstGeom>
          <a:solidFill>
            <a:srgbClr val="F4F0E6">
              <a:alpha val="0"/>
            </a:srgbClr>
          </a:solidFill>
          <a:ln w="9525">
            <a:solidFill>
              <a:srgbClr val="C085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50" dirty="0">
                <a:solidFill>
                  <a:srgbClr val="C08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33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Inheritance?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66928" y="169164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dirty="0">
                <a:solidFill>
                  <a:srgbClr val="33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lets a new class reuse, extend, and customize the members of an existing class. The existing class is the </a:t>
            </a:r>
            <a:r>
              <a:rPr lang="en-US" b="1" dirty="0">
                <a:solidFill>
                  <a:srgbClr val="C08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(parent)</a:t>
            </a:r>
            <a:r>
              <a:rPr lang="en-US" dirty="0">
                <a:solidFill>
                  <a:srgbClr val="33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the new one is the </a:t>
            </a:r>
            <a:r>
              <a:rPr lang="en-US" b="1" dirty="0">
                <a:solidFill>
                  <a:srgbClr val="C08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(child)</a:t>
            </a:r>
            <a:r>
              <a:rPr lang="en-US" dirty="0">
                <a:solidFill>
                  <a:srgbClr val="33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6928" y="3063240"/>
            <a:ext cx="5852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300"/>
              </a:spcAft>
              <a:buSzPct val="100000"/>
              <a:buChar char="•"/>
            </a:pPr>
            <a:r>
              <a:rPr lang="en-US" sz="2000" b="1" dirty="0">
                <a:solidFill>
                  <a:srgbClr val="33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 “is-a” relationship</a:t>
            </a:r>
            <a:endParaRPr lang="en-US" sz="2000" dirty="0"/>
          </a:p>
          <a:p>
            <a:pPr marL="0" lvl="1" indent="0" algn="l">
              <a:buNone/>
            </a:pPr>
            <a:r>
              <a:rPr lang="en-US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Dog is an Animal, a Car is a Vehicle.</a:t>
            </a:r>
            <a:endParaRPr lang="en-US" sz="2000" dirty="0"/>
          </a:p>
          <a:p>
            <a:pPr marL="203200" indent="-203200" algn="l">
              <a:spcBef>
                <a:spcPts val="900"/>
              </a:spcBef>
              <a:spcAft>
                <a:spcPts val="300"/>
              </a:spcAft>
              <a:buSzPct val="100000"/>
              <a:buChar char="•"/>
            </a:pPr>
            <a:r>
              <a:rPr lang="en-US" sz="2000" b="1" dirty="0">
                <a:solidFill>
                  <a:srgbClr val="33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code once, reuse everywhere</a:t>
            </a:r>
            <a:endParaRPr lang="en-US" sz="2000" dirty="0"/>
          </a:p>
          <a:p>
            <a:pPr marL="0" lvl="1" indent="0" algn="l">
              <a:buNone/>
            </a:pPr>
            <a:r>
              <a:rPr lang="en-US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fields and methods live in the base class.</a:t>
            </a:r>
            <a:endParaRPr lang="en-US" sz="2000" dirty="0"/>
          </a:p>
          <a:p>
            <a:pPr marL="203200" indent="-203200" algn="l">
              <a:spcBef>
                <a:spcPts val="900"/>
              </a:spcBef>
              <a:spcAft>
                <a:spcPts val="300"/>
              </a:spcAft>
              <a:buSzPct val="100000"/>
              <a:buChar char="•"/>
            </a:pPr>
            <a:r>
              <a:rPr lang="en-US" sz="2000" b="1" dirty="0">
                <a:solidFill>
                  <a:srgbClr val="33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without rewriting</a:t>
            </a:r>
            <a:endParaRPr lang="en-US" sz="2000" dirty="0"/>
          </a:p>
          <a:p>
            <a:pPr marL="0" lvl="1" indent="0" algn="l">
              <a:buNone/>
            </a:pPr>
            <a:r>
              <a:rPr lang="en-US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add or change only what makes them special</a:t>
            </a:r>
            <a:r>
              <a:rPr lang="en-US" sz="13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941369" y="178308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FCFAF4"/>
          </a:solidFill>
          <a:ln w="19050">
            <a:solidFill>
              <a:srgbClr val="C0851C"/>
            </a:solidFill>
            <a:prstDash val="solid"/>
          </a:ln>
          <a:effectLst>
            <a:outerShdw blurRad="63500" dist="25400" dir="8100000" algn="bl" rotWithShape="0">
              <a:srgbClr val="8A827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987089" y="1783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8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75320" y="22494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class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89809" y="39776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CFAF4"/>
          </a:solidFill>
          <a:ln w="19050">
            <a:solidFill>
              <a:srgbClr val="33403B"/>
            </a:solidFill>
            <a:prstDash val="solid"/>
          </a:ln>
          <a:effectLst>
            <a:outerShdw blurRad="63500" dist="25400" dir="8100000" algn="bl" rotWithShape="0">
              <a:srgbClr val="8A827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08292" y="400547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439826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 flipV="1">
            <a:off x="7598469" y="2606040"/>
            <a:ext cx="1531620" cy="1371600"/>
          </a:xfrm>
          <a:prstGeom prst="line">
            <a:avLst/>
          </a:prstGeom>
          <a:noFill/>
          <a:ln w="25400">
            <a:solidFill>
              <a:srgbClr val="C0851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27169" y="39776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CFAF4"/>
          </a:solidFill>
          <a:ln w="19050">
            <a:solidFill>
              <a:srgbClr val="33403B"/>
            </a:solidFill>
            <a:prstDash val="solid"/>
          </a:ln>
          <a:effectLst>
            <a:outerShdw blurRad="63500" dist="25400" dir="8100000" algn="bl" rotWithShape="0">
              <a:srgbClr val="8A827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38500" y="400547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61120" y="439826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 flipH="1" flipV="1">
            <a:off x="9130089" y="2606040"/>
            <a:ext cx="205740" cy="1371600"/>
          </a:xfrm>
          <a:prstGeom prst="line">
            <a:avLst/>
          </a:prstGeom>
          <a:noFill/>
          <a:ln w="25400">
            <a:solidFill>
              <a:srgbClr val="C0851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424163" y="39776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CFAF4"/>
          </a:solidFill>
          <a:ln w="19050">
            <a:solidFill>
              <a:srgbClr val="33403B"/>
            </a:solidFill>
            <a:prstDash val="solid"/>
          </a:ln>
          <a:effectLst>
            <a:outerShdw blurRad="63500" dist="25400" dir="8100000" algn="bl" rotWithShape="0">
              <a:srgbClr val="8A827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410249" y="39776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Bird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698480" y="439826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 flipH="1" flipV="1">
            <a:off x="9140028" y="2606040"/>
            <a:ext cx="1943100" cy="1371600"/>
          </a:xfrm>
          <a:prstGeom prst="line">
            <a:avLst/>
          </a:prstGeom>
          <a:noFill/>
          <a:ln w="25400">
            <a:solidFill>
              <a:srgbClr val="C0851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61209" y="4983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8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child inherits everything Animal can do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in C#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571232" y="62910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  •   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solidFill>
            <a:srgbClr val="F4F0E6">
              <a:alpha val="0"/>
            </a:srgbClr>
          </a:solidFill>
          <a:ln w="28575">
            <a:solidFill>
              <a:srgbClr val="D8C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92608" y="228600"/>
            <a:ext cx="11731752" cy="6400800"/>
          </a:xfrm>
          <a:prstGeom prst="rect">
            <a:avLst/>
          </a:prstGeom>
          <a:solidFill>
            <a:srgbClr val="F4F0E6">
              <a:alpha val="0"/>
            </a:srgbClr>
          </a:solidFill>
          <a:ln w="9525">
            <a:solidFill>
              <a:srgbClr val="C085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50" dirty="0">
                <a:solidFill>
                  <a:srgbClr val="C08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MECHANICS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33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&amp; Derived Classes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66928" y="1737360"/>
            <a:ext cx="4663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300"/>
              </a:spcAft>
              <a:buSzPct val="100000"/>
              <a:buChar char="•"/>
            </a:pPr>
            <a:r>
              <a:rPr lang="en-US" b="1" dirty="0">
                <a:solidFill>
                  <a:srgbClr val="33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colon to inherit</a:t>
            </a:r>
            <a:endParaRPr lang="en-US" dirty="0"/>
          </a:p>
          <a:p>
            <a:pPr marL="0" lvl="1" indent="0" algn="l">
              <a:buNone/>
            </a:pPr>
            <a:r>
              <a:rPr lang="en-US" sz="16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Dog : Animal  —  Dog gets Animal's members.</a:t>
            </a:r>
            <a:endParaRPr lang="en-US" dirty="0"/>
          </a:p>
          <a:p>
            <a:pPr marL="203200" indent="-203200" algn="l">
              <a:spcBef>
                <a:spcPts val="800"/>
              </a:spcBef>
              <a:spcAft>
                <a:spcPts val="300"/>
              </a:spcAft>
              <a:buSzPct val="100000"/>
              <a:buChar char="•"/>
            </a:pPr>
            <a:r>
              <a:rPr lang="en-US" b="1" dirty="0">
                <a:solidFill>
                  <a:srgbClr val="33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inheritance only</a:t>
            </a:r>
            <a:endParaRPr lang="en-US" dirty="0"/>
          </a:p>
          <a:p>
            <a:pPr marL="0" lvl="1" indent="0" algn="l">
              <a:buNone/>
            </a:pPr>
            <a:r>
              <a:rPr lang="en-US" sz="16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has exactly one direct base in C#.</a:t>
            </a:r>
            <a:endParaRPr lang="en-US" dirty="0"/>
          </a:p>
          <a:p>
            <a:pPr marL="203200" indent="-203200" algn="l">
              <a:spcBef>
                <a:spcPts val="800"/>
              </a:spcBef>
              <a:spcAft>
                <a:spcPts val="300"/>
              </a:spcAft>
              <a:buSzPct val="100000"/>
              <a:buChar char="•"/>
            </a:pPr>
            <a:r>
              <a:rPr lang="en-US" b="1" dirty="0">
                <a:solidFill>
                  <a:srgbClr val="33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 members come for free</a:t>
            </a:r>
            <a:endParaRPr lang="en-US" dirty="0"/>
          </a:p>
          <a:p>
            <a:pPr marL="0" lvl="1" indent="0" algn="l">
              <a:buNone/>
            </a:pPr>
            <a:r>
              <a:rPr lang="en-US" sz="16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and Eat() exist on Dog without re-declaring.</a:t>
            </a:r>
            <a:endParaRPr lang="en-US" dirty="0"/>
          </a:p>
          <a:p>
            <a:pPr marL="203200" indent="-203200" algn="l">
              <a:spcBef>
                <a:spcPts val="800"/>
              </a:spcBef>
              <a:spcAft>
                <a:spcPts val="300"/>
              </a:spcAft>
              <a:buSzPct val="100000"/>
              <a:buChar char="•"/>
            </a:pPr>
            <a:r>
              <a:rPr lang="en-US" b="1" dirty="0">
                <a:solidFill>
                  <a:srgbClr val="33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what's new</a:t>
            </a:r>
            <a:endParaRPr lang="en-US" dirty="0"/>
          </a:p>
          <a:p>
            <a:pPr marL="0" lvl="1" indent="0" algn="l">
              <a:buNone/>
            </a:pPr>
            <a:r>
              <a:rPr lang="en-US" sz="16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introduces its own Bark() method.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532120" y="1432178"/>
            <a:ext cx="6080760" cy="4794885"/>
          </a:xfrm>
          <a:prstGeom prst="roundRect">
            <a:avLst>
              <a:gd name="adj" fmla="val 1758"/>
            </a:avLst>
          </a:prstGeom>
          <a:solidFill>
            <a:srgbClr val="FCFAF4"/>
          </a:solidFill>
          <a:ln w="12700">
            <a:solidFill>
              <a:srgbClr val="C0851C"/>
            </a:solidFill>
            <a:prstDash val="solid"/>
          </a:ln>
          <a:effectLst>
            <a:outerShdw blurRad="63500" dist="25400" dir="8100000" algn="bl" rotWithShape="0">
              <a:srgbClr val="8A827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733288" y="1920240"/>
            <a:ext cx="100584" cy="100584"/>
          </a:xfrm>
          <a:prstGeom prst="ellipse">
            <a:avLst/>
          </a:prstGeom>
          <a:solidFill>
            <a:srgbClr val="E8927C"/>
          </a:solidFill>
          <a:ln w="12700">
            <a:solidFill>
              <a:srgbClr val="E892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34456" y="1920240"/>
            <a:ext cx="100584" cy="1005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35624" y="1920240"/>
            <a:ext cx="100584" cy="100584"/>
          </a:xfrm>
          <a:prstGeom prst="ellipse">
            <a:avLst/>
          </a:prstGeom>
          <a:solidFill>
            <a:srgbClr val="9CB89B"/>
          </a:solidFill>
          <a:ln w="12700">
            <a:solidFill>
              <a:srgbClr val="9CB8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98480" y="1847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C#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824728" y="2194560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25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300" dirty="0">
                <a:solidFill>
                  <a:srgbClr val="1F6F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24728" y="2462022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24728" y="2729484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Name { </a:t>
            </a:r>
            <a:r>
              <a:rPr lang="en-US" sz="1300" dirty="0">
                <a:solidFill>
                  <a:srgbClr val="C25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r>
              <a:rPr lang="en-US" sz="1300" dirty="0">
                <a:solidFill>
                  <a:srgbClr val="C25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24728" y="2996946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</a:t>
            </a:r>
            <a:r>
              <a:rPr lang="en-US" sz="1300" dirty="0">
                <a:solidFill>
                  <a:srgbClr val="C08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Eat</a:t>
            </a: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=&gt; Console.WriteLine($"{Name} eats");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24728" y="3264408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24728" y="3531870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24728" y="3799332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80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Dog inherits Name + Eat(), adds Bark()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24728" y="4066794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25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300" dirty="0">
                <a:solidFill>
                  <a:srgbClr val="1F6F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</a:t>
            </a: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en-US" sz="1300" dirty="0">
                <a:solidFill>
                  <a:srgbClr val="1F6F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24728" y="4334256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24728" y="4601718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</a:t>
            </a:r>
            <a:r>
              <a:rPr lang="en-US" sz="1300" dirty="0">
                <a:solidFill>
                  <a:srgbClr val="C08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Bark</a:t>
            </a: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=&gt; Console.WriteLine("Woof!");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24728" y="4869180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24728" y="5136642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24728" y="5404104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25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</a:t>
            </a:r>
            <a:r>
              <a:rPr lang="en-US" sz="1300" dirty="0">
                <a:solidFill>
                  <a:srgbClr val="C25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1300" dirty="0">
                <a:solidFill>
                  <a:srgbClr val="1F6F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</a:t>
            </a: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824728" y="5671566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d.Name = "Rex";  d.</a:t>
            </a:r>
            <a:r>
              <a:rPr lang="en-US" sz="1300" dirty="0">
                <a:solidFill>
                  <a:srgbClr val="C08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Eat</a:t>
            </a: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 d.</a:t>
            </a:r>
            <a:r>
              <a:rPr lang="en-US" sz="1300" dirty="0">
                <a:solidFill>
                  <a:srgbClr val="C08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Bark</a:t>
            </a: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in C#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571232" y="62910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Mechanics   •   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solidFill>
            <a:srgbClr val="F4F0E6">
              <a:alpha val="0"/>
            </a:srgbClr>
          </a:solidFill>
          <a:ln w="28575">
            <a:solidFill>
              <a:srgbClr val="D8C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4F0E6">
              <a:alpha val="0"/>
            </a:srgbClr>
          </a:solidFill>
          <a:ln w="9525">
            <a:solidFill>
              <a:srgbClr val="C085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50" dirty="0">
                <a:solidFill>
                  <a:srgbClr val="C08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MECHANICS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33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Constructors &amp; the base Keyword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66928" y="1737360"/>
            <a:ext cx="4663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300"/>
              </a:spcAft>
              <a:buSzPct val="100000"/>
              <a:buChar char="•"/>
            </a:pPr>
            <a:r>
              <a:rPr lang="en-US" b="1" dirty="0">
                <a:solidFill>
                  <a:srgbClr val="33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constructor runs first</a:t>
            </a:r>
            <a:endParaRPr lang="en-US" dirty="0"/>
          </a:p>
          <a:p>
            <a:pPr marL="0" lvl="1" indent="0" algn="l">
              <a:buNone/>
            </a:pPr>
            <a:r>
              <a:rPr lang="en-US" sz="14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is built before the child.</a:t>
            </a:r>
            <a:endParaRPr lang="en-US" dirty="0"/>
          </a:p>
          <a:p>
            <a:pPr marL="203200" indent="-203200" algn="l">
              <a:spcBef>
                <a:spcPts val="800"/>
              </a:spcBef>
              <a:spcAft>
                <a:spcPts val="300"/>
              </a:spcAft>
              <a:buSzPct val="100000"/>
              <a:buChar char="•"/>
            </a:pPr>
            <a:r>
              <a:rPr lang="en-US" b="1" dirty="0">
                <a:solidFill>
                  <a:srgbClr val="33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it with : base(...)</a:t>
            </a:r>
            <a:endParaRPr lang="en-US" dirty="0"/>
          </a:p>
          <a:p>
            <a:pPr marL="0" lvl="1" indent="0" algn="l">
              <a:buNone/>
            </a:pPr>
            <a:r>
              <a:rPr lang="en-US" sz="14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arguments up to the base constructor.</a:t>
            </a:r>
            <a:endParaRPr lang="en-US" dirty="0"/>
          </a:p>
          <a:p>
            <a:pPr marL="203200" indent="-203200" algn="l">
              <a:spcBef>
                <a:spcPts val="800"/>
              </a:spcBef>
              <a:spcAft>
                <a:spcPts val="300"/>
              </a:spcAft>
              <a:buSzPct val="100000"/>
              <a:buChar char="•"/>
            </a:pPr>
            <a:r>
              <a:rPr lang="en-US" b="1" dirty="0">
                <a:solidFill>
                  <a:srgbClr val="33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child finishes</a:t>
            </a:r>
            <a:endParaRPr lang="en-US" dirty="0"/>
          </a:p>
          <a:p>
            <a:pPr marL="0" lvl="1" indent="0" algn="l">
              <a:buNone/>
            </a:pPr>
            <a:r>
              <a:rPr lang="en-US" sz="14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constructor body runs after base().</a:t>
            </a:r>
            <a:endParaRPr lang="en-US" dirty="0"/>
          </a:p>
          <a:p>
            <a:pPr marL="203200" indent="-203200" algn="l">
              <a:spcBef>
                <a:spcPts val="800"/>
              </a:spcBef>
              <a:spcAft>
                <a:spcPts val="300"/>
              </a:spcAft>
              <a:buSzPct val="100000"/>
              <a:buChar char="•"/>
            </a:pPr>
            <a:r>
              <a:rPr lang="en-US" b="1" dirty="0">
                <a:solidFill>
                  <a:srgbClr val="33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base()? The parameterless one is called</a:t>
            </a:r>
            <a:endParaRPr lang="en-US" dirty="0"/>
          </a:p>
          <a:p>
            <a:pPr marL="0" lvl="1" indent="0" algn="l">
              <a:buNone/>
            </a:pPr>
            <a:r>
              <a:rPr lang="en-US" sz="14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one, or always chain explicitly.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568696" y="1737360"/>
            <a:ext cx="6044184" cy="4489704"/>
          </a:xfrm>
          <a:prstGeom prst="roundRect">
            <a:avLst>
              <a:gd name="adj" fmla="val 1758"/>
            </a:avLst>
          </a:prstGeom>
          <a:solidFill>
            <a:srgbClr val="FCFAF4"/>
          </a:solidFill>
          <a:ln w="12700">
            <a:solidFill>
              <a:srgbClr val="C0851C"/>
            </a:solidFill>
            <a:prstDash val="solid"/>
          </a:ln>
          <a:effectLst>
            <a:outerShdw blurRad="63500" dist="25400" dir="8100000" algn="bl" rotWithShape="0">
              <a:srgbClr val="8A827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733288" y="1920240"/>
            <a:ext cx="100584" cy="100584"/>
          </a:xfrm>
          <a:prstGeom prst="ellipse">
            <a:avLst/>
          </a:prstGeom>
          <a:solidFill>
            <a:srgbClr val="E8927C"/>
          </a:solidFill>
          <a:ln w="12700">
            <a:solidFill>
              <a:srgbClr val="E892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34456" y="1920240"/>
            <a:ext cx="100584" cy="1005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35624" y="1920240"/>
            <a:ext cx="100584" cy="100584"/>
          </a:xfrm>
          <a:prstGeom prst="ellipse">
            <a:avLst/>
          </a:prstGeom>
          <a:solidFill>
            <a:srgbClr val="9CB89B"/>
          </a:solidFill>
          <a:ln w="12700">
            <a:solidFill>
              <a:srgbClr val="9CB8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98480" y="1847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C#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824728" y="2194560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25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300" dirty="0">
                <a:solidFill>
                  <a:srgbClr val="1F6F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24728" y="2462022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24728" y="2729484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Name { </a:t>
            </a:r>
            <a:r>
              <a:rPr lang="en-US" sz="1300" dirty="0">
                <a:solidFill>
                  <a:srgbClr val="C25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24728" y="2996946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</a:t>
            </a:r>
            <a:r>
              <a:rPr lang="en-US" sz="1300" dirty="0">
                <a:solidFill>
                  <a:srgbClr val="1F6F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</a:t>
            </a: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(string name) =&gt; Name = name;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24728" y="3264408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24728" y="3531870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24728" y="3799332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25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300" dirty="0">
                <a:solidFill>
                  <a:srgbClr val="1F6F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</a:t>
            </a: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en-US" sz="1300" dirty="0">
                <a:solidFill>
                  <a:srgbClr val="1F6F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24728" y="4066794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24728" y="4334256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</a:t>
            </a:r>
            <a:r>
              <a:rPr lang="en-US" sz="1300" dirty="0">
                <a:solidFill>
                  <a:srgbClr val="1F6F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</a:t>
            </a: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(string name)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24728" y="4601718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: </a:t>
            </a:r>
            <a:r>
              <a:rPr lang="en-US" sz="1300" dirty="0">
                <a:solidFill>
                  <a:srgbClr val="C08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</a:t>
            </a: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(name)   </a:t>
            </a:r>
            <a:r>
              <a:rPr lang="en-US" sz="1300" dirty="0">
                <a:solidFill>
                  <a:srgbClr val="7A80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run Animal(name) first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24728" y="4869180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}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24728" y="5136642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24728" y="5404104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824728" y="5671566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25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</a:t>
            </a:r>
            <a:r>
              <a:rPr lang="en-US" sz="1300" dirty="0">
                <a:solidFill>
                  <a:srgbClr val="C25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1300" dirty="0">
                <a:solidFill>
                  <a:srgbClr val="1F6F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</a:t>
            </a: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("Rex");  </a:t>
            </a:r>
            <a:r>
              <a:rPr lang="en-US" sz="1300" dirty="0">
                <a:solidFill>
                  <a:srgbClr val="7A80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Name = "Rex"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in C#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571232" y="62910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Mechanics   •   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solidFill>
            <a:srgbClr val="F4F0E6">
              <a:alpha val="0"/>
            </a:srgbClr>
          </a:solidFill>
          <a:ln w="28575">
            <a:solidFill>
              <a:srgbClr val="D8C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4F0E6">
              <a:alpha val="0"/>
            </a:srgbClr>
          </a:solidFill>
          <a:ln w="9525">
            <a:solidFill>
              <a:srgbClr val="C085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50" dirty="0">
                <a:solidFill>
                  <a:srgbClr val="C08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33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 Modifiers in Inheritance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child class can “see” depends on how each member is declared in the parent.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66928" y="228600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CFAF4"/>
          </a:solidFill>
          <a:ln w="19050">
            <a:solidFill>
              <a:srgbClr val="7A8079"/>
            </a:solidFill>
            <a:prstDash val="solid"/>
          </a:ln>
          <a:effectLst>
            <a:outerShdw blurRad="63500" dist="25400" dir="8100000" algn="bl" rotWithShape="0">
              <a:srgbClr val="8A827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25786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7A80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41248" y="3200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Visible to everyone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1248" y="370332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 and usable inside the child and by outside callers.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434840" y="228600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CFAF4"/>
          </a:solidFill>
          <a:ln w="19050">
            <a:solidFill>
              <a:srgbClr val="C0851C"/>
            </a:solidFill>
            <a:prstDash val="solid"/>
          </a:ln>
          <a:effectLst>
            <a:outerShdw blurRad="63500" dist="25400" dir="8100000" algn="bl" rotWithShape="0">
              <a:srgbClr val="8A827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25786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08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09160" y="3200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inheritance modifier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9160" y="370332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from outsiders, but the child class can use it freely.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302752" y="228600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CFAF4"/>
          </a:solidFill>
          <a:ln w="19050">
            <a:solidFill>
              <a:srgbClr val="C25430"/>
            </a:solidFill>
            <a:prstDash val="solid"/>
          </a:ln>
          <a:effectLst>
            <a:outerShdw blurRad="63500" dist="25400" dir="8100000" algn="bl" rotWithShape="0">
              <a:srgbClr val="8A827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77072" y="257860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25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577072" y="3200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Parent-only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77072" y="370332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 but not accessible — the child cannot touch it directly.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66928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C08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r>
              <a:rPr lang="en-US" dirty="0">
                <a:solidFill>
                  <a:srgbClr val="33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r>
              <a:rPr lang="en-US" dirty="0">
                <a:solidFill>
                  <a:srgbClr val="C08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</a:t>
            </a:r>
            <a:r>
              <a:rPr lang="en-US" dirty="0">
                <a:solidFill>
                  <a:srgbClr val="33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child classes need access but outside code should not</a:t>
            </a:r>
            <a:r>
              <a:rPr lang="en-US" sz="1400" dirty="0">
                <a:solidFill>
                  <a:srgbClr val="33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in C#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571232" y="62910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  •   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solidFill>
            <a:srgbClr val="F4F0E6">
              <a:alpha val="0"/>
            </a:srgbClr>
          </a:solidFill>
          <a:ln w="28575">
            <a:solidFill>
              <a:srgbClr val="D8C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4F0E6">
              <a:alpha val="0"/>
            </a:srgbClr>
          </a:solidFill>
          <a:ln w="9525">
            <a:solidFill>
              <a:srgbClr val="C085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50" dirty="0">
                <a:solidFill>
                  <a:srgbClr val="C08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33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 Overriding: virtual &amp; override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66928" y="1737360"/>
            <a:ext cx="4663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300"/>
              </a:spcAft>
              <a:buSzPct val="100000"/>
              <a:buChar char="•"/>
            </a:pPr>
            <a:r>
              <a:rPr lang="en-US" sz="2000" b="1" dirty="0">
                <a:solidFill>
                  <a:srgbClr val="33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the base method virtual</a:t>
            </a:r>
            <a:endParaRPr lang="en-US" sz="2000" dirty="0"/>
          </a:p>
          <a:p>
            <a:pPr marL="0" lvl="1" indent="0" algn="l">
              <a:buNone/>
            </a:pPr>
            <a:r>
              <a:rPr lang="en-US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says “children may replace me.”</a:t>
            </a:r>
            <a:endParaRPr lang="en-US" sz="2000" dirty="0"/>
          </a:p>
          <a:p>
            <a:pPr marL="203200" indent="-203200" algn="l">
              <a:spcBef>
                <a:spcPts val="800"/>
              </a:spcBef>
              <a:spcAft>
                <a:spcPts val="300"/>
              </a:spcAft>
              <a:buSzPct val="100000"/>
              <a:buChar char="•"/>
            </a:pPr>
            <a:r>
              <a:rPr lang="en-US" sz="2000" b="1" dirty="0">
                <a:solidFill>
                  <a:srgbClr val="33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it with override</a:t>
            </a:r>
            <a:endParaRPr lang="en-US" sz="2000" dirty="0"/>
          </a:p>
          <a:p>
            <a:pPr marL="0" lvl="1" indent="0" algn="l">
              <a:buNone/>
            </a:pPr>
            <a:r>
              <a:rPr lang="en-US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 supplies its own version.</a:t>
            </a:r>
            <a:endParaRPr lang="en-US" sz="2000" dirty="0"/>
          </a:p>
          <a:p>
            <a:pPr marL="203200" indent="-203200" algn="l">
              <a:spcBef>
                <a:spcPts val="800"/>
              </a:spcBef>
              <a:spcAft>
                <a:spcPts val="300"/>
              </a:spcAft>
              <a:buSzPct val="100000"/>
              <a:buChar char="•"/>
            </a:pPr>
            <a:r>
              <a:rPr lang="en-US" sz="2000" b="1" dirty="0">
                <a:solidFill>
                  <a:srgbClr val="33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call, many forms</a:t>
            </a:r>
            <a:endParaRPr lang="en-US" sz="2000" dirty="0"/>
          </a:p>
          <a:p>
            <a:pPr marL="0" lvl="1" indent="0" algn="l">
              <a:buNone/>
            </a:pPr>
            <a:r>
              <a:rPr lang="en-US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Animal reference runs the Dog's Speak().</a:t>
            </a:r>
            <a:endParaRPr lang="en-US" sz="2000" dirty="0"/>
          </a:p>
          <a:p>
            <a:pPr marL="203200" indent="-203200" algn="l">
              <a:spcBef>
                <a:spcPts val="800"/>
              </a:spcBef>
              <a:spcAft>
                <a:spcPts val="300"/>
              </a:spcAft>
              <a:buSzPct val="100000"/>
              <a:buChar char="•"/>
            </a:pPr>
            <a:r>
              <a:rPr lang="en-US" sz="2000" b="1" dirty="0">
                <a:solidFill>
                  <a:srgbClr val="33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parent with base.</a:t>
            </a:r>
            <a:endParaRPr lang="en-US" sz="2000" dirty="0"/>
          </a:p>
          <a:p>
            <a:pPr marL="0" lvl="1" indent="0" algn="l">
              <a:buNone/>
            </a:pPr>
            <a:r>
              <a:rPr lang="en-US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base.Speak() to extend, not discard.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532120" y="1737360"/>
            <a:ext cx="6080760" cy="4160520"/>
          </a:xfrm>
          <a:prstGeom prst="roundRect">
            <a:avLst>
              <a:gd name="adj" fmla="val 1758"/>
            </a:avLst>
          </a:prstGeom>
          <a:solidFill>
            <a:srgbClr val="FCFAF4"/>
          </a:solidFill>
          <a:ln w="12700">
            <a:solidFill>
              <a:srgbClr val="C0851C"/>
            </a:solidFill>
            <a:prstDash val="solid"/>
          </a:ln>
          <a:effectLst>
            <a:outerShdw blurRad="63500" dist="25400" dir="8100000" algn="bl" rotWithShape="0">
              <a:srgbClr val="8A827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733288" y="1920240"/>
            <a:ext cx="100584" cy="100584"/>
          </a:xfrm>
          <a:prstGeom prst="ellipse">
            <a:avLst/>
          </a:prstGeom>
          <a:solidFill>
            <a:srgbClr val="E8927C"/>
          </a:solidFill>
          <a:ln w="12700">
            <a:solidFill>
              <a:srgbClr val="E892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34456" y="1920240"/>
            <a:ext cx="100584" cy="1005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35624" y="1920240"/>
            <a:ext cx="100584" cy="100584"/>
          </a:xfrm>
          <a:prstGeom prst="ellipse">
            <a:avLst/>
          </a:prstGeom>
          <a:solidFill>
            <a:srgbClr val="9CB89B"/>
          </a:solidFill>
          <a:ln w="12700">
            <a:solidFill>
              <a:srgbClr val="9CB8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98480" y="1847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C#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824728" y="2194560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25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300" dirty="0">
                <a:solidFill>
                  <a:srgbClr val="1F6F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24728" y="2462022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24728" y="2729484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</a:t>
            </a:r>
            <a:r>
              <a:rPr lang="en-US" sz="1300" dirty="0">
                <a:solidFill>
                  <a:srgbClr val="C08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virtual</a:t>
            </a: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void </a:t>
            </a:r>
            <a:r>
              <a:rPr lang="en-US" sz="1300" dirty="0">
                <a:solidFill>
                  <a:srgbClr val="C08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</a:t>
            </a: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24728" y="2996946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=&gt; Console.WriteLine("...");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24728" y="3264408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24728" y="3531870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25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300" dirty="0">
                <a:solidFill>
                  <a:srgbClr val="1F6F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</a:t>
            </a: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en-US" sz="1300" dirty="0">
                <a:solidFill>
                  <a:srgbClr val="1F6F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24728" y="3799332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24728" y="4066794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</a:t>
            </a:r>
            <a:r>
              <a:rPr lang="en-US" sz="1300" dirty="0">
                <a:solidFill>
                  <a:srgbClr val="C08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</a:t>
            </a: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void </a:t>
            </a:r>
            <a:r>
              <a:rPr lang="en-US" sz="1300" dirty="0">
                <a:solidFill>
                  <a:srgbClr val="C08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</a:t>
            </a: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24728" y="4334256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=&gt; Console.WriteLine("Woof!");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24728" y="4601718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24728" y="4869180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24728" y="5136642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6F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</a:t>
            </a: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= </a:t>
            </a:r>
            <a:r>
              <a:rPr lang="en-US" sz="1300" dirty="0">
                <a:solidFill>
                  <a:srgbClr val="C25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1300" dirty="0">
                <a:solidFill>
                  <a:srgbClr val="1F6F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</a:t>
            </a: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24728" y="5404104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</a:t>
            </a:r>
            <a:r>
              <a:rPr lang="en-US" sz="1300" dirty="0">
                <a:solidFill>
                  <a:srgbClr val="C08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</a:t>
            </a: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  </a:t>
            </a:r>
            <a:r>
              <a:rPr lang="en-US" sz="1300" dirty="0">
                <a:solidFill>
                  <a:srgbClr val="7A80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"Woof!"  (runtime type wins)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in C#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571232" y="62910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  •   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solidFill>
            <a:srgbClr val="F4F0E6">
              <a:alpha val="0"/>
            </a:srgbClr>
          </a:solidFill>
          <a:ln w="28575">
            <a:solidFill>
              <a:srgbClr val="D8C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4F0E6">
              <a:alpha val="0"/>
            </a:srgbClr>
          </a:solidFill>
          <a:ln w="9525">
            <a:solidFill>
              <a:srgbClr val="C085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50" dirty="0">
                <a:solidFill>
                  <a:srgbClr val="C08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33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Abstract Classes &amp; Methods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66928" y="1737360"/>
            <a:ext cx="4663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300"/>
              </a:spcAft>
              <a:buSzPct val="100000"/>
              <a:buChar char="•"/>
            </a:pPr>
            <a:r>
              <a:rPr lang="en-US" sz="2000" b="1" dirty="0">
                <a:solidFill>
                  <a:srgbClr val="33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blueprint you can't instantiate</a:t>
            </a:r>
            <a:endParaRPr lang="en-US" sz="2000" dirty="0"/>
          </a:p>
          <a:p>
            <a:pPr marL="0" lvl="1" indent="0" algn="l">
              <a:buNone/>
            </a:pPr>
            <a:r>
              <a:rPr lang="en-US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Shape() is a compile error.</a:t>
            </a:r>
            <a:endParaRPr lang="en-US" sz="2000" dirty="0"/>
          </a:p>
          <a:p>
            <a:pPr marL="203200" indent="-203200" algn="l">
              <a:spcBef>
                <a:spcPts val="800"/>
              </a:spcBef>
              <a:spcAft>
                <a:spcPts val="300"/>
              </a:spcAft>
              <a:buSzPct val="100000"/>
              <a:buChar char="•"/>
            </a:pPr>
            <a:r>
              <a:rPr lang="en-US" sz="2000" b="1" dirty="0">
                <a:solidFill>
                  <a:srgbClr val="33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methods have no body</a:t>
            </a:r>
            <a:endParaRPr lang="en-US" sz="2000" dirty="0"/>
          </a:p>
          <a:p>
            <a:pPr marL="0" lvl="1" indent="0" algn="l">
              <a:buNone/>
            </a:pPr>
            <a:r>
              <a:rPr lang="en-US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define a contract, not behavior.</a:t>
            </a:r>
            <a:endParaRPr lang="en-US" sz="2000" dirty="0"/>
          </a:p>
          <a:p>
            <a:pPr marL="203200" indent="-203200" algn="l">
              <a:spcBef>
                <a:spcPts val="800"/>
              </a:spcBef>
              <a:spcAft>
                <a:spcPts val="300"/>
              </a:spcAft>
              <a:buSzPct val="100000"/>
              <a:buChar char="•"/>
            </a:pPr>
            <a:r>
              <a:rPr lang="en-US" sz="2000" b="1" dirty="0">
                <a:solidFill>
                  <a:srgbClr val="33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must override them</a:t>
            </a:r>
            <a:endParaRPr lang="en-US" sz="2000" dirty="0"/>
          </a:p>
          <a:p>
            <a:pPr marL="0" lvl="1" indent="0" algn="l">
              <a:buNone/>
            </a:pPr>
            <a:r>
              <a:rPr lang="en-US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concrete child fills in the details.</a:t>
            </a:r>
            <a:endParaRPr lang="en-US" sz="2000" dirty="0"/>
          </a:p>
          <a:p>
            <a:pPr marL="203200" indent="-203200" algn="l">
              <a:spcBef>
                <a:spcPts val="800"/>
              </a:spcBef>
              <a:spcAft>
                <a:spcPts val="300"/>
              </a:spcAft>
              <a:buSzPct val="100000"/>
              <a:buChar char="•"/>
            </a:pPr>
            <a:r>
              <a:rPr lang="en-US" sz="2000" b="1" dirty="0">
                <a:solidFill>
                  <a:srgbClr val="33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in shared, ready-made code too</a:t>
            </a:r>
            <a:endParaRPr lang="en-US" sz="2000" dirty="0"/>
          </a:p>
          <a:p>
            <a:pPr marL="0" lvl="1" indent="0" algn="l">
              <a:buNone/>
            </a:pPr>
            <a:r>
              <a:rPr lang="en-US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classes can hold normal members.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532120" y="1737360"/>
            <a:ext cx="6080760" cy="4160520"/>
          </a:xfrm>
          <a:prstGeom prst="roundRect">
            <a:avLst>
              <a:gd name="adj" fmla="val 1758"/>
            </a:avLst>
          </a:prstGeom>
          <a:solidFill>
            <a:srgbClr val="FCFAF4"/>
          </a:solidFill>
          <a:ln w="12700">
            <a:solidFill>
              <a:srgbClr val="C0851C"/>
            </a:solidFill>
            <a:prstDash val="solid"/>
          </a:ln>
          <a:effectLst>
            <a:outerShdw blurRad="63500" dist="25400" dir="8100000" algn="bl" rotWithShape="0">
              <a:srgbClr val="8A827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733288" y="1920240"/>
            <a:ext cx="100584" cy="100584"/>
          </a:xfrm>
          <a:prstGeom prst="ellipse">
            <a:avLst/>
          </a:prstGeom>
          <a:solidFill>
            <a:srgbClr val="E8927C"/>
          </a:solidFill>
          <a:ln w="12700">
            <a:solidFill>
              <a:srgbClr val="E892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34456" y="1920240"/>
            <a:ext cx="100584" cy="1005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35624" y="1920240"/>
            <a:ext cx="100584" cy="100584"/>
          </a:xfrm>
          <a:prstGeom prst="ellipse">
            <a:avLst/>
          </a:prstGeom>
          <a:solidFill>
            <a:srgbClr val="9CB89B"/>
          </a:solidFill>
          <a:ln w="12700">
            <a:solidFill>
              <a:srgbClr val="9CB8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98480" y="1847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C#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824728" y="2194560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25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r>
              <a:rPr lang="en-US" sz="1300" dirty="0">
                <a:solidFill>
                  <a:srgbClr val="C08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</a:t>
            </a:r>
            <a:r>
              <a:rPr lang="en-US" sz="1300" dirty="0">
                <a:solidFill>
                  <a:srgbClr val="C25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class </a:t>
            </a:r>
            <a:r>
              <a:rPr lang="en-US" sz="1300" dirty="0">
                <a:solidFill>
                  <a:srgbClr val="1F6F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24728" y="2462022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24728" y="2729484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</a:t>
            </a:r>
            <a:r>
              <a:rPr lang="en-US" sz="1300" dirty="0">
                <a:solidFill>
                  <a:srgbClr val="C08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</a:t>
            </a: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double </a:t>
            </a:r>
            <a:r>
              <a:rPr lang="en-US" sz="1300" dirty="0">
                <a:solidFill>
                  <a:srgbClr val="C08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</a:t>
            </a: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 </a:t>
            </a:r>
            <a:r>
              <a:rPr lang="en-US" sz="1300" dirty="0">
                <a:solidFill>
                  <a:srgbClr val="7A80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body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24728" y="2996946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</a:t>
            </a:r>
            <a:r>
              <a:rPr lang="en-US" sz="1300" dirty="0">
                <a:solidFill>
                  <a:srgbClr val="C08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</a:t>
            </a: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24728" y="3264408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=&gt; Console.WriteLine($"Area = {Area()}");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24728" y="3531870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24728" y="3799332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25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300" dirty="0">
                <a:solidFill>
                  <a:srgbClr val="1F6F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</a:t>
            </a: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en-US" sz="1300" dirty="0">
                <a:solidFill>
                  <a:srgbClr val="1F6F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24728" y="4066794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24728" y="4334256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double R { </a:t>
            </a:r>
            <a:r>
              <a:rPr lang="en-US" sz="1300" dirty="0">
                <a:solidFill>
                  <a:srgbClr val="C25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r>
              <a:rPr lang="en-US" sz="1300" dirty="0">
                <a:solidFill>
                  <a:srgbClr val="C25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24728" y="4601718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</a:t>
            </a:r>
            <a:r>
              <a:rPr lang="en-US" sz="1300" dirty="0">
                <a:solidFill>
                  <a:srgbClr val="C08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</a:t>
            </a: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double </a:t>
            </a:r>
            <a:r>
              <a:rPr lang="en-US" sz="1300" dirty="0">
                <a:solidFill>
                  <a:srgbClr val="C08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</a:t>
            </a: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24728" y="4869180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=&gt; Math.PI * R * R;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24728" y="5136642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in C#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571232" y="62910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  •   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solidFill>
            <a:srgbClr val="F4F0E6">
              <a:alpha val="0"/>
            </a:srgbClr>
          </a:solidFill>
          <a:ln w="28575">
            <a:solidFill>
              <a:srgbClr val="D8C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4F0E6">
              <a:alpha val="0"/>
            </a:srgbClr>
          </a:solidFill>
          <a:ln w="9525">
            <a:solidFill>
              <a:srgbClr val="C085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50" dirty="0">
                <a:solidFill>
                  <a:srgbClr val="C08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33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Sealed: Stopping Inheritance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66928" y="1737360"/>
            <a:ext cx="4663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300"/>
              </a:spcAft>
              <a:buSzPct val="100000"/>
              <a:buChar char="•"/>
            </a:pPr>
            <a:r>
              <a:rPr lang="en-US" sz="2000" b="1" dirty="0">
                <a:solidFill>
                  <a:srgbClr val="33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blocks further inheritance</a:t>
            </a:r>
            <a:endParaRPr lang="en-US" sz="2000" dirty="0"/>
          </a:p>
          <a:p>
            <a:pPr marL="0" lvl="1" indent="0" algn="l">
              <a:buNone/>
            </a:pPr>
            <a:r>
              <a:rPr lang="en-US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class may derive from a sealed class.</a:t>
            </a:r>
            <a:endParaRPr lang="en-US" sz="2000" dirty="0"/>
          </a:p>
          <a:p>
            <a:pPr marL="203200" indent="-203200" algn="l">
              <a:spcBef>
                <a:spcPts val="800"/>
              </a:spcBef>
              <a:spcAft>
                <a:spcPts val="300"/>
              </a:spcAft>
              <a:buSzPct val="100000"/>
              <a:buChar char="•"/>
            </a:pPr>
            <a:r>
              <a:rPr lang="en-US" sz="2000" b="1" dirty="0">
                <a:solidFill>
                  <a:srgbClr val="33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 a single override too</a:t>
            </a:r>
            <a:endParaRPr lang="en-US" sz="2000" dirty="0"/>
          </a:p>
          <a:p>
            <a:pPr marL="0" lvl="1" indent="0" algn="l">
              <a:buNone/>
            </a:pPr>
            <a:r>
              <a:rPr lang="en-US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override chain partway down.</a:t>
            </a:r>
            <a:endParaRPr lang="en-US" sz="2000" dirty="0"/>
          </a:p>
          <a:p>
            <a:pPr marL="203200" indent="-203200" algn="l">
              <a:spcBef>
                <a:spcPts val="800"/>
              </a:spcBef>
              <a:spcAft>
                <a:spcPts val="300"/>
              </a:spcAft>
              <a:buSzPct val="100000"/>
              <a:buChar char="•"/>
            </a:pPr>
            <a:r>
              <a:rPr lang="en-US" sz="2000" b="1" dirty="0">
                <a:solidFill>
                  <a:srgbClr val="33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to lock in behavior</a:t>
            </a:r>
            <a:endParaRPr lang="en-US" sz="2000" dirty="0"/>
          </a:p>
          <a:p>
            <a:pPr marL="0" lvl="1" indent="0" algn="l">
              <a:buNone/>
            </a:pPr>
            <a:r>
              <a:rPr lang="en-US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no one changes critical logic.</a:t>
            </a:r>
            <a:endParaRPr lang="en-US" sz="2000" dirty="0"/>
          </a:p>
          <a:p>
            <a:pPr marL="203200" indent="-203200" algn="l">
              <a:spcBef>
                <a:spcPts val="800"/>
              </a:spcBef>
              <a:spcAft>
                <a:spcPts val="300"/>
              </a:spcAft>
              <a:buSzPct val="100000"/>
              <a:buChar char="•"/>
            </a:pPr>
            <a:r>
              <a:rPr lang="en-US" sz="2000" b="1" dirty="0">
                <a:solidFill>
                  <a:srgbClr val="334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it sparingly</a:t>
            </a:r>
            <a:endParaRPr lang="en-US" sz="2000" dirty="0"/>
          </a:p>
          <a:p>
            <a:pPr marL="0" lvl="1" indent="0" algn="l">
              <a:buNone/>
            </a:pPr>
            <a:r>
              <a:rPr lang="en-US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 on purpose, not just by habit</a:t>
            </a:r>
            <a:r>
              <a:rPr lang="en-US" sz="12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532120" y="1737360"/>
            <a:ext cx="6080760" cy="4160520"/>
          </a:xfrm>
          <a:prstGeom prst="roundRect">
            <a:avLst>
              <a:gd name="adj" fmla="val 1758"/>
            </a:avLst>
          </a:prstGeom>
          <a:solidFill>
            <a:srgbClr val="FCFAF4"/>
          </a:solidFill>
          <a:ln w="12700">
            <a:solidFill>
              <a:srgbClr val="C0851C"/>
            </a:solidFill>
            <a:prstDash val="solid"/>
          </a:ln>
          <a:effectLst>
            <a:outerShdw blurRad="63500" dist="25400" dir="8100000" algn="bl" rotWithShape="0">
              <a:srgbClr val="8A827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733288" y="1920240"/>
            <a:ext cx="100584" cy="100584"/>
          </a:xfrm>
          <a:prstGeom prst="ellipse">
            <a:avLst/>
          </a:prstGeom>
          <a:solidFill>
            <a:srgbClr val="E8927C"/>
          </a:solidFill>
          <a:ln w="12700">
            <a:solidFill>
              <a:srgbClr val="E892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34456" y="1920240"/>
            <a:ext cx="100584" cy="1005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35624" y="1920240"/>
            <a:ext cx="100584" cy="100584"/>
          </a:xfrm>
          <a:prstGeom prst="ellipse">
            <a:avLst/>
          </a:prstGeom>
          <a:solidFill>
            <a:srgbClr val="9CB89B"/>
          </a:solidFill>
          <a:ln w="12700">
            <a:solidFill>
              <a:srgbClr val="9CB8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98480" y="1847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7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C#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824728" y="2194560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25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r>
              <a:rPr lang="en-US" sz="1300" dirty="0">
                <a:solidFill>
                  <a:srgbClr val="C08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sealed</a:t>
            </a:r>
            <a:r>
              <a:rPr lang="en-US" sz="1300" dirty="0">
                <a:solidFill>
                  <a:srgbClr val="C25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class </a:t>
            </a:r>
            <a:r>
              <a:rPr lang="en-US" sz="1300" dirty="0">
                <a:solidFill>
                  <a:srgbClr val="1F6F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24728" y="2462022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24728" y="2729484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</a:t>
            </a:r>
            <a:r>
              <a:rPr lang="en-US" sz="1300" dirty="0">
                <a:solidFill>
                  <a:srgbClr val="C08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(string msg)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24728" y="2996946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=&gt; Console.WriteLine(msg);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24728" y="3264408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24728" y="3531870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24728" y="3799332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80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Compile error: cannot derive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24728" y="4066794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80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from sealed type 'Logger'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24728" y="4334256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25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300" dirty="0">
                <a:solidFill>
                  <a:srgbClr val="1F6F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FileLogger</a:t>
            </a: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en-US" sz="1300" dirty="0">
                <a:solidFill>
                  <a:srgbClr val="1F6F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24728" y="4601718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   </a:t>
            </a:r>
            <a:r>
              <a:rPr lang="en-US" sz="1300" dirty="0">
                <a:solidFill>
                  <a:srgbClr val="C08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not allowed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24728" y="4869180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24728" y="5136642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80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You can also seal one override: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24728" y="5404104"/>
            <a:ext cx="5623560" cy="2674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r>
              <a:rPr lang="en-US" sz="1300" dirty="0">
                <a:solidFill>
                  <a:srgbClr val="C08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sealed</a:t>
            </a: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C08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</a:t>
            </a: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void </a:t>
            </a:r>
            <a:r>
              <a:rPr lang="en-US" sz="1300" dirty="0">
                <a:solidFill>
                  <a:srgbClr val="C08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</a:t>
            </a:r>
            <a:r>
              <a:rPr lang="en-US" sz="1300" dirty="0">
                <a:solidFill>
                  <a:srgbClr val="3340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 }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in C#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571232" y="62910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  •   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solidFill>
            <a:srgbClr val="F4F0E6">
              <a:alpha val="0"/>
            </a:srgbClr>
          </a:solidFill>
          <a:ln w="28575">
            <a:solidFill>
              <a:srgbClr val="D8C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4F0E6">
              <a:alpha val="0"/>
            </a:srgbClr>
          </a:solidFill>
          <a:ln w="9525">
            <a:solidFill>
              <a:srgbClr val="C085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50" dirty="0">
                <a:solidFill>
                  <a:srgbClr val="C08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IT WELL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33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Practices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3611880" cy="1783080"/>
          </a:xfrm>
          <a:prstGeom prst="roundRect">
            <a:avLst>
              <a:gd name="adj" fmla="val 3590"/>
            </a:avLst>
          </a:prstGeom>
          <a:solidFill>
            <a:srgbClr val="FCFAF4"/>
          </a:solidFill>
          <a:ln w="12700">
            <a:solidFill>
              <a:srgbClr val="C0851C"/>
            </a:solidFill>
            <a:prstDash val="solid"/>
          </a:ln>
          <a:effectLst>
            <a:outerShdw blurRad="63500" dist="25400" dir="8100000" algn="bl" rotWithShape="0">
              <a:srgbClr val="8A827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" y="19659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085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98424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33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Favor “is-a”, not “has-a”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 only when the child truly is a kind of the parent. A Car has an Engine — don't inherit 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783080"/>
            <a:ext cx="3611880" cy="1783080"/>
          </a:xfrm>
          <a:prstGeom prst="roundRect">
            <a:avLst>
              <a:gd name="adj" fmla="val 3590"/>
            </a:avLst>
          </a:prstGeom>
          <a:solidFill>
            <a:srgbClr val="FCFAF4"/>
          </a:solidFill>
          <a:ln w="12700">
            <a:solidFill>
              <a:srgbClr val="C0851C"/>
            </a:solidFill>
            <a:prstDash val="solid"/>
          </a:ln>
          <a:effectLst>
            <a:outerShdw blurRad="63500" dist="25400" dir="8100000" algn="bl" rotWithShape="0">
              <a:srgbClr val="8A827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36008" y="19659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085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48072" y="198424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33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Prefer composition over inheritance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90872" y="2560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small objects when sharing behavior; reach for inheritance only for real specialization.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2752" y="1783080"/>
            <a:ext cx="3611880" cy="1783080"/>
          </a:xfrm>
          <a:prstGeom prst="roundRect">
            <a:avLst>
              <a:gd name="adj" fmla="val 3590"/>
            </a:avLst>
          </a:prstGeom>
          <a:solidFill>
            <a:srgbClr val="FCFAF4"/>
          </a:solidFill>
          <a:ln w="12700">
            <a:solidFill>
              <a:srgbClr val="C0851C"/>
            </a:solidFill>
            <a:prstDash val="solid"/>
          </a:ln>
          <a:effectLst>
            <a:outerShdw blurRad="63500" dist="25400" dir="8100000" algn="bl" rotWithShape="0">
              <a:srgbClr val="8A827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03920" y="19659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085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015984" y="198424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33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Honor the Liskov principle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558784" y="2560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 must be usable anywhere its parent is, without surprising the caller.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840480"/>
            <a:ext cx="3611880" cy="1783080"/>
          </a:xfrm>
          <a:prstGeom prst="roundRect">
            <a:avLst>
              <a:gd name="adj" fmla="val 3590"/>
            </a:avLst>
          </a:prstGeom>
          <a:solidFill>
            <a:srgbClr val="FCFAF4"/>
          </a:solidFill>
          <a:ln w="12700">
            <a:solidFill>
              <a:srgbClr val="C0851C"/>
            </a:solidFill>
            <a:prstDash val="solid"/>
          </a:ln>
          <a:effectLst>
            <a:outerShdw blurRad="63500" dist="25400" dir="8100000" algn="bl" rotWithShape="0">
              <a:srgbClr val="8A827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68096" y="40233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085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80160" y="404164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33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hierarchies shallow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2960" y="46177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two levels is plenty — deep trees get rigid and hard to follow.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34840" y="3840480"/>
            <a:ext cx="3611880" cy="1783080"/>
          </a:xfrm>
          <a:prstGeom prst="roundRect">
            <a:avLst>
              <a:gd name="adj" fmla="val 3590"/>
            </a:avLst>
          </a:prstGeom>
          <a:solidFill>
            <a:srgbClr val="FCFAF4"/>
          </a:solidFill>
          <a:ln w="12700">
            <a:solidFill>
              <a:srgbClr val="C0851C"/>
            </a:solidFill>
            <a:prstDash val="solid"/>
          </a:ln>
          <a:effectLst>
            <a:outerShdw blurRad="63500" dist="25400" dir="8100000" algn="bl" rotWithShape="0">
              <a:srgbClr val="8A827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36008" y="40233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085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148072" y="404164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33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the base for extension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690872" y="46177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intended override points virtual and document what children may change.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302752" y="3840480"/>
            <a:ext cx="3611880" cy="1783080"/>
          </a:xfrm>
          <a:prstGeom prst="roundRect">
            <a:avLst>
              <a:gd name="adj" fmla="val 3590"/>
            </a:avLst>
          </a:prstGeom>
          <a:solidFill>
            <a:srgbClr val="FCFAF4"/>
          </a:solidFill>
          <a:ln w="12700">
            <a:solidFill>
              <a:srgbClr val="C0851C"/>
            </a:solidFill>
            <a:prstDash val="solid"/>
          </a:ln>
          <a:effectLst>
            <a:outerShdw blurRad="63500" dist="25400" dir="8100000" algn="bl" rotWithShape="0">
              <a:srgbClr val="8A827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503920" y="40233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085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015984" y="404164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33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Protect, don't expose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558784" y="46177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with protected; keep internal state private so children can't break it.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in C#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571232" y="62910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  •   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solidFill>
            <a:srgbClr val="F4F0E6">
              <a:alpha val="0"/>
            </a:srgbClr>
          </a:solidFill>
          <a:ln w="28575">
            <a:solidFill>
              <a:srgbClr val="D8C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4F0E6">
              <a:alpha val="0"/>
            </a:srgbClr>
          </a:solidFill>
          <a:ln w="9525">
            <a:solidFill>
              <a:srgbClr val="C085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50" dirty="0">
                <a:solidFill>
                  <a:srgbClr val="C08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33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Pitfalls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5349240" cy="1783080"/>
          </a:xfrm>
          <a:prstGeom prst="roundRect">
            <a:avLst>
              <a:gd name="adj" fmla="val 3590"/>
            </a:avLst>
          </a:prstGeom>
          <a:solidFill>
            <a:srgbClr val="FCFAF4"/>
          </a:solidFill>
          <a:ln w="15875">
            <a:solidFill>
              <a:srgbClr val="C25430"/>
            </a:solidFill>
            <a:prstDash val="solid"/>
          </a:ln>
          <a:effectLst>
            <a:outerShdw blurRad="63500" dist="25400" dir="8100000" algn="bl" rotWithShape="0">
              <a:srgbClr val="8A827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86384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25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16736" y="208483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33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Inheriting for code reuse alone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59536" y="267004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isn't a true “is-a”, you'll inherit members that make no sense. Compose instead.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90488" y="1828800"/>
            <a:ext cx="5349240" cy="1783080"/>
          </a:xfrm>
          <a:prstGeom prst="roundRect">
            <a:avLst>
              <a:gd name="adj" fmla="val 3590"/>
            </a:avLst>
          </a:prstGeom>
          <a:solidFill>
            <a:srgbClr val="FCFAF4"/>
          </a:solidFill>
          <a:ln w="15875">
            <a:solidFill>
              <a:srgbClr val="C25430"/>
            </a:solidFill>
            <a:prstDash val="solid"/>
          </a:ln>
          <a:effectLst>
            <a:outerShdw blurRad="63500" dist="25400" dir="8100000" algn="bl" rotWithShape="0">
              <a:srgbClr val="8A827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9944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25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940296" y="208483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33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Deep, tangled hierarchies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83096" y="267004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levels make changes ripple unpredictably and behavior hard to trace.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904488"/>
            <a:ext cx="5349240" cy="1783080"/>
          </a:xfrm>
          <a:prstGeom prst="roundRect">
            <a:avLst>
              <a:gd name="adj" fmla="val 3590"/>
            </a:avLst>
          </a:prstGeom>
          <a:solidFill>
            <a:srgbClr val="FCFAF4"/>
          </a:solidFill>
          <a:ln w="15875">
            <a:solidFill>
              <a:srgbClr val="C25430"/>
            </a:solidFill>
            <a:prstDash val="solid"/>
          </a:ln>
          <a:effectLst>
            <a:outerShdw blurRad="63500" dist="25400" dir="8100000" algn="bl" rotWithShape="0">
              <a:srgbClr val="8A827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6384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25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16736" y="41605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33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fragile base class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59536" y="4745736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tweak in the parent silently breaks distant children that relied on the old behavior.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90488" y="3904488"/>
            <a:ext cx="5349240" cy="1783080"/>
          </a:xfrm>
          <a:prstGeom prst="roundRect">
            <a:avLst>
              <a:gd name="adj" fmla="val 3590"/>
            </a:avLst>
          </a:prstGeom>
          <a:solidFill>
            <a:srgbClr val="FCFAF4"/>
          </a:solidFill>
          <a:ln w="15875">
            <a:solidFill>
              <a:srgbClr val="C25430"/>
            </a:solidFill>
            <a:prstDash val="solid"/>
          </a:ln>
          <a:effectLst>
            <a:outerShdw blurRad="63500" dist="25400" dir="8100000" algn="bl" rotWithShape="0">
              <a:srgbClr val="8A827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9944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25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940296" y="41605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33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Hiding vs. overriding (new)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483096" y="4745736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new instead of override hides a method — the base reference calls the wrong one.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in C#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571232" y="62910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   •   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solidFill>
            <a:srgbClr val="F4F0E6">
              <a:alpha val="0"/>
            </a:srgbClr>
          </a:solidFill>
          <a:ln w="28575">
            <a:solidFill>
              <a:srgbClr val="D8C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4F0E6">
              <a:alpha val="0"/>
            </a:srgbClr>
          </a:solidFill>
          <a:ln w="9525">
            <a:solidFill>
              <a:srgbClr val="C085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08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" y="11704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Inheritance, in a Nutshell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68680" y="2276856"/>
            <a:ext cx="384048" cy="384048"/>
          </a:xfrm>
          <a:prstGeom prst="ellipse">
            <a:avLst/>
          </a:prstGeom>
          <a:solidFill>
            <a:srgbClr val="C0851C"/>
          </a:solidFill>
          <a:ln w="12700">
            <a:solidFill>
              <a:srgbClr val="C085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0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221992"/>
            <a:ext cx="101498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33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Inheritance models “is-a”   </a:t>
            </a:r>
            <a:r>
              <a:rPr lang="en-US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when a child truly is a kind of its parent — reuse and extend shared behavior.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868680" y="3063240"/>
            <a:ext cx="384048" cy="384048"/>
          </a:xfrm>
          <a:prstGeom prst="ellipse">
            <a:avLst/>
          </a:prstGeom>
          <a:solidFill>
            <a:srgbClr val="C0851C"/>
          </a:solidFill>
          <a:ln w="12700">
            <a:solidFill>
              <a:srgbClr val="C085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0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3008376"/>
            <a:ext cx="101498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33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Polymorphism is the payoff   </a:t>
            </a:r>
            <a:r>
              <a:rPr lang="en-US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+ override let one call behave correctly for every concrete type</a:t>
            </a:r>
            <a:r>
              <a:rPr lang="en-US" sz="135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68680" y="3849624"/>
            <a:ext cx="384048" cy="384048"/>
          </a:xfrm>
          <a:prstGeom prst="ellipse">
            <a:avLst/>
          </a:prstGeom>
          <a:solidFill>
            <a:srgbClr val="C0851C"/>
          </a:solidFill>
          <a:ln w="12700">
            <a:solidFill>
              <a:srgbClr val="C085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0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3794760"/>
            <a:ext cx="101498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33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the contract   </a:t>
            </a:r>
            <a:r>
              <a:rPr lang="en-US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defines what must exist; sealed locks down what must not change</a:t>
            </a:r>
            <a:r>
              <a:rPr lang="en-US" sz="135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68680" y="4636008"/>
            <a:ext cx="384048" cy="384048"/>
          </a:xfrm>
          <a:prstGeom prst="ellipse">
            <a:avLst/>
          </a:prstGeom>
          <a:solidFill>
            <a:srgbClr val="C0851C"/>
          </a:solidFill>
          <a:ln w="12700">
            <a:solidFill>
              <a:srgbClr val="C085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4636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0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581144"/>
            <a:ext cx="101498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33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protected wisely   </a:t>
            </a:r>
            <a:r>
              <a:rPr lang="en-US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with children, hide from outsiders, keep private state truly private</a:t>
            </a:r>
            <a:r>
              <a:rPr lang="en-US" sz="135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868680" y="5422392"/>
            <a:ext cx="384048" cy="384048"/>
          </a:xfrm>
          <a:prstGeom prst="ellipse">
            <a:avLst/>
          </a:prstGeom>
          <a:solidFill>
            <a:srgbClr val="C0851C"/>
          </a:solidFill>
          <a:ln w="12700">
            <a:solidFill>
              <a:srgbClr val="C085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5422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0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5367528"/>
            <a:ext cx="101498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33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it shallow and honest   </a:t>
            </a:r>
            <a:r>
              <a:rPr lang="en-US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 composition; reach for inheritance only for genuine specialization</a:t>
            </a:r>
            <a:r>
              <a:rPr lang="en-US" sz="135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50292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in C#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571232" y="62910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1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  •   11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1281</Words>
  <Application>Microsoft Office PowerPoint</Application>
  <PresentationFormat>Widescreen</PresentationFormat>
  <Paragraphs>232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Daniela Trapani</dc:creator>
  <cp:lastModifiedBy>Daniela Trapani</cp:lastModifiedBy>
  <cp:revision>1</cp:revision>
  <dcterms:created xsi:type="dcterms:W3CDTF">2026-06-19T22:48:29Z</dcterms:created>
  <dcterms:modified xsi:type="dcterms:W3CDTF">2026-06-19T23:29:14Z</dcterms:modified>
</cp:coreProperties>
</file>