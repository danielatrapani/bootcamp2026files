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92" r:id="rId3"/>
    <p:sldId id="293" r:id="rId4"/>
    <p:sldId id="294" r:id="rId5"/>
    <p:sldId id="295" r:id="rId6"/>
    <p:sldId id="296" r:id="rId7"/>
    <p:sldId id="297" r:id="rId8"/>
    <p:sldId id="274" r:id="rId9"/>
    <p:sldId id="275" r:id="rId10"/>
    <p:sldId id="276" r:id="rId11"/>
    <p:sldId id="277" r:id="rId12"/>
    <p:sldId id="278" r:id="rId13"/>
    <p:sldId id="279" r:id="rId14"/>
    <p:sldId id="280" r:id="rId15"/>
    <p:sldId id="281" r:id="rId16"/>
    <p:sldId id="282" r:id="rId17"/>
    <p:sldId id="283" r:id="rId18"/>
    <p:sldId id="284" r:id="rId19"/>
    <p:sldId id="285" r:id="rId20"/>
    <p:sldId id="286" r:id="rId21"/>
    <p:sldId id="287" r:id="rId22"/>
    <p:sldId id="288" r:id="rId23"/>
    <p:sldId id="289" r:id="rId24"/>
    <p:sldId id="290" r:id="rId25"/>
    <p:sldId id="29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6677" autoAdjust="0"/>
    <p:restoredTop sz="94660"/>
  </p:normalViewPr>
  <p:slideViewPr>
    <p:cSldViewPr snapToGrid="0">
      <p:cViewPr>
        <p:scale>
          <a:sx n="150" d="100"/>
          <a:sy n="150" d="100"/>
        </p:scale>
        <p:origin x="-768" y="-103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a Trapani" userId="30b41bef89cfceee" providerId="LiveId" clId="{ADEB5723-9D39-45AE-898F-3FDA33EC1B39}"/>
    <pc:docChg chg="undo custSel modSld">
      <pc:chgData name="Daniela Trapani" userId="30b41bef89cfceee" providerId="LiveId" clId="{ADEB5723-9D39-45AE-898F-3FDA33EC1B39}" dt="2026-06-16T13:37:03.652" v="76" actId="1036"/>
      <pc:docMkLst>
        <pc:docMk/>
      </pc:docMkLst>
      <pc:sldChg chg="delSp modSp mod">
        <pc:chgData name="Daniela Trapani" userId="30b41bef89cfceee" providerId="LiveId" clId="{ADEB5723-9D39-45AE-898F-3FDA33EC1B39}" dt="2026-06-15T22:48:47.752" v="8" actId="478"/>
        <pc:sldMkLst>
          <pc:docMk/>
          <pc:sldMk cId="0" sldId="274"/>
        </pc:sldMkLst>
        <pc:spChg chg="del mod">
          <ac:chgData name="Daniela Trapani" userId="30b41bef89cfceee" providerId="LiveId" clId="{ADEB5723-9D39-45AE-898F-3FDA33EC1B39}" dt="2026-06-15T22:48:47.752" v="8" actId="478"/>
          <ac:spMkLst>
            <pc:docMk/>
            <pc:sldMk cId="0" sldId="274"/>
            <ac:spMk id="23" creationId="{00000000-0000-0000-0000-000000000000}"/>
          </ac:spMkLst>
        </pc:spChg>
      </pc:sldChg>
      <pc:sldChg chg="delSp mod">
        <pc:chgData name="Daniela Trapani" userId="30b41bef89cfceee" providerId="LiveId" clId="{ADEB5723-9D39-45AE-898F-3FDA33EC1B39}" dt="2026-06-15T22:48:50.777" v="9" actId="478"/>
        <pc:sldMkLst>
          <pc:docMk/>
          <pc:sldMk cId="0" sldId="275"/>
        </pc:sldMkLst>
        <pc:spChg chg="del">
          <ac:chgData name="Daniela Trapani" userId="30b41bef89cfceee" providerId="LiveId" clId="{ADEB5723-9D39-45AE-898F-3FDA33EC1B39}" dt="2026-06-15T22:48:50.777" v="9" actId="478"/>
          <ac:spMkLst>
            <pc:docMk/>
            <pc:sldMk cId="0" sldId="275"/>
            <ac:spMk id="15" creationId="{00000000-0000-0000-0000-000000000000}"/>
          </ac:spMkLst>
        </pc:spChg>
      </pc:sldChg>
      <pc:sldChg chg="delSp modSp mod">
        <pc:chgData name="Daniela Trapani" userId="30b41bef89cfceee" providerId="LiveId" clId="{ADEB5723-9D39-45AE-898F-3FDA33EC1B39}" dt="2026-06-16T13:21:09.119" v="36" actId="20577"/>
        <pc:sldMkLst>
          <pc:docMk/>
          <pc:sldMk cId="0" sldId="276"/>
        </pc:sldMkLst>
        <pc:spChg chg="mod">
          <ac:chgData name="Daniela Trapani" userId="30b41bef89cfceee" providerId="LiveId" clId="{ADEB5723-9D39-45AE-898F-3FDA33EC1B39}" dt="2026-06-16T13:21:09.119" v="36" actId="20577"/>
          <ac:spMkLst>
            <pc:docMk/>
            <pc:sldMk cId="0" sldId="276"/>
            <ac:spMk id="8" creationId="{00000000-0000-0000-0000-000000000000}"/>
          </ac:spMkLst>
        </pc:spChg>
        <pc:spChg chg="del">
          <ac:chgData name="Daniela Trapani" userId="30b41bef89cfceee" providerId="LiveId" clId="{ADEB5723-9D39-45AE-898F-3FDA33EC1B39}" dt="2026-06-15T22:48:54.288" v="10" actId="478"/>
          <ac:spMkLst>
            <pc:docMk/>
            <pc:sldMk cId="0" sldId="276"/>
            <ac:spMk id="23" creationId="{00000000-0000-0000-0000-000000000000}"/>
          </ac:spMkLst>
        </pc:spChg>
      </pc:sldChg>
      <pc:sldChg chg="delSp mod">
        <pc:chgData name="Daniela Trapani" userId="30b41bef89cfceee" providerId="LiveId" clId="{ADEB5723-9D39-45AE-898F-3FDA33EC1B39}" dt="2026-06-15T22:48:56.980" v="11" actId="478"/>
        <pc:sldMkLst>
          <pc:docMk/>
          <pc:sldMk cId="0" sldId="277"/>
        </pc:sldMkLst>
        <pc:spChg chg="del">
          <ac:chgData name="Daniela Trapani" userId="30b41bef89cfceee" providerId="LiveId" clId="{ADEB5723-9D39-45AE-898F-3FDA33EC1B39}" dt="2026-06-15T22:48:56.980" v="11" actId="478"/>
          <ac:spMkLst>
            <pc:docMk/>
            <pc:sldMk cId="0" sldId="277"/>
            <ac:spMk id="15" creationId="{00000000-0000-0000-0000-000000000000}"/>
          </ac:spMkLst>
        </pc:spChg>
      </pc:sldChg>
      <pc:sldChg chg="delSp mod">
        <pc:chgData name="Daniela Trapani" userId="30b41bef89cfceee" providerId="LiveId" clId="{ADEB5723-9D39-45AE-898F-3FDA33EC1B39}" dt="2026-06-15T22:48:59.515" v="12" actId="478"/>
        <pc:sldMkLst>
          <pc:docMk/>
          <pc:sldMk cId="0" sldId="278"/>
        </pc:sldMkLst>
        <pc:spChg chg="del">
          <ac:chgData name="Daniela Trapani" userId="30b41bef89cfceee" providerId="LiveId" clId="{ADEB5723-9D39-45AE-898F-3FDA33EC1B39}" dt="2026-06-15T22:48:59.515" v="12" actId="478"/>
          <ac:spMkLst>
            <pc:docMk/>
            <pc:sldMk cId="0" sldId="278"/>
            <ac:spMk id="23" creationId="{00000000-0000-0000-0000-000000000000}"/>
          </ac:spMkLst>
        </pc:spChg>
      </pc:sldChg>
      <pc:sldChg chg="delSp mod">
        <pc:chgData name="Daniela Trapani" userId="30b41bef89cfceee" providerId="LiveId" clId="{ADEB5723-9D39-45AE-898F-3FDA33EC1B39}" dt="2026-06-15T22:49:02.733" v="13" actId="478"/>
        <pc:sldMkLst>
          <pc:docMk/>
          <pc:sldMk cId="0" sldId="279"/>
        </pc:sldMkLst>
        <pc:spChg chg="del">
          <ac:chgData name="Daniela Trapani" userId="30b41bef89cfceee" providerId="LiveId" clId="{ADEB5723-9D39-45AE-898F-3FDA33EC1B39}" dt="2026-06-15T22:49:02.733" v="13" actId="478"/>
          <ac:spMkLst>
            <pc:docMk/>
            <pc:sldMk cId="0" sldId="279"/>
            <ac:spMk id="15" creationId="{00000000-0000-0000-0000-000000000000}"/>
          </ac:spMkLst>
        </pc:spChg>
      </pc:sldChg>
      <pc:sldChg chg="delSp mod">
        <pc:chgData name="Daniela Trapani" userId="30b41bef89cfceee" providerId="LiveId" clId="{ADEB5723-9D39-45AE-898F-3FDA33EC1B39}" dt="2026-06-15T22:49:06.894" v="14" actId="478"/>
        <pc:sldMkLst>
          <pc:docMk/>
          <pc:sldMk cId="0" sldId="280"/>
        </pc:sldMkLst>
        <pc:spChg chg="del">
          <ac:chgData name="Daniela Trapani" userId="30b41bef89cfceee" providerId="LiveId" clId="{ADEB5723-9D39-45AE-898F-3FDA33EC1B39}" dt="2026-06-15T22:49:06.894" v="14" actId="478"/>
          <ac:spMkLst>
            <pc:docMk/>
            <pc:sldMk cId="0" sldId="280"/>
            <ac:spMk id="23" creationId="{00000000-0000-0000-0000-000000000000}"/>
          </ac:spMkLst>
        </pc:spChg>
      </pc:sldChg>
      <pc:sldChg chg="delSp mod">
        <pc:chgData name="Daniela Trapani" userId="30b41bef89cfceee" providerId="LiveId" clId="{ADEB5723-9D39-45AE-898F-3FDA33EC1B39}" dt="2026-06-15T22:49:09.005" v="15" actId="478"/>
        <pc:sldMkLst>
          <pc:docMk/>
          <pc:sldMk cId="0" sldId="281"/>
        </pc:sldMkLst>
        <pc:spChg chg="del">
          <ac:chgData name="Daniela Trapani" userId="30b41bef89cfceee" providerId="LiveId" clId="{ADEB5723-9D39-45AE-898F-3FDA33EC1B39}" dt="2026-06-15T22:49:09.005" v="15" actId="478"/>
          <ac:spMkLst>
            <pc:docMk/>
            <pc:sldMk cId="0" sldId="281"/>
            <ac:spMk id="15" creationId="{00000000-0000-0000-0000-000000000000}"/>
          </ac:spMkLst>
        </pc:spChg>
      </pc:sldChg>
      <pc:sldChg chg="delSp mod">
        <pc:chgData name="Daniela Trapani" userId="30b41bef89cfceee" providerId="LiveId" clId="{ADEB5723-9D39-45AE-898F-3FDA33EC1B39}" dt="2026-06-15T22:49:11.562" v="16" actId="478"/>
        <pc:sldMkLst>
          <pc:docMk/>
          <pc:sldMk cId="0" sldId="282"/>
        </pc:sldMkLst>
        <pc:spChg chg="del">
          <ac:chgData name="Daniela Trapani" userId="30b41bef89cfceee" providerId="LiveId" clId="{ADEB5723-9D39-45AE-898F-3FDA33EC1B39}" dt="2026-06-15T22:49:11.562" v="16" actId="478"/>
          <ac:spMkLst>
            <pc:docMk/>
            <pc:sldMk cId="0" sldId="282"/>
            <ac:spMk id="23" creationId="{00000000-0000-0000-0000-000000000000}"/>
          </ac:spMkLst>
        </pc:spChg>
      </pc:sldChg>
      <pc:sldChg chg="delSp mod">
        <pc:chgData name="Daniela Trapani" userId="30b41bef89cfceee" providerId="LiveId" clId="{ADEB5723-9D39-45AE-898F-3FDA33EC1B39}" dt="2026-06-15T22:49:15.202" v="17" actId="478"/>
        <pc:sldMkLst>
          <pc:docMk/>
          <pc:sldMk cId="0" sldId="283"/>
        </pc:sldMkLst>
        <pc:spChg chg="del">
          <ac:chgData name="Daniela Trapani" userId="30b41bef89cfceee" providerId="LiveId" clId="{ADEB5723-9D39-45AE-898F-3FDA33EC1B39}" dt="2026-06-15T22:49:15.202" v="17" actId="478"/>
          <ac:spMkLst>
            <pc:docMk/>
            <pc:sldMk cId="0" sldId="283"/>
            <ac:spMk id="15" creationId="{00000000-0000-0000-0000-000000000000}"/>
          </ac:spMkLst>
        </pc:spChg>
      </pc:sldChg>
      <pc:sldChg chg="delSp mod">
        <pc:chgData name="Daniela Trapani" userId="30b41bef89cfceee" providerId="LiveId" clId="{ADEB5723-9D39-45AE-898F-3FDA33EC1B39}" dt="2026-06-15T22:49:17.419" v="18" actId="478"/>
        <pc:sldMkLst>
          <pc:docMk/>
          <pc:sldMk cId="0" sldId="284"/>
        </pc:sldMkLst>
        <pc:spChg chg="del">
          <ac:chgData name="Daniela Trapani" userId="30b41bef89cfceee" providerId="LiveId" clId="{ADEB5723-9D39-45AE-898F-3FDA33EC1B39}" dt="2026-06-15T22:49:17.419" v="18" actId="478"/>
          <ac:spMkLst>
            <pc:docMk/>
            <pc:sldMk cId="0" sldId="284"/>
            <ac:spMk id="23" creationId="{00000000-0000-0000-0000-000000000000}"/>
          </ac:spMkLst>
        </pc:spChg>
      </pc:sldChg>
      <pc:sldChg chg="delSp mod">
        <pc:chgData name="Daniela Trapani" userId="30b41bef89cfceee" providerId="LiveId" clId="{ADEB5723-9D39-45AE-898F-3FDA33EC1B39}" dt="2026-06-15T22:49:20.055" v="19" actId="478"/>
        <pc:sldMkLst>
          <pc:docMk/>
          <pc:sldMk cId="0" sldId="285"/>
        </pc:sldMkLst>
        <pc:spChg chg="del">
          <ac:chgData name="Daniela Trapani" userId="30b41bef89cfceee" providerId="LiveId" clId="{ADEB5723-9D39-45AE-898F-3FDA33EC1B39}" dt="2026-06-15T22:49:20.055" v="19" actId="478"/>
          <ac:spMkLst>
            <pc:docMk/>
            <pc:sldMk cId="0" sldId="285"/>
            <ac:spMk id="15" creationId="{00000000-0000-0000-0000-000000000000}"/>
          </ac:spMkLst>
        </pc:spChg>
      </pc:sldChg>
      <pc:sldChg chg="delSp modSp mod">
        <pc:chgData name="Daniela Trapani" userId="30b41bef89cfceee" providerId="LiveId" clId="{ADEB5723-9D39-45AE-898F-3FDA33EC1B39}" dt="2026-06-16T13:37:03.652" v="76" actId="1036"/>
        <pc:sldMkLst>
          <pc:docMk/>
          <pc:sldMk cId="0" sldId="286"/>
        </pc:sldMkLst>
        <pc:spChg chg="mod">
          <ac:chgData name="Daniela Trapani" userId="30b41bef89cfceee" providerId="LiveId" clId="{ADEB5723-9D39-45AE-898F-3FDA33EC1B39}" dt="2026-06-16T13:35:09.047" v="74" actId="20577"/>
          <ac:spMkLst>
            <pc:docMk/>
            <pc:sldMk cId="0" sldId="286"/>
            <ac:spMk id="8" creationId="{00000000-0000-0000-0000-000000000000}"/>
          </ac:spMkLst>
        </pc:spChg>
        <pc:spChg chg="mod">
          <ac:chgData name="Daniela Trapani" userId="30b41bef89cfceee" providerId="LiveId" clId="{ADEB5723-9D39-45AE-898F-3FDA33EC1B39}" dt="2026-06-16T13:37:03.652" v="76" actId="1036"/>
          <ac:spMkLst>
            <pc:docMk/>
            <pc:sldMk cId="0" sldId="286"/>
            <ac:spMk id="20" creationId="{00000000-0000-0000-0000-000000000000}"/>
          </ac:spMkLst>
        </pc:spChg>
        <pc:spChg chg="del">
          <ac:chgData name="Daniela Trapani" userId="30b41bef89cfceee" providerId="LiveId" clId="{ADEB5723-9D39-45AE-898F-3FDA33EC1B39}" dt="2026-06-15T22:49:23.156" v="20" actId="478"/>
          <ac:spMkLst>
            <pc:docMk/>
            <pc:sldMk cId="0" sldId="286"/>
            <ac:spMk id="23" creationId="{00000000-0000-0000-0000-000000000000}"/>
          </ac:spMkLst>
        </pc:spChg>
      </pc:sldChg>
      <pc:sldChg chg="delSp mod">
        <pc:chgData name="Daniela Trapani" userId="30b41bef89cfceee" providerId="LiveId" clId="{ADEB5723-9D39-45AE-898F-3FDA33EC1B39}" dt="2026-06-15T22:49:25.761" v="21" actId="478"/>
        <pc:sldMkLst>
          <pc:docMk/>
          <pc:sldMk cId="0" sldId="287"/>
        </pc:sldMkLst>
        <pc:spChg chg="del">
          <ac:chgData name="Daniela Trapani" userId="30b41bef89cfceee" providerId="LiveId" clId="{ADEB5723-9D39-45AE-898F-3FDA33EC1B39}" dt="2026-06-15T22:49:25.761" v="21" actId="478"/>
          <ac:spMkLst>
            <pc:docMk/>
            <pc:sldMk cId="0" sldId="287"/>
            <ac:spMk id="15" creationId="{00000000-0000-0000-0000-000000000000}"/>
          </ac:spMkLst>
        </pc:spChg>
      </pc:sldChg>
      <pc:sldChg chg="delSp mod">
        <pc:chgData name="Daniela Trapani" userId="30b41bef89cfceee" providerId="LiveId" clId="{ADEB5723-9D39-45AE-898F-3FDA33EC1B39}" dt="2026-06-15T22:49:28.846" v="22" actId="478"/>
        <pc:sldMkLst>
          <pc:docMk/>
          <pc:sldMk cId="0" sldId="288"/>
        </pc:sldMkLst>
        <pc:spChg chg="del">
          <ac:chgData name="Daniela Trapani" userId="30b41bef89cfceee" providerId="LiveId" clId="{ADEB5723-9D39-45AE-898F-3FDA33EC1B39}" dt="2026-06-15T22:49:28.846" v="22" actId="478"/>
          <ac:spMkLst>
            <pc:docMk/>
            <pc:sldMk cId="0" sldId="288"/>
            <ac:spMk id="23" creationId="{00000000-0000-0000-0000-000000000000}"/>
          </ac:spMkLst>
        </pc:spChg>
      </pc:sldChg>
      <pc:sldChg chg="delSp mod">
        <pc:chgData name="Daniela Trapani" userId="30b41bef89cfceee" providerId="LiveId" clId="{ADEB5723-9D39-45AE-898F-3FDA33EC1B39}" dt="2026-06-15T22:49:32.172" v="23" actId="478"/>
        <pc:sldMkLst>
          <pc:docMk/>
          <pc:sldMk cId="0" sldId="289"/>
        </pc:sldMkLst>
        <pc:spChg chg="del">
          <ac:chgData name="Daniela Trapani" userId="30b41bef89cfceee" providerId="LiveId" clId="{ADEB5723-9D39-45AE-898F-3FDA33EC1B39}" dt="2026-06-15T22:49:32.172" v="23" actId="478"/>
          <ac:spMkLst>
            <pc:docMk/>
            <pc:sldMk cId="0" sldId="289"/>
            <ac:spMk id="15" creationId="{00000000-0000-0000-0000-000000000000}"/>
          </ac:spMkLst>
        </pc:spChg>
      </pc:sldChg>
      <pc:sldChg chg="delSp mod">
        <pc:chgData name="Daniela Trapani" userId="30b41bef89cfceee" providerId="LiveId" clId="{ADEB5723-9D39-45AE-898F-3FDA33EC1B39}" dt="2026-06-15T22:49:35.801" v="24" actId="478"/>
        <pc:sldMkLst>
          <pc:docMk/>
          <pc:sldMk cId="0" sldId="290"/>
        </pc:sldMkLst>
        <pc:spChg chg="del">
          <ac:chgData name="Daniela Trapani" userId="30b41bef89cfceee" providerId="LiveId" clId="{ADEB5723-9D39-45AE-898F-3FDA33EC1B39}" dt="2026-06-15T22:49:35.801" v="24" actId="478"/>
          <ac:spMkLst>
            <pc:docMk/>
            <pc:sldMk cId="0" sldId="290"/>
            <ac:spMk id="23" creationId="{00000000-0000-0000-0000-000000000000}"/>
          </ac:spMkLst>
        </pc:spChg>
      </pc:sldChg>
      <pc:sldChg chg="delSp mod">
        <pc:chgData name="Daniela Trapani" userId="30b41bef89cfceee" providerId="LiveId" clId="{ADEB5723-9D39-45AE-898F-3FDA33EC1B39}" dt="2026-06-15T22:49:38.677" v="25" actId="478"/>
        <pc:sldMkLst>
          <pc:docMk/>
          <pc:sldMk cId="0" sldId="291"/>
        </pc:sldMkLst>
        <pc:spChg chg="del">
          <ac:chgData name="Daniela Trapani" userId="30b41bef89cfceee" providerId="LiveId" clId="{ADEB5723-9D39-45AE-898F-3FDA33EC1B39}" dt="2026-06-15T22:49:38.677" v="25" actId="478"/>
          <ac:spMkLst>
            <pc:docMk/>
            <pc:sldMk cId="0" sldId="291"/>
            <ac:spMk id="15" creationId="{00000000-0000-0000-0000-000000000000}"/>
          </ac:spMkLst>
        </pc:spChg>
      </pc:sldChg>
      <pc:sldChg chg="delSp modSp mod">
        <pc:chgData name="Daniela Trapani" userId="30b41bef89cfceee" providerId="LiveId" clId="{ADEB5723-9D39-45AE-898F-3FDA33EC1B39}" dt="2026-06-16T13:13:14.243" v="31" actId="20577"/>
        <pc:sldMkLst>
          <pc:docMk/>
          <pc:sldMk cId="0" sldId="292"/>
        </pc:sldMkLst>
        <pc:spChg chg="mod">
          <ac:chgData name="Daniela Trapani" userId="30b41bef89cfceee" providerId="LiveId" clId="{ADEB5723-9D39-45AE-898F-3FDA33EC1B39}" dt="2026-06-16T13:13:14.243" v="31" actId="20577"/>
          <ac:spMkLst>
            <pc:docMk/>
            <pc:sldMk cId="0" sldId="292"/>
            <ac:spMk id="10" creationId="{00000000-0000-0000-0000-000000000000}"/>
          </ac:spMkLst>
        </pc:spChg>
        <pc:spChg chg="del">
          <ac:chgData name="Daniela Trapani" userId="30b41bef89cfceee" providerId="LiveId" clId="{ADEB5723-9D39-45AE-898F-3FDA33EC1B39}" dt="2026-06-15T22:48:35.427" v="5" actId="478"/>
          <ac:spMkLst>
            <pc:docMk/>
            <pc:sldMk cId="0" sldId="292"/>
            <ac:spMk id="13" creationId="{00000000-0000-0000-0000-000000000000}"/>
          </ac:spMkLst>
        </pc:spChg>
      </pc:sldChg>
      <pc:sldChg chg="delSp mod">
        <pc:chgData name="Daniela Trapani" userId="30b41bef89cfceee" providerId="LiveId" clId="{ADEB5723-9D39-45AE-898F-3FDA33EC1B39}" dt="2026-06-15T22:48:38.820" v="6" actId="478"/>
        <pc:sldMkLst>
          <pc:docMk/>
          <pc:sldMk cId="0" sldId="293"/>
        </pc:sldMkLst>
        <pc:spChg chg="del">
          <ac:chgData name="Daniela Trapani" userId="30b41bef89cfceee" providerId="LiveId" clId="{ADEB5723-9D39-45AE-898F-3FDA33EC1B39}" dt="2026-06-15T22:48:38.820" v="6" actId="478"/>
          <ac:spMkLst>
            <pc:docMk/>
            <pc:sldMk cId="0" sldId="293"/>
            <ac:spMk id="15" creationId="{00000000-0000-0000-0000-000000000000}"/>
          </ac:spMkLst>
        </pc:spChg>
      </pc:sldChg>
      <pc:sldChg chg="delSp mod">
        <pc:chgData name="Daniela Trapani" userId="30b41bef89cfceee" providerId="LiveId" clId="{ADEB5723-9D39-45AE-898F-3FDA33EC1B39}" dt="2026-06-15T22:48:31.536" v="4" actId="478"/>
        <pc:sldMkLst>
          <pc:docMk/>
          <pc:sldMk cId="0" sldId="294"/>
        </pc:sldMkLst>
        <pc:spChg chg="del">
          <ac:chgData name="Daniela Trapani" userId="30b41bef89cfceee" providerId="LiveId" clId="{ADEB5723-9D39-45AE-898F-3FDA33EC1B39}" dt="2026-06-15T22:48:31.536" v="4" actId="478"/>
          <ac:spMkLst>
            <pc:docMk/>
            <pc:sldMk cId="0" sldId="294"/>
            <ac:spMk id="11" creationId="{00000000-0000-0000-0000-000000000000}"/>
          </ac:spMkLst>
        </pc:spChg>
      </pc:sldChg>
      <pc:sldChg chg="delSp mod">
        <pc:chgData name="Daniela Trapani" userId="30b41bef89cfceee" providerId="LiveId" clId="{ADEB5723-9D39-45AE-898F-3FDA33EC1B39}" dt="2026-06-15T22:48:28.417" v="3" actId="478"/>
        <pc:sldMkLst>
          <pc:docMk/>
          <pc:sldMk cId="0" sldId="295"/>
        </pc:sldMkLst>
        <pc:spChg chg="del">
          <ac:chgData name="Daniela Trapani" userId="30b41bef89cfceee" providerId="LiveId" clId="{ADEB5723-9D39-45AE-898F-3FDA33EC1B39}" dt="2026-06-15T22:48:28.417" v="3" actId="478"/>
          <ac:spMkLst>
            <pc:docMk/>
            <pc:sldMk cId="0" sldId="295"/>
            <ac:spMk id="15" creationId="{00000000-0000-0000-0000-000000000000}"/>
          </ac:spMkLst>
        </pc:spChg>
      </pc:sldChg>
      <pc:sldChg chg="delSp modSp mod">
        <pc:chgData name="Daniela Trapani" userId="30b41bef89cfceee" providerId="LiveId" clId="{ADEB5723-9D39-45AE-898F-3FDA33EC1B39}" dt="2026-06-15T22:48:23.375" v="2" actId="478"/>
        <pc:sldMkLst>
          <pc:docMk/>
          <pc:sldMk cId="0" sldId="296"/>
        </pc:sldMkLst>
        <pc:spChg chg="del mod">
          <ac:chgData name="Daniela Trapani" userId="30b41bef89cfceee" providerId="LiveId" clId="{ADEB5723-9D39-45AE-898F-3FDA33EC1B39}" dt="2026-06-15T22:48:23.375" v="2" actId="478"/>
          <ac:spMkLst>
            <pc:docMk/>
            <pc:sldMk cId="0" sldId="296"/>
            <ac:spMk id="13" creationId="{00000000-0000-0000-0000-000000000000}"/>
          </ac:spMkLst>
        </pc:spChg>
      </pc:sldChg>
      <pc:sldChg chg="delSp mod">
        <pc:chgData name="Daniela Trapani" userId="30b41bef89cfceee" providerId="LiveId" clId="{ADEB5723-9D39-45AE-898F-3FDA33EC1B39}" dt="2026-06-15T22:48:18.236" v="0" actId="478"/>
        <pc:sldMkLst>
          <pc:docMk/>
          <pc:sldMk cId="0" sldId="297"/>
        </pc:sldMkLst>
        <pc:spChg chg="del">
          <ac:chgData name="Daniela Trapani" userId="30b41bef89cfceee" providerId="LiveId" clId="{ADEB5723-9D39-45AE-898F-3FDA33EC1B39}" dt="2026-06-15T22:48:18.236" v="0" actId="478"/>
          <ac:spMkLst>
            <pc:docMk/>
            <pc:sldMk cId="0" sldId="297"/>
            <ac:spMk id="1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453ED8-CB53-4EB8-A8F1-8E46A4D65C8C}" type="datetimeFigureOut">
              <a:rPr lang="en-US" smtClean="0"/>
              <a:t>6/16/2026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E264E8-C194-4958-80DF-8143E76C9722}" type="slidenum">
              <a:rPr lang="en-US" smtClean="0"/>
              <a:t>‹#›</a:t>
            </a:fld>
            <a:endParaRPr lang="en-US"/>
          </a:p>
        </p:txBody>
      </p:sp>
    </p:spTree>
    <p:extLst>
      <p:ext uri="{BB962C8B-B14F-4D97-AF65-F5344CB8AC3E}">
        <p14:creationId xmlns:p14="http://schemas.microsoft.com/office/powerpoint/2010/main" val="18667721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21C98-F89E-14A3-FEB3-2C9201F566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A622838-E817-BCC5-9162-E2A34A1B58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BCAEDFA-BE24-20A6-5E18-270EAF15830D}"/>
              </a:ext>
            </a:extLst>
          </p:cNvPr>
          <p:cNvSpPr>
            <a:spLocks noGrp="1"/>
          </p:cNvSpPr>
          <p:nvPr>
            <p:ph type="dt" sz="half" idx="10"/>
          </p:nvPr>
        </p:nvSpPr>
        <p:spPr/>
        <p:txBody>
          <a:bodyPr/>
          <a:lstStyle/>
          <a:p>
            <a:fld id="{23B76AAA-5E7D-4366-A574-5ABB87DC0331}" type="datetimeFigureOut">
              <a:rPr lang="en-US" smtClean="0"/>
              <a:t>6/16/2026</a:t>
            </a:fld>
            <a:endParaRPr lang="en-US"/>
          </a:p>
        </p:txBody>
      </p:sp>
      <p:sp>
        <p:nvSpPr>
          <p:cNvPr id="5" name="Footer Placeholder 4">
            <a:extLst>
              <a:ext uri="{FF2B5EF4-FFF2-40B4-BE49-F238E27FC236}">
                <a16:creationId xmlns:a16="http://schemas.microsoft.com/office/drawing/2014/main" id="{CF4565E8-D2FC-F6C2-40D5-46B99B8D2B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438D34-5857-FF54-488F-E5C94CD1367B}"/>
              </a:ext>
            </a:extLst>
          </p:cNvPr>
          <p:cNvSpPr>
            <a:spLocks noGrp="1"/>
          </p:cNvSpPr>
          <p:nvPr>
            <p:ph type="sldNum" sz="quarter" idx="12"/>
          </p:nvPr>
        </p:nvSpPr>
        <p:spPr/>
        <p:txBody>
          <a:bodyPr/>
          <a:lstStyle/>
          <a:p>
            <a:fld id="{039744F7-8573-4D91-91A2-18C8C00381B8}" type="slidenum">
              <a:rPr lang="en-US" smtClean="0"/>
              <a:t>‹#›</a:t>
            </a:fld>
            <a:endParaRPr lang="en-US"/>
          </a:p>
        </p:txBody>
      </p:sp>
    </p:spTree>
    <p:extLst>
      <p:ext uri="{BB962C8B-B14F-4D97-AF65-F5344CB8AC3E}">
        <p14:creationId xmlns:p14="http://schemas.microsoft.com/office/powerpoint/2010/main" val="1684818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10E01-3D81-674B-43A3-8B3ECA91E8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387F032-E466-1578-72C8-E1BF0AC6084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0CE34B-EF80-7B73-CA0A-BD91289AA776}"/>
              </a:ext>
            </a:extLst>
          </p:cNvPr>
          <p:cNvSpPr>
            <a:spLocks noGrp="1"/>
          </p:cNvSpPr>
          <p:nvPr>
            <p:ph type="dt" sz="half" idx="10"/>
          </p:nvPr>
        </p:nvSpPr>
        <p:spPr/>
        <p:txBody>
          <a:bodyPr/>
          <a:lstStyle/>
          <a:p>
            <a:fld id="{23B76AAA-5E7D-4366-A574-5ABB87DC0331}" type="datetimeFigureOut">
              <a:rPr lang="en-US" smtClean="0"/>
              <a:t>6/16/2026</a:t>
            </a:fld>
            <a:endParaRPr lang="en-US"/>
          </a:p>
        </p:txBody>
      </p:sp>
      <p:sp>
        <p:nvSpPr>
          <p:cNvPr id="5" name="Footer Placeholder 4">
            <a:extLst>
              <a:ext uri="{FF2B5EF4-FFF2-40B4-BE49-F238E27FC236}">
                <a16:creationId xmlns:a16="http://schemas.microsoft.com/office/drawing/2014/main" id="{F89B576E-0A9C-FB32-9922-4CA0975A00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A2C77E-BFF9-BB5A-AC5A-659DCD712CF3}"/>
              </a:ext>
            </a:extLst>
          </p:cNvPr>
          <p:cNvSpPr>
            <a:spLocks noGrp="1"/>
          </p:cNvSpPr>
          <p:nvPr>
            <p:ph type="sldNum" sz="quarter" idx="12"/>
          </p:nvPr>
        </p:nvSpPr>
        <p:spPr/>
        <p:txBody>
          <a:bodyPr/>
          <a:lstStyle/>
          <a:p>
            <a:fld id="{039744F7-8573-4D91-91A2-18C8C00381B8}" type="slidenum">
              <a:rPr lang="en-US" smtClean="0"/>
              <a:t>‹#›</a:t>
            </a:fld>
            <a:endParaRPr lang="en-US"/>
          </a:p>
        </p:txBody>
      </p:sp>
    </p:spTree>
    <p:extLst>
      <p:ext uri="{BB962C8B-B14F-4D97-AF65-F5344CB8AC3E}">
        <p14:creationId xmlns:p14="http://schemas.microsoft.com/office/powerpoint/2010/main" val="508857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66C15-C25A-F380-BEEF-BAC40393B4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51C5C4F-5918-971E-F3CA-520D8E16621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C09F677-0149-A787-1842-24EA2536D65D}"/>
              </a:ext>
            </a:extLst>
          </p:cNvPr>
          <p:cNvSpPr>
            <a:spLocks noGrp="1"/>
          </p:cNvSpPr>
          <p:nvPr>
            <p:ph type="dt" sz="half" idx="10"/>
          </p:nvPr>
        </p:nvSpPr>
        <p:spPr/>
        <p:txBody>
          <a:bodyPr/>
          <a:lstStyle/>
          <a:p>
            <a:fld id="{23B76AAA-5E7D-4366-A574-5ABB87DC0331}" type="datetimeFigureOut">
              <a:rPr lang="en-US" smtClean="0"/>
              <a:t>6/16/2026</a:t>
            </a:fld>
            <a:endParaRPr lang="en-US"/>
          </a:p>
        </p:txBody>
      </p:sp>
      <p:sp>
        <p:nvSpPr>
          <p:cNvPr id="5" name="Footer Placeholder 4">
            <a:extLst>
              <a:ext uri="{FF2B5EF4-FFF2-40B4-BE49-F238E27FC236}">
                <a16:creationId xmlns:a16="http://schemas.microsoft.com/office/drawing/2014/main" id="{16820E22-380E-45DC-D9B8-A2A8EEC726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542121-5F94-AB6C-0366-B192CF769ACE}"/>
              </a:ext>
            </a:extLst>
          </p:cNvPr>
          <p:cNvSpPr>
            <a:spLocks noGrp="1"/>
          </p:cNvSpPr>
          <p:nvPr>
            <p:ph type="sldNum" sz="quarter" idx="12"/>
          </p:nvPr>
        </p:nvSpPr>
        <p:spPr/>
        <p:txBody>
          <a:bodyPr/>
          <a:lstStyle/>
          <a:p>
            <a:fld id="{039744F7-8573-4D91-91A2-18C8C00381B8}" type="slidenum">
              <a:rPr lang="en-US" smtClean="0"/>
              <a:t>‹#›</a:t>
            </a:fld>
            <a:endParaRPr lang="en-US"/>
          </a:p>
        </p:txBody>
      </p:sp>
    </p:spTree>
    <p:extLst>
      <p:ext uri="{BB962C8B-B14F-4D97-AF65-F5344CB8AC3E}">
        <p14:creationId xmlns:p14="http://schemas.microsoft.com/office/powerpoint/2010/main" val="13991501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9B3CC-A411-E776-6AE0-4B86A346F93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A407C02-6540-CDD8-92D8-71FB111E8DE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53815C6-A6EE-1681-F1B8-C4E4A04F4D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7A6276D-5308-E016-90FB-D4B01118BC5B}"/>
              </a:ext>
            </a:extLst>
          </p:cNvPr>
          <p:cNvSpPr>
            <a:spLocks noGrp="1"/>
          </p:cNvSpPr>
          <p:nvPr>
            <p:ph type="dt" sz="half" idx="10"/>
          </p:nvPr>
        </p:nvSpPr>
        <p:spPr/>
        <p:txBody>
          <a:bodyPr/>
          <a:lstStyle/>
          <a:p>
            <a:fld id="{23B76AAA-5E7D-4366-A574-5ABB87DC0331}" type="datetimeFigureOut">
              <a:rPr lang="en-US" smtClean="0"/>
              <a:t>6/16/2026</a:t>
            </a:fld>
            <a:endParaRPr lang="en-US"/>
          </a:p>
        </p:txBody>
      </p:sp>
      <p:sp>
        <p:nvSpPr>
          <p:cNvPr id="6" name="Footer Placeholder 5">
            <a:extLst>
              <a:ext uri="{FF2B5EF4-FFF2-40B4-BE49-F238E27FC236}">
                <a16:creationId xmlns:a16="http://schemas.microsoft.com/office/drawing/2014/main" id="{D20F4E88-EC5B-D81A-4FDA-1A94C58355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3C61E43-61DC-A268-50C2-9FC8FF04F8B3}"/>
              </a:ext>
            </a:extLst>
          </p:cNvPr>
          <p:cNvSpPr>
            <a:spLocks noGrp="1"/>
          </p:cNvSpPr>
          <p:nvPr>
            <p:ph type="sldNum" sz="quarter" idx="12"/>
          </p:nvPr>
        </p:nvSpPr>
        <p:spPr/>
        <p:txBody>
          <a:bodyPr/>
          <a:lstStyle/>
          <a:p>
            <a:fld id="{039744F7-8573-4D91-91A2-18C8C00381B8}" type="slidenum">
              <a:rPr lang="en-US" smtClean="0"/>
              <a:t>‹#›</a:t>
            </a:fld>
            <a:endParaRPr lang="en-US"/>
          </a:p>
        </p:txBody>
      </p:sp>
    </p:spTree>
    <p:extLst>
      <p:ext uri="{BB962C8B-B14F-4D97-AF65-F5344CB8AC3E}">
        <p14:creationId xmlns:p14="http://schemas.microsoft.com/office/powerpoint/2010/main" val="12255461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DEE4A-CFA7-E258-8632-CB00CD7FBD7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F3FFD81-8E11-DC8B-CC79-862B4F5101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ACD7B3-3DBF-5DB4-F9A1-10EE1CA4BBC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70AA2B5-0C73-3B67-C35B-6C14F64BED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AD1B730-790E-A1E9-1A25-92B210A2DC2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DBEB33B-B86B-8AA3-BCE7-F054FF2D1A9F}"/>
              </a:ext>
            </a:extLst>
          </p:cNvPr>
          <p:cNvSpPr>
            <a:spLocks noGrp="1"/>
          </p:cNvSpPr>
          <p:nvPr>
            <p:ph type="dt" sz="half" idx="10"/>
          </p:nvPr>
        </p:nvSpPr>
        <p:spPr/>
        <p:txBody>
          <a:bodyPr/>
          <a:lstStyle/>
          <a:p>
            <a:fld id="{23B76AAA-5E7D-4366-A574-5ABB87DC0331}" type="datetimeFigureOut">
              <a:rPr lang="en-US" smtClean="0"/>
              <a:t>6/16/2026</a:t>
            </a:fld>
            <a:endParaRPr lang="en-US"/>
          </a:p>
        </p:txBody>
      </p:sp>
      <p:sp>
        <p:nvSpPr>
          <p:cNvPr id="8" name="Footer Placeholder 7">
            <a:extLst>
              <a:ext uri="{FF2B5EF4-FFF2-40B4-BE49-F238E27FC236}">
                <a16:creationId xmlns:a16="http://schemas.microsoft.com/office/drawing/2014/main" id="{6BD96C6F-8130-5210-99EB-A1AB5543D5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8D89DF7-C594-CBE1-CE9C-B4479338BE4C}"/>
              </a:ext>
            </a:extLst>
          </p:cNvPr>
          <p:cNvSpPr>
            <a:spLocks noGrp="1"/>
          </p:cNvSpPr>
          <p:nvPr>
            <p:ph type="sldNum" sz="quarter" idx="12"/>
          </p:nvPr>
        </p:nvSpPr>
        <p:spPr/>
        <p:txBody>
          <a:bodyPr/>
          <a:lstStyle/>
          <a:p>
            <a:fld id="{039744F7-8573-4D91-91A2-18C8C00381B8}" type="slidenum">
              <a:rPr lang="en-US" smtClean="0"/>
              <a:t>‹#›</a:t>
            </a:fld>
            <a:endParaRPr lang="en-US"/>
          </a:p>
        </p:txBody>
      </p:sp>
    </p:spTree>
    <p:extLst>
      <p:ext uri="{BB962C8B-B14F-4D97-AF65-F5344CB8AC3E}">
        <p14:creationId xmlns:p14="http://schemas.microsoft.com/office/powerpoint/2010/main" val="1237653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D1D8F-8191-10CC-1669-77C9E54FA65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3CD9684-7CB6-982E-7FD2-6C37A846C131}"/>
              </a:ext>
            </a:extLst>
          </p:cNvPr>
          <p:cNvSpPr>
            <a:spLocks noGrp="1"/>
          </p:cNvSpPr>
          <p:nvPr>
            <p:ph type="dt" sz="half" idx="10"/>
          </p:nvPr>
        </p:nvSpPr>
        <p:spPr/>
        <p:txBody>
          <a:bodyPr/>
          <a:lstStyle/>
          <a:p>
            <a:fld id="{23B76AAA-5E7D-4366-A574-5ABB87DC0331}" type="datetimeFigureOut">
              <a:rPr lang="en-US" smtClean="0"/>
              <a:t>6/16/2026</a:t>
            </a:fld>
            <a:endParaRPr lang="en-US"/>
          </a:p>
        </p:txBody>
      </p:sp>
      <p:sp>
        <p:nvSpPr>
          <p:cNvPr id="4" name="Footer Placeholder 3">
            <a:extLst>
              <a:ext uri="{FF2B5EF4-FFF2-40B4-BE49-F238E27FC236}">
                <a16:creationId xmlns:a16="http://schemas.microsoft.com/office/drawing/2014/main" id="{D8DFE56E-2430-19EE-9200-729FD28BDE1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2C5BD97-0699-9A52-3E3B-7AF9856BEC98}"/>
              </a:ext>
            </a:extLst>
          </p:cNvPr>
          <p:cNvSpPr>
            <a:spLocks noGrp="1"/>
          </p:cNvSpPr>
          <p:nvPr>
            <p:ph type="sldNum" sz="quarter" idx="12"/>
          </p:nvPr>
        </p:nvSpPr>
        <p:spPr/>
        <p:txBody>
          <a:bodyPr/>
          <a:lstStyle/>
          <a:p>
            <a:fld id="{039744F7-8573-4D91-91A2-18C8C00381B8}" type="slidenum">
              <a:rPr lang="en-US" smtClean="0"/>
              <a:t>‹#›</a:t>
            </a:fld>
            <a:endParaRPr lang="en-US"/>
          </a:p>
        </p:txBody>
      </p:sp>
    </p:spTree>
    <p:extLst>
      <p:ext uri="{BB962C8B-B14F-4D97-AF65-F5344CB8AC3E}">
        <p14:creationId xmlns:p14="http://schemas.microsoft.com/office/powerpoint/2010/main" val="3825763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32C474-249C-8EB9-BEB1-5CC79579D81A}"/>
              </a:ext>
            </a:extLst>
          </p:cNvPr>
          <p:cNvSpPr>
            <a:spLocks noGrp="1"/>
          </p:cNvSpPr>
          <p:nvPr>
            <p:ph type="dt" sz="half" idx="10"/>
          </p:nvPr>
        </p:nvSpPr>
        <p:spPr/>
        <p:txBody>
          <a:bodyPr/>
          <a:lstStyle/>
          <a:p>
            <a:fld id="{23B76AAA-5E7D-4366-A574-5ABB87DC0331}" type="datetimeFigureOut">
              <a:rPr lang="en-US" smtClean="0"/>
              <a:t>6/16/2026</a:t>
            </a:fld>
            <a:endParaRPr lang="en-US"/>
          </a:p>
        </p:txBody>
      </p:sp>
      <p:sp>
        <p:nvSpPr>
          <p:cNvPr id="3" name="Footer Placeholder 2">
            <a:extLst>
              <a:ext uri="{FF2B5EF4-FFF2-40B4-BE49-F238E27FC236}">
                <a16:creationId xmlns:a16="http://schemas.microsoft.com/office/drawing/2014/main" id="{C4550C2D-D0F2-8397-9C57-0686E2B06B5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70B7EB7-EEA8-A302-BC14-2AE0299D184B}"/>
              </a:ext>
            </a:extLst>
          </p:cNvPr>
          <p:cNvSpPr>
            <a:spLocks noGrp="1"/>
          </p:cNvSpPr>
          <p:nvPr>
            <p:ph type="sldNum" sz="quarter" idx="12"/>
          </p:nvPr>
        </p:nvSpPr>
        <p:spPr/>
        <p:txBody>
          <a:bodyPr/>
          <a:lstStyle/>
          <a:p>
            <a:fld id="{039744F7-8573-4D91-91A2-18C8C00381B8}" type="slidenum">
              <a:rPr lang="en-US" smtClean="0"/>
              <a:t>‹#›</a:t>
            </a:fld>
            <a:endParaRPr lang="en-US"/>
          </a:p>
        </p:txBody>
      </p:sp>
    </p:spTree>
    <p:extLst>
      <p:ext uri="{BB962C8B-B14F-4D97-AF65-F5344CB8AC3E}">
        <p14:creationId xmlns:p14="http://schemas.microsoft.com/office/powerpoint/2010/main" val="2059285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EF73E-E353-B4B3-31AA-C9302D6383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D1A0F7D-2C1A-27A8-782C-C526D04999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E0E28E4-F068-DF45-5C16-F391FA7924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DAE47B-76F0-E4E8-A81E-60F38FF7A3E8}"/>
              </a:ext>
            </a:extLst>
          </p:cNvPr>
          <p:cNvSpPr>
            <a:spLocks noGrp="1"/>
          </p:cNvSpPr>
          <p:nvPr>
            <p:ph type="dt" sz="half" idx="10"/>
          </p:nvPr>
        </p:nvSpPr>
        <p:spPr/>
        <p:txBody>
          <a:bodyPr/>
          <a:lstStyle/>
          <a:p>
            <a:fld id="{23B76AAA-5E7D-4366-A574-5ABB87DC0331}" type="datetimeFigureOut">
              <a:rPr lang="en-US" smtClean="0"/>
              <a:t>6/16/2026</a:t>
            </a:fld>
            <a:endParaRPr lang="en-US"/>
          </a:p>
        </p:txBody>
      </p:sp>
      <p:sp>
        <p:nvSpPr>
          <p:cNvPr id="6" name="Footer Placeholder 5">
            <a:extLst>
              <a:ext uri="{FF2B5EF4-FFF2-40B4-BE49-F238E27FC236}">
                <a16:creationId xmlns:a16="http://schemas.microsoft.com/office/drawing/2014/main" id="{8545619D-6672-93B7-DD9F-C076EEB4CF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92EC5A-02D7-DCF4-F1D0-0BAC4A2CEAC0}"/>
              </a:ext>
            </a:extLst>
          </p:cNvPr>
          <p:cNvSpPr>
            <a:spLocks noGrp="1"/>
          </p:cNvSpPr>
          <p:nvPr>
            <p:ph type="sldNum" sz="quarter" idx="12"/>
          </p:nvPr>
        </p:nvSpPr>
        <p:spPr/>
        <p:txBody>
          <a:bodyPr/>
          <a:lstStyle/>
          <a:p>
            <a:fld id="{039744F7-8573-4D91-91A2-18C8C00381B8}" type="slidenum">
              <a:rPr lang="en-US" smtClean="0"/>
              <a:t>‹#›</a:t>
            </a:fld>
            <a:endParaRPr lang="en-US"/>
          </a:p>
        </p:txBody>
      </p:sp>
    </p:spTree>
    <p:extLst>
      <p:ext uri="{BB962C8B-B14F-4D97-AF65-F5344CB8AC3E}">
        <p14:creationId xmlns:p14="http://schemas.microsoft.com/office/powerpoint/2010/main" val="26791856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90439-27BE-6DB9-16B0-3410E5E2F5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8A1F12A-7998-909A-68D3-43162223499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939F5C8-86A1-D956-6A50-34A972E411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7B66F0-4F6C-78F4-23BB-CC30D98E0B59}"/>
              </a:ext>
            </a:extLst>
          </p:cNvPr>
          <p:cNvSpPr>
            <a:spLocks noGrp="1"/>
          </p:cNvSpPr>
          <p:nvPr>
            <p:ph type="dt" sz="half" idx="10"/>
          </p:nvPr>
        </p:nvSpPr>
        <p:spPr/>
        <p:txBody>
          <a:bodyPr/>
          <a:lstStyle/>
          <a:p>
            <a:fld id="{23B76AAA-5E7D-4366-A574-5ABB87DC0331}" type="datetimeFigureOut">
              <a:rPr lang="en-US" smtClean="0"/>
              <a:t>6/16/2026</a:t>
            </a:fld>
            <a:endParaRPr lang="en-US"/>
          </a:p>
        </p:txBody>
      </p:sp>
      <p:sp>
        <p:nvSpPr>
          <p:cNvPr id="6" name="Footer Placeholder 5">
            <a:extLst>
              <a:ext uri="{FF2B5EF4-FFF2-40B4-BE49-F238E27FC236}">
                <a16:creationId xmlns:a16="http://schemas.microsoft.com/office/drawing/2014/main" id="{45BF098D-5CF8-0A7B-E836-727751538B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1239F7-E0F6-22EE-C347-5BB61B83A655}"/>
              </a:ext>
            </a:extLst>
          </p:cNvPr>
          <p:cNvSpPr>
            <a:spLocks noGrp="1"/>
          </p:cNvSpPr>
          <p:nvPr>
            <p:ph type="sldNum" sz="quarter" idx="12"/>
          </p:nvPr>
        </p:nvSpPr>
        <p:spPr/>
        <p:txBody>
          <a:bodyPr/>
          <a:lstStyle/>
          <a:p>
            <a:fld id="{039744F7-8573-4D91-91A2-18C8C00381B8}" type="slidenum">
              <a:rPr lang="en-US" smtClean="0"/>
              <a:t>‹#›</a:t>
            </a:fld>
            <a:endParaRPr lang="en-US"/>
          </a:p>
        </p:txBody>
      </p:sp>
    </p:spTree>
    <p:extLst>
      <p:ext uri="{BB962C8B-B14F-4D97-AF65-F5344CB8AC3E}">
        <p14:creationId xmlns:p14="http://schemas.microsoft.com/office/powerpoint/2010/main" val="41465344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3A9E3-4F92-28D2-7BA7-AB1C1A641B3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5F96E0F-AE98-6622-A804-F9956F75B96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FC306A-3F8F-F802-8020-43439CFCEA94}"/>
              </a:ext>
            </a:extLst>
          </p:cNvPr>
          <p:cNvSpPr>
            <a:spLocks noGrp="1"/>
          </p:cNvSpPr>
          <p:nvPr>
            <p:ph type="dt" sz="half" idx="10"/>
          </p:nvPr>
        </p:nvSpPr>
        <p:spPr/>
        <p:txBody>
          <a:bodyPr/>
          <a:lstStyle/>
          <a:p>
            <a:fld id="{23B76AAA-5E7D-4366-A574-5ABB87DC0331}" type="datetimeFigureOut">
              <a:rPr lang="en-US" smtClean="0"/>
              <a:t>6/16/2026</a:t>
            </a:fld>
            <a:endParaRPr lang="en-US"/>
          </a:p>
        </p:txBody>
      </p:sp>
      <p:sp>
        <p:nvSpPr>
          <p:cNvPr id="5" name="Footer Placeholder 4">
            <a:extLst>
              <a:ext uri="{FF2B5EF4-FFF2-40B4-BE49-F238E27FC236}">
                <a16:creationId xmlns:a16="http://schemas.microsoft.com/office/drawing/2014/main" id="{81C6D5AE-3872-5765-6E4C-D380531063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762382-09B4-10A8-13F9-15BF581120FA}"/>
              </a:ext>
            </a:extLst>
          </p:cNvPr>
          <p:cNvSpPr>
            <a:spLocks noGrp="1"/>
          </p:cNvSpPr>
          <p:nvPr>
            <p:ph type="sldNum" sz="quarter" idx="12"/>
          </p:nvPr>
        </p:nvSpPr>
        <p:spPr/>
        <p:txBody>
          <a:bodyPr/>
          <a:lstStyle/>
          <a:p>
            <a:fld id="{039744F7-8573-4D91-91A2-18C8C00381B8}" type="slidenum">
              <a:rPr lang="en-US" smtClean="0"/>
              <a:t>‹#›</a:t>
            </a:fld>
            <a:endParaRPr lang="en-US"/>
          </a:p>
        </p:txBody>
      </p:sp>
    </p:spTree>
    <p:extLst>
      <p:ext uri="{BB962C8B-B14F-4D97-AF65-F5344CB8AC3E}">
        <p14:creationId xmlns:p14="http://schemas.microsoft.com/office/powerpoint/2010/main" val="23784541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C8686F-6438-CE4E-06E4-E3CDDF866D9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3B79857-4378-DCB5-5E8C-75D20B3C998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955656-D168-6217-F497-F21820EDBD1F}"/>
              </a:ext>
            </a:extLst>
          </p:cNvPr>
          <p:cNvSpPr>
            <a:spLocks noGrp="1"/>
          </p:cNvSpPr>
          <p:nvPr>
            <p:ph type="dt" sz="half" idx="10"/>
          </p:nvPr>
        </p:nvSpPr>
        <p:spPr/>
        <p:txBody>
          <a:bodyPr/>
          <a:lstStyle/>
          <a:p>
            <a:fld id="{23B76AAA-5E7D-4366-A574-5ABB87DC0331}" type="datetimeFigureOut">
              <a:rPr lang="en-US" smtClean="0"/>
              <a:t>6/16/2026</a:t>
            </a:fld>
            <a:endParaRPr lang="en-US"/>
          </a:p>
        </p:txBody>
      </p:sp>
      <p:sp>
        <p:nvSpPr>
          <p:cNvPr id="5" name="Footer Placeholder 4">
            <a:extLst>
              <a:ext uri="{FF2B5EF4-FFF2-40B4-BE49-F238E27FC236}">
                <a16:creationId xmlns:a16="http://schemas.microsoft.com/office/drawing/2014/main" id="{ECB063DA-F23A-64CA-D485-83AEE804DA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D97ECD-7DD8-378C-22E1-E044CF902EFE}"/>
              </a:ext>
            </a:extLst>
          </p:cNvPr>
          <p:cNvSpPr>
            <a:spLocks noGrp="1"/>
          </p:cNvSpPr>
          <p:nvPr>
            <p:ph type="sldNum" sz="quarter" idx="12"/>
          </p:nvPr>
        </p:nvSpPr>
        <p:spPr/>
        <p:txBody>
          <a:bodyPr/>
          <a:lstStyle/>
          <a:p>
            <a:fld id="{039744F7-8573-4D91-91A2-18C8C00381B8}" type="slidenum">
              <a:rPr lang="en-US" smtClean="0"/>
              <a:t>‹#›</a:t>
            </a:fld>
            <a:endParaRPr lang="en-US"/>
          </a:p>
        </p:txBody>
      </p:sp>
    </p:spTree>
    <p:extLst>
      <p:ext uri="{BB962C8B-B14F-4D97-AF65-F5344CB8AC3E}">
        <p14:creationId xmlns:p14="http://schemas.microsoft.com/office/powerpoint/2010/main" val="4460373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17589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1ED7A4-EFF1-FA5E-694D-0FB743F2E5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368DAC2-BE52-26B0-757F-1856FC6A28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CD82ED-F651-A849-98A1-6DF3E79BC40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3B76AAA-5E7D-4366-A574-5ABB87DC0331}" type="datetimeFigureOut">
              <a:rPr lang="en-US" smtClean="0"/>
              <a:t>6/16/2026</a:t>
            </a:fld>
            <a:endParaRPr lang="en-US"/>
          </a:p>
        </p:txBody>
      </p:sp>
      <p:sp>
        <p:nvSpPr>
          <p:cNvPr id="5" name="Footer Placeholder 4">
            <a:extLst>
              <a:ext uri="{FF2B5EF4-FFF2-40B4-BE49-F238E27FC236}">
                <a16:creationId xmlns:a16="http://schemas.microsoft.com/office/drawing/2014/main" id="{8408DA52-556D-BC7C-62E6-208BB59EF5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D90FC77-7128-5523-2207-11F80DD82ED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39744F7-8573-4D91-91A2-18C8C00381B8}" type="slidenum">
              <a:rPr lang="en-US" smtClean="0"/>
              <a:t>‹#›</a:t>
            </a:fld>
            <a:endParaRPr lang="en-US"/>
          </a:p>
        </p:txBody>
      </p:sp>
    </p:spTree>
    <p:extLst>
      <p:ext uri="{BB962C8B-B14F-4D97-AF65-F5344CB8AC3E}">
        <p14:creationId xmlns:p14="http://schemas.microsoft.com/office/powerpoint/2010/main" val="12425304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AEE5C-3E17-D46E-A09C-1C745D92BB19}"/>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A673C922-AFC9-2637-1803-CC66B7498AD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591392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F59E0B"/>
          </a:solidFill>
          <a:ln w="12700">
            <a:solidFill>
              <a:srgbClr val="F59E0B"/>
            </a:solidFill>
            <a:prstDash val="solid"/>
          </a:ln>
        </p:spPr>
        <p:txBody>
          <a:bodyPr/>
          <a:lstStyle/>
          <a:p>
            <a:endParaRPr lang="en-US"/>
          </a:p>
        </p:txBody>
      </p:sp>
      <p:sp>
        <p:nvSpPr>
          <p:cNvPr id="3" name="Shape 1"/>
          <p:cNvSpPr/>
          <p:nvPr/>
        </p:nvSpPr>
        <p:spPr>
          <a:xfrm>
            <a:off x="548640" y="365760"/>
            <a:ext cx="4023360" cy="411480"/>
          </a:xfrm>
          <a:prstGeom prst="rect">
            <a:avLst/>
          </a:prstGeom>
          <a:solidFill>
            <a:srgbClr val="FFF7E6"/>
          </a:solidFill>
          <a:ln w="9525">
            <a:solidFill>
              <a:srgbClr val="F59E0B"/>
            </a:solidFill>
            <a:prstDash val="solid"/>
          </a:ln>
        </p:spPr>
        <p:txBody>
          <a:bodyPr/>
          <a:lstStyle/>
          <a:p>
            <a:endParaRPr lang="en-US"/>
          </a:p>
        </p:txBody>
      </p:sp>
      <p:sp>
        <p:nvSpPr>
          <p:cNvPr id="4" name="Text 2"/>
          <p:cNvSpPr/>
          <p:nvPr/>
        </p:nvSpPr>
        <p:spPr>
          <a:xfrm>
            <a:off x="548640" y="365760"/>
            <a:ext cx="4023360" cy="411480"/>
          </a:xfrm>
          <a:prstGeom prst="rect">
            <a:avLst/>
          </a:prstGeom>
          <a:noFill/>
          <a:ln/>
        </p:spPr>
        <p:txBody>
          <a:bodyPr wrap="square" rtlCol="0" anchor="ctr"/>
          <a:lstStyle/>
          <a:p>
            <a:pPr marL="0" indent="0" algn="ctr">
              <a:buNone/>
            </a:pPr>
            <a:r>
              <a:rPr lang="en-US" sz="1100" b="1" kern="0" spc="200" dirty="0">
                <a:solidFill>
                  <a:srgbClr val="0B2545"/>
                </a:solidFill>
                <a:latin typeface="Calibri" pitchFamily="34" charset="0"/>
                <a:ea typeface="Calibri" pitchFamily="34" charset="-122"/>
                <a:cs typeface="Calibri" pitchFamily="34" charset="-120"/>
              </a:rPr>
              <a:t>SECTION 3 — LOGICAL OPERATORS</a:t>
            </a:r>
            <a:endParaRPr lang="en-US" sz="1100" dirty="0"/>
          </a:p>
        </p:txBody>
      </p:sp>
      <p:sp>
        <p:nvSpPr>
          <p:cNvPr id="5" name="Shape 3"/>
          <p:cNvSpPr/>
          <p:nvPr/>
        </p:nvSpPr>
        <p:spPr>
          <a:xfrm>
            <a:off x="9418320" y="365760"/>
            <a:ext cx="2194560" cy="411480"/>
          </a:xfrm>
          <a:prstGeom prst="rect">
            <a:avLst/>
          </a:prstGeom>
          <a:solidFill>
            <a:srgbClr val="EEF2FF"/>
          </a:solidFill>
          <a:ln w="9525">
            <a:solidFill>
              <a:srgbClr val="0B2545"/>
            </a:solidFill>
            <a:prstDash val="solid"/>
          </a:ln>
        </p:spPr>
        <p:txBody>
          <a:bodyPr/>
          <a:lstStyle/>
          <a:p>
            <a:endParaRPr lang="en-US"/>
          </a:p>
        </p:txBody>
      </p:sp>
      <p:sp>
        <p:nvSpPr>
          <p:cNvPr id="6" name="Text 4"/>
          <p:cNvSpPr/>
          <p:nvPr/>
        </p:nvSpPr>
        <p:spPr>
          <a:xfrm>
            <a:off x="9418320" y="365760"/>
            <a:ext cx="2194560" cy="411480"/>
          </a:xfrm>
          <a:prstGeom prst="rect">
            <a:avLst/>
          </a:prstGeom>
          <a:noFill/>
          <a:ln/>
        </p:spPr>
        <p:txBody>
          <a:bodyPr wrap="square" rtlCol="0" anchor="ctr"/>
          <a:lstStyle/>
          <a:p>
            <a:pPr marL="0" indent="0" algn="ctr">
              <a:buNone/>
            </a:pPr>
            <a:r>
              <a:rPr lang="en-US" sz="1100" b="1" kern="0" spc="200" dirty="0">
                <a:solidFill>
                  <a:srgbClr val="0B2545"/>
                </a:solidFill>
                <a:latin typeface="Calibri" pitchFamily="34" charset="0"/>
                <a:ea typeface="Calibri" pitchFamily="34" charset="-122"/>
                <a:cs typeface="Calibri" pitchFamily="34" charset="-120"/>
              </a:rPr>
              <a:t>Q11  ·  QUESTION</a:t>
            </a:r>
            <a:endParaRPr lang="en-US" sz="1100" dirty="0"/>
          </a:p>
        </p:txBody>
      </p:sp>
      <p:sp>
        <p:nvSpPr>
          <p:cNvPr id="7" name="Text 5"/>
          <p:cNvSpPr/>
          <p:nvPr/>
        </p:nvSpPr>
        <p:spPr>
          <a:xfrm>
            <a:off x="548640" y="1005840"/>
            <a:ext cx="11064240" cy="320040"/>
          </a:xfrm>
          <a:prstGeom prst="rect">
            <a:avLst/>
          </a:prstGeom>
          <a:noFill/>
          <a:ln/>
        </p:spPr>
        <p:txBody>
          <a:bodyPr wrap="square" rtlCol="0" anchor="ctr"/>
          <a:lstStyle/>
          <a:p>
            <a:pPr marL="0" indent="0">
              <a:buNone/>
            </a:pPr>
            <a:r>
              <a:rPr lang="en-US" sz="1200" b="1" kern="0" spc="300" dirty="0">
                <a:solidFill>
                  <a:srgbClr val="F59E0B"/>
                </a:solidFill>
                <a:latin typeface="Calibri" pitchFamily="34" charset="0"/>
                <a:ea typeface="Calibri" pitchFamily="34" charset="-122"/>
                <a:cs typeface="Calibri" pitchFamily="34" charset="-120"/>
              </a:rPr>
              <a:t>CODE OUTPUT</a:t>
            </a:r>
            <a:endParaRPr lang="en-US" sz="1200" dirty="0"/>
          </a:p>
        </p:txBody>
      </p:sp>
      <p:sp>
        <p:nvSpPr>
          <p:cNvPr id="8" name="Text 6"/>
          <p:cNvSpPr/>
          <p:nvPr/>
        </p:nvSpPr>
        <p:spPr>
          <a:xfrm>
            <a:off x="548640" y="1371600"/>
            <a:ext cx="11064240" cy="1097280"/>
          </a:xfrm>
          <a:prstGeom prst="rect">
            <a:avLst/>
          </a:prstGeom>
          <a:noFill/>
          <a:ln/>
        </p:spPr>
        <p:txBody>
          <a:bodyPr wrap="square" rtlCol="0" anchor="t"/>
          <a:lstStyle/>
          <a:p>
            <a:pPr marL="0" indent="0">
              <a:buNone/>
            </a:pPr>
            <a:r>
              <a:rPr lang="en-US" sz="2600" b="1" dirty="0">
                <a:solidFill>
                  <a:srgbClr val="0B2545"/>
                </a:solidFill>
                <a:latin typeface="Calibri" pitchFamily="34" charset="0"/>
                <a:ea typeface="Calibri" pitchFamily="34" charset="-122"/>
                <a:cs typeface="Calibri" pitchFamily="34" charset="-120"/>
              </a:rPr>
              <a:t>What is the result of the following expression? Explain why.</a:t>
            </a:r>
            <a:endParaRPr lang="en-US" sz="2600" dirty="0"/>
          </a:p>
        </p:txBody>
      </p:sp>
      <p:sp>
        <p:nvSpPr>
          <p:cNvPr id="9" name="Shape 7"/>
          <p:cNvSpPr/>
          <p:nvPr/>
        </p:nvSpPr>
        <p:spPr>
          <a:xfrm>
            <a:off x="548640" y="2560320"/>
            <a:ext cx="11064240" cy="457200"/>
          </a:xfrm>
          <a:prstGeom prst="rect">
            <a:avLst/>
          </a:prstGeom>
          <a:solidFill>
            <a:srgbClr val="F3F4F6"/>
          </a:solidFill>
          <a:ln w="6350">
            <a:solidFill>
              <a:srgbClr val="E5E7EB"/>
            </a:solidFill>
            <a:prstDash val="solid"/>
          </a:ln>
        </p:spPr>
        <p:txBody>
          <a:bodyPr/>
          <a:lstStyle/>
          <a:p>
            <a:endParaRPr lang="en-US"/>
          </a:p>
        </p:txBody>
      </p:sp>
      <p:sp>
        <p:nvSpPr>
          <p:cNvPr id="10" name="Text 8"/>
          <p:cNvSpPr/>
          <p:nvPr/>
        </p:nvSpPr>
        <p:spPr>
          <a:xfrm>
            <a:off x="685800" y="2633472"/>
            <a:ext cx="10789920" cy="310896"/>
          </a:xfrm>
          <a:prstGeom prst="rect">
            <a:avLst/>
          </a:prstGeom>
          <a:noFill/>
          <a:ln/>
        </p:spPr>
        <p:txBody>
          <a:bodyPr wrap="square" lIns="0" tIns="0" rIns="0" bIns="0" rtlCol="0" anchor="t"/>
          <a:lstStyle/>
          <a:p>
            <a:pPr marL="0" indent="0">
              <a:buNone/>
            </a:pPr>
            <a:r>
              <a:rPr lang="en-US" sz="1300" dirty="0">
                <a:solidFill>
                  <a:srgbClr val="1F2937"/>
                </a:solidFill>
                <a:latin typeface="Consolas" pitchFamily="34" charset="0"/>
                <a:ea typeface="Consolas" pitchFamily="34" charset="-122"/>
                <a:cs typeface="Consolas" pitchFamily="34" charset="-120"/>
              </a:rPr>
              <a:t>bool result = true || false &amp;&amp; false;</a:t>
            </a:r>
            <a:endParaRPr lang="en-US" sz="1300" dirty="0"/>
          </a:p>
        </p:txBody>
      </p:sp>
      <p:sp>
        <p:nvSpPr>
          <p:cNvPr id="11" name="Shape 9"/>
          <p:cNvSpPr/>
          <p:nvPr/>
        </p:nvSpPr>
        <p:spPr>
          <a:xfrm>
            <a:off x="548640" y="6492240"/>
            <a:ext cx="11064240" cy="0"/>
          </a:xfrm>
          <a:prstGeom prst="line">
            <a:avLst/>
          </a:prstGeom>
          <a:noFill/>
          <a:ln w="9525">
            <a:solidFill>
              <a:srgbClr val="E5E7EB"/>
            </a:solidFill>
            <a:prstDash val="solid"/>
          </a:ln>
        </p:spPr>
        <p:txBody>
          <a:bodyPr/>
          <a:lstStyle/>
          <a:p>
            <a:endParaRPr lang="en-US"/>
          </a:p>
        </p:txBody>
      </p:sp>
      <p:sp>
        <p:nvSpPr>
          <p:cNvPr id="12" name="Text 10"/>
          <p:cNvSpPr/>
          <p:nvPr/>
        </p:nvSpPr>
        <p:spPr>
          <a:xfrm>
            <a:off x="548640" y="6537960"/>
            <a:ext cx="5486400" cy="27432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C# Concepts Quiz</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F59E0B"/>
          </a:solidFill>
          <a:ln w="12700">
            <a:solidFill>
              <a:srgbClr val="F59E0B"/>
            </a:solidFill>
            <a:prstDash val="solid"/>
          </a:ln>
        </p:spPr>
        <p:txBody>
          <a:bodyPr/>
          <a:lstStyle/>
          <a:p>
            <a:endParaRPr lang="en-US"/>
          </a:p>
        </p:txBody>
      </p:sp>
      <p:sp>
        <p:nvSpPr>
          <p:cNvPr id="3" name="Shape 1"/>
          <p:cNvSpPr/>
          <p:nvPr/>
        </p:nvSpPr>
        <p:spPr>
          <a:xfrm>
            <a:off x="548640" y="365760"/>
            <a:ext cx="4023360" cy="411480"/>
          </a:xfrm>
          <a:prstGeom prst="rect">
            <a:avLst/>
          </a:prstGeom>
          <a:solidFill>
            <a:srgbClr val="FFF7E6"/>
          </a:solidFill>
          <a:ln w="9525">
            <a:solidFill>
              <a:srgbClr val="F59E0B"/>
            </a:solidFill>
            <a:prstDash val="solid"/>
          </a:ln>
        </p:spPr>
        <p:txBody>
          <a:bodyPr/>
          <a:lstStyle/>
          <a:p>
            <a:endParaRPr lang="en-US"/>
          </a:p>
        </p:txBody>
      </p:sp>
      <p:sp>
        <p:nvSpPr>
          <p:cNvPr id="4" name="Text 2"/>
          <p:cNvSpPr/>
          <p:nvPr/>
        </p:nvSpPr>
        <p:spPr>
          <a:xfrm>
            <a:off x="548640" y="365760"/>
            <a:ext cx="4023360" cy="411480"/>
          </a:xfrm>
          <a:prstGeom prst="rect">
            <a:avLst/>
          </a:prstGeom>
          <a:noFill/>
          <a:ln/>
        </p:spPr>
        <p:txBody>
          <a:bodyPr wrap="square" rtlCol="0" anchor="ctr"/>
          <a:lstStyle/>
          <a:p>
            <a:pPr marL="0" indent="0" algn="ctr">
              <a:buNone/>
            </a:pPr>
            <a:r>
              <a:rPr lang="en-US" sz="1100" b="1" kern="0" spc="200" dirty="0">
                <a:solidFill>
                  <a:srgbClr val="0B2545"/>
                </a:solidFill>
                <a:latin typeface="Calibri" pitchFamily="34" charset="0"/>
                <a:ea typeface="Calibri" pitchFamily="34" charset="-122"/>
                <a:cs typeface="Calibri" pitchFamily="34" charset="-120"/>
              </a:rPr>
              <a:t>SECTION 3 — LOGICAL OPERATORS</a:t>
            </a:r>
            <a:endParaRPr lang="en-US" sz="1100" dirty="0"/>
          </a:p>
        </p:txBody>
      </p:sp>
      <p:sp>
        <p:nvSpPr>
          <p:cNvPr id="5" name="Shape 3"/>
          <p:cNvSpPr/>
          <p:nvPr/>
        </p:nvSpPr>
        <p:spPr>
          <a:xfrm>
            <a:off x="9418320" y="365760"/>
            <a:ext cx="2194560" cy="411480"/>
          </a:xfrm>
          <a:prstGeom prst="rect">
            <a:avLst/>
          </a:prstGeom>
          <a:solidFill>
            <a:srgbClr val="ECFDF5"/>
          </a:solidFill>
          <a:ln w="9525">
            <a:solidFill>
              <a:srgbClr val="10B981"/>
            </a:solidFill>
            <a:prstDash val="solid"/>
          </a:ln>
        </p:spPr>
        <p:txBody>
          <a:bodyPr/>
          <a:lstStyle/>
          <a:p>
            <a:endParaRPr lang="en-US"/>
          </a:p>
        </p:txBody>
      </p:sp>
      <p:sp>
        <p:nvSpPr>
          <p:cNvPr id="6" name="Text 4"/>
          <p:cNvSpPr/>
          <p:nvPr/>
        </p:nvSpPr>
        <p:spPr>
          <a:xfrm>
            <a:off x="9418320" y="365760"/>
            <a:ext cx="2194560" cy="411480"/>
          </a:xfrm>
          <a:prstGeom prst="rect">
            <a:avLst/>
          </a:prstGeom>
          <a:noFill/>
          <a:ln/>
        </p:spPr>
        <p:txBody>
          <a:bodyPr wrap="square" rtlCol="0" anchor="ctr"/>
          <a:lstStyle/>
          <a:p>
            <a:pPr marL="0" indent="0" algn="ctr">
              <a:buNone/>
            </a:pPr>
            <a:r>
              <a:rPr lang="en-US" sz="1100" b="1" kern="0" spc="200" dirty="0">
                <a:solidFill>
                  <a:srgbClr val="10B981"/>
                </a:solidFill>
                <a:latin typeface="Calibri" pitchFamily="34" charset="0"/>
                <a:ea typeface="Calibri" pitchFamily="34" charset="-122"/>
                <a:cs typeface="Calibri" pitchFamily="34" charset="-120"/>
              </a:rPr>
              <a:t>Q11  ·  ANSWER</a:t>
            </a:r>
            <a:endParaRPr lang="en-US" sz="1100" dirty="0"/>
          </a:p>
        </p:txBody>
      </p:sp>
      <p:sp>
        <p:nvSpPr>
          <p:cNvPr id="7" name="Text 5"/>
          <p:cNvSpPr/>
          <p:nvPr/>
        </p:nvSpPr>
        <p:spPr>
          <a:xfrm>
            <a:off x="548640" y="1005840"/>
            <a:ext cx="11064240" cy="640080"/>
          </a:xfrm>
          <a:prstGeom prst="rect">
            <a:avLst/>
          </a:prstGeom>
          <a:noFill/>
          <a:ln/>
        </p:spPr>
        <p:txBody>
          <a:bodyPr wrap="square" rtlCol="0" anchor="t"/>
          <a:lstStyle/>
          <a:p>
            <a:pPr marL="0" indent="0">
              <a:buNone/>
            </a:pPr>
            <a:r>
              <a:rPr lang="en-US" sz="1500" i="1" dirty="0">
                <a:solidFill>
                  <a:srgbClr val="6B7280"/>
                </a:solidFill>
                <a:latin typeface="Calibri" pitchFamily="34" charset="0"/>
                <a:ea typeface="Calibri" pitchFamily="34" charset="-122"/>
                <a:cs typeface="Calibri" pitchFamily="34" charset="-120"/>
              </a:rPr>
              <a:t>What is the result of true || false &amp;&amp; false, and why?</a:t>
            </a:r>
            <a:endParaRPr lang="en-US" sz="1500" dirty="0"/>
          </a:p>
        </p:txBody>
      </p:sp>
      <p:sp>
        <p:nvSpPr>
          <p:cNvPr id="8" name="Shape 6"/>
          <p:cNvSpPr/>
          <p:nvPr/>
        </p:nvSpPr>
        <p:spPr>
          <a:xfrm>
            <a:off x="548640" y="1783080"/>
            <a:ext cx="11064240" cy="0"/>
          </a:xfrm>
          <a:prstGeom prst="line">
            <a:avLst/>
          </a:prstGeom>
          <a:noFill/>
          <a:ln w="12700">
            <a:solidFill>
              <a:srgbClr val="E5E7EB"/>
            </a:solidFill>
            <a:prstDash val="solid"/>
          </a:ln>
        </p:spPr>
        <p:txBody>
          <a:bodyPr/>
          <a:lstStyle/>
          <a:p>
            <a:endParaRPr lang="en-US"/>
          </a:p>
        </p:txBody>
      </p:sp>
      <p:sp>
        <p:nvSpPr>
          <p:cNvPr id="9" name="Shape 7"/>
          <p:cNvSpPr/>
          <p:nvPr/>
        </p:nvSpPr>
        <p:spPr>
          <a:xfrm>
            <a:off x="548640" y="1965960"/>
            <a:ext cx="11064240" cy="640080"/>
          </a:xfrm>
          <a:prstGeom prst="rect">
            <a:avLst/>
          </a:prstGeom>
          <a:solidFill>
            <a:srgbClr val="ECFDF5"/>
          </a:solidFill>
          <a:ln w="12700">
            <a:solidFill>
              <a:srgbClr val="10B981"/>
            </a:solidFill>
            <a:prstDash val="solid"/>
          </a:ln>
        </p:spPr>
        <p:txBody>
          <a:bodyPr/>
          <a:lstStyle/>
          <a:p>
            <a:endParaRPr lang="en-US"/>
          </a:p>
        </p:txBody>
      </p:sp>
      <p:sp>
        <p:nvSpPr>
          <p:cNvPr id="10" name="Text 8"/>
          <p:cNvSpPr/>
          <p:nvPr/>
        </p:nvSpPr>
        <p:spPr>
          <a:xfrm>
            <a:off x="777240" y="1965960"/>
            <a:ext cx="10607040" cy="640080"/>
          </a:xfrm>
          <a:prstGeom prst="rect">
            <a:avLst/>
          </a:prstGeom>
          <a:noFill/>
          <a:ln/>
        </p:spPr>
        <p:txBody>
          <a:bodyPr wrap="square" rtlCol="0" anchor="ctr"/>
          <a:lstStyle/>
          <a:p>
            <a:pPr marL="0" indent="0">
              <a:buNone/>
            </a:pPr>
            <a:r>
              <a:rPr lang="en-US" sz="1800" b="1" dirty="0">
                <a:solidFill>
                  <a:srgbClr val="065F46"/>
                </a:solidFill>
                <a:latin typeface="Calibri" pitchFamily="34" charset="0"/>
                <a:ea typeface="Calibri" pitchFamily="34" charset="-122"/>
                <a:cs typeface="Calibri" pitchFamily="34" charset="-120"/>
              </a:rPr>
              <a:t>result is true.</a:t>
            </a:r>
            <a:endParaRPr lang="en-US" sz="1800" dirty="0"/>
          </a:p>
        </p:txBody>
      </p:sp>
      <p:sp>
        <p:nvSpPr>
          <p:cNvPr id="11" name="Text 9"/>
          <p:cNvSpPr/>
          <p:nvPr/>
        </p:nvSpPr>
        <p:spPr>
          <a:xfrm>
            <a:off x="548640" y="2788920"/>
            <a:ext cx="11064240" cy="320040"/>
          </a:xfrm>
          <a:prstGeom prst="rect">
            <a:avLst/>
          </a:prstGeom>
          <a:noFill/>
          <a:ln/>
        </p:spPr>
        <p:txBody>
          <a:bodyPr wrap="square" rtlCol="0" anchor="ctr"/>
          <a:lstStyle/>
          <a:p>
            <a:pPr marL="0" indent="0">
              <a:buNone/>
            </a:pPr>
            <a:r>
              <a:rPr lang="en-US" sz="1200" b="1" kern="0" spc="300" dirty="0">
                <a:solidFill>
                  <a:srgbClr val="F59E0B"/>
                </a:solidFill>
                <a:latin typeface="Calibri" pitchFamily="34" charset="0"/>
                <a:ea typeface="Calibri" pitchFamily="34" charset="-122"/>
                <a:cs typeface="Calibri" pitchFamily="34" charset="-120"/>
              </a:rPr>
              <a:t>Explanation</a:t>
            </a:r>
            <a:endParaRPr lang="en-US" sz="1200" dirty="0"/>
          </a:p>
        </p:txBody>
      </p:sp>
      <p:sp>
        <p:nvSpPr>
          <p:cNvPr id="12" name="Text 10"/>
          <p:cNvSpPr/>
          <p:nvPr/>
        </p:nvSpPr>
        <p:spPr>
          <a:xfrm>
            <a:off x="548640" y="3154680"/>
            <a:ext cx="11064240" cy="2788920"/>
          </a:xfrm>
          <a:prstGeom prst="rect">
            <a:avLst/>
          </a:prstGeom>
          <a:noFill/>
          <a:ln/>
        </p:spPr>
        <p:txBody>
          <a:bodyPr wrap="square" rtlCol="0" anchor="t"/>
          <a:lstStyle/>
          <a:p>
            <a:pPr marL="0" indent="0">
              <a:buNone/>
            </a:pPr>
            <a:r>
              <a:rPr lang="en-US" sz="1600" dirty="0">
                <a:solidFill>
                  <a:srgbClr val="13315C"/>
                </a:solidFill>
                <a:latin typeface="Calibri" pitchFamily="34" charset="0"/>
                <a:ea typeface="Calibri" pitchFamily="34" charset="-122"/>
                <a:cs typeface="Calibri" pitchFamily="34" charset="-120"/>
              </a:rPr>
              <a:t>&amp;&amp; binds tighter than ||, so the compiler reads the expression as true || (false &amp;&amp; false) → true || false → true. On top of that, || short-circuits: because the left operand is already true, the right side is never even evaluated.</a:t>
            </a:r>
            <a:endParaRPr lang="en-US" sz="1600" dirty="0"/>
          </a:p>
        </p:txBody>
      </p:sp>
      <p:sp>
        <p:nvSpPr>
          <p:cNvPr id="13" name="Shape 11"/>
          <p:cNvSpPr/>
          <p:nvPr/>
        </p:nvSpPr>
        <p:spPr>
          <a:xfrm>
            <a:off x="548640" y="6492240"/>
            <a:ext cx="11064240" cy="0"/>
          </a:xfrm>
          <a:prstGeom prst="line">
            <a:avLst/>
          </a:prstGeom>
          <a:noFill/>
          <a:ln w="9525">
            <a:solidFill>
              <a:srgbClr val="E5E7EB"/>
            </a:solidFill>
            <a:prstDash val="solid"/>
          </a:ln>
        </p:spPr>
        <p:txBody>
          <a:bodyPr/>
          <a:lstStyle/>
          <a:p>
            <a:endParaRPr lang="en-US"/>
          </a:p>
        </p:txBody>
      </p:sp>
      <p:sp>
        <p:nvSpPr>
          <p:cNvPr id="14" name="Text 12"/>
          <p:cNvSpPr/>
          <p:nvPr/>
        </p:nvSpPr>
        <p:spPr>
          <a:xfrm>
            <a:off x="548640" y="6537960"/>
            <a:ext cx="5486400" cy="27432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C# Concepts Quiz</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F59E0B"/>
          </a:solidFill>
          <a:ln w="12700">
            <a:solidFill>
              <a:srgbClr val="F59E0B"/>
            </a:solidFill>
            <a:prstDash val="solid"/>
          </a:ln>
        </p:spPr>
        <p:txBody>
          <a:bodyPr/>
          <a:lstStyle/>
          <a:p>
            <a:endParaRPr lang="en-US"/>
          </a:p>
        </p:txBody>
      </p:sp>
      <p:sp>
        <p:nvSpPr>
          <p:cNvPr id="3" name="Shape 1"/>
          <p:cNvSpPr/>
          <p:nvPr/>
        </p:nvSpPr>
        <p:spPr>
          <a:xfrm>
            <a:off x="548640" y="365760"/>
            <a:ext cx="4023360" cy="411480"/>
          </a:xfrm>
          <a:prstGeom prst="rect">
            <a:avLst/>
          </a:prstGeom>
          <a:solidFill>
            <a:srgbClr val="FFF7E6"/>
          </a:solidFill>
          <a:ln w="9525">
            <a:solidFill>
              <a:srgbClr val="F59E0B"/>
            </a:solidFill>
            <a:prstDash val="solid"/>
          </a:ln>
        </p:spPr>
        <p:txBody>
          <a:bodyPr/>
          <a:lstStyle/>
          <a:p>
            <a:endParaRPr lang="en-US"/>
          </a:p>
        </p:txBody>
      </p:sp>
      <p:sp>
        <p:nvSpPr>
          <p:cNvPr id="4" name="Text 2"/>
          <p:cNvSpPr/>
          <p:nvPr/>
        </p:nvSpPr>
        <p:spPr>
          <a:xfrm>
            <a:off x="548640" y="365760"/>
            <a:ext cx="4023360" cy="411480"/>
          </a:xfrm>
          <a:prstGeom prst="rect">
            <a:avLst/>
          </a:prstGeom>
          <a:noFill/>
          <a:ln/>
        </p:spPr>
        <p:txBody>
          <a:bodyPr wrap="square" rtlCol="0" anchor="ctr"/>
          <a:lstStyle/>
          <a:p>
            <a:pPr marL="0" indent="0" algn="ctr">
              <a:buNone/>
            </a:pPr>
            <a:r>
              <a:rPr lang="en-US" sz="1100" b="1" kern="0" spc="200" dirty="0">
                <a:solidFill>
                  <a:srgbClr val="0B2545"/>
                </a:solidFill>
                <a:latin typeface="Calibri" pitchFamily="34" charset="0"/>
                <a:ea typeface="Calibri" pitchFamily="34" charset="-122"/>
                <a:cs typeface="Calibri" pitchFamily="34" charset="-120"/>
              </a:rPr>
              <a:t>SECTION 4 — LOOPS</a:t>
            </a:r>
            <a:endParaRPr lang="en-US" sz="1100" dirty="0"/>
          </a:p>
        </p:txBody>
      </p:sp>
      <p:sp>
        <p:nvSpPr>
          <p:cNvPr id="5" name="Shape 3"/>
          <p:cNvSpPr/>
          <p:nvPr/>
        </p:nvSpPr>
        <p:spPr>
          <a:xfrm>
            <a:off x="9418320" y="365760"/>
            <a:ext cx="2194560" cy="411480"/>
          </a:xfrm>
          <a:prstGeom prst="rect">
            <a:avLst/>
          </a:prstGeom>
          <a:solidFill>
            <a:srgbClr val="EEF2FF"/>
          </a:solidFill>
          <a:ln w="9525">
            <a:solidFill>
              <a:srgbClr val="0B2545"/>
            </a:solidFill>
            <a:prstDash val="solid"/>
          </a:ln>
        </p:spPr>
        <p:txBody>
          <a:bodyPr/>
          <a:lstStyle/>
          <a:p>
            <a:endParaRPr lang="en-US"/>
          </a:p>
        </p:txBody>
      </p:sp>
      <p:sp>
        <p:nvSpPr>
          <p:cNvPr id="6" name="Text 4"/>
          <p:cNvSpPr/>
          <p:nvPr/>
        </p:nvSpPr>
        <p:spPr>
          <a:xfrm>
            <a:off x="9418320" y="365760"/>
            <a:ext cx="2194560" cy="411480"/>
          </a:xfrm>
          <a:prstGeom prst="rect">
            <a:avLst/>
          </a:prstGeom>
          <a:noFill/>
          <a:ln/>
        </p:spPr>
        <p:txBody>
          <a:bodyPr wrap="square" rtlCol="0" anchor="ctr"/>
          <a:lstStyle/>
          <a:p>
            <a:pPr marL="0" indent="0" algn="ctr">
              <a:buNone/>
            </a:pPr>
            <a:r>
              <a:rPr lang="en-US" sz="1100" b="1" kern="0" spc="200" dirty="0">
                <a:solidFill>
                  <a:srgbClr val="0B2545"/>
                </a:solidFill>
                <a:latin typeface="Calibri" pitchFamily="34" charset="0"/>
                <a:ea typeface="Calibri" pitchFamily="34" charset="-122"/>
                <a:cs typeface="Calibri" pitchFamily="34" charset="-120"/>
              </a:rPr>
              <a:t>Q12  ·  QUESTION</a:t>
            </a:r>
            <a:endParaRPr lang="en-US" sz="1100" dirty="0"/>
          </a:p>
        </p:txBody>
      </p:sp>
      <p:sp>
        <p:nvSpPr>
          <p:cNvPr id="7" name="Text 5"/>
          <p:cNvSpPr/>
          <p:nvPr/>
        </p:nvSpPr>
        <p:spPr>
          <a:xfrm>
            <a:off x="548640" y="1005840"/>
            <a:ext cx="11064240" cy="320040"/>
          </a:xfrm>
          <a:prstGeom prst="rect">
            <a:avLst/>
          </a:prstGeom>
          <a:noFill/>
          <a:ln/>
        </p:spPr>
        <p:txBody>
          <a:bodyPr wrap="square" rtlCol="0" anchor="ctr"/>
          <a:lstStyle/>
          <a:p>
            <a:pPr marL="0" indent="0">
              <a:buNone/>
            </a:pPr>
            <a:r>
              <a:rPr lang="en-US" sz="1200" b="1" kern="0" spc="300" dirty="0">
                <a:solidFill>
                  <a:srgbClr val="F59E0B"/>
                </a:solidFill>
                <a:latin typeface="Calibri" pitchFamily="34" charset="0"/>
                <a:ea typeface="Calibri" pitchFamily="34" charset="-122"/>
                <a:cs typeface="Calibri" pitchFamily="34" charset="-120"/>
              </a:rPr>
              <a:t>SHORT ANSWER</a:t>
            </a:r>
            <a:endParaRPr lang="en-US" sz="1200" dirty="0"/>
          </a:p>
        </p:txBody>
      </p:sp>
      <p:sp>
        <p:nvSpPr>
          <p:cNvPr id="8" name="Text 6"/>
          <p:cNvSpPr/>
          <p:nvPr/>
        </p:nvSpPr>
        <p:spPr>
          <a:xfrm>
            <a:off x="548640" y="1371600"/>
            <a:ext cx="11064240" cy="1097280"/>
          </a:xfrm>
          <a:prstGeom prst="rect">
            <a:avLst/>
          </a:prstGeom>
          <a:noFill/>
          <a:ln/>
        </p:spPr>
        <p:txBody>
          <a:bodyPr wrap="square" rtlCol="0" anchor="t"/>
          <a:lstStyle/>
          <a:p>
            <a:pPr marL="0" indent="0">
              <a:buNone/>
            </a:pPr>
            <a:r>
              <a:rPr lang="en-US" sz="2600" b="1" dirty="0">
                <a:solidFill>
                  <a:srgbClr val="0B2545"/>
                </a:solidFill>
                <a:latin typeface="Calibri" pitchFamily="34" charset="0"/>
                <a:ea typeface="Calibri" pitchFamily="34" charset="-122"/>
                <a:cs typeface="Calibri" pitchFamily="34" charset="-120"/>
              </a:rPr>
              <a:t>What is the key difference between a while loop and a do…while loop?</a:t>
            </a:r>
            <a:endParaRPr lang="en-US" sz="2600" dirty="0"/>
          </a:p>
        </p:txBody>
      </p:sp>
      <p:sp>
        <p:nvSpPr>
          <p:cNvPr id="9" name="Shape 7"/>
          <p:cNvSpPr/>
          <p:nvPr/>
        </p:nvSpPr>
        <p:spPr>
          <a:xfrm>
            <a:off x="548640" y="6492240"/>
            <a:ext cx="11064240" cy="0"/>
          </a:xfrm>
          <a:prstGeom prst="line">
            <a:avLst/>
          </a:prstGeom>
          <a:noFill/>
          <a:ln w="9525">
            <a:solidFill>
              <a:srgbClr val="E5E7EB"/>
            </a:solidFill>
            <a:prstDash val="solid"/>
          </a:ln>
        </p:spPr>
        <p:txBody>
          <a:bodyPr/>
          <a:lstStyle/>
          <a:p>
            <a:endParaRPr lang="en-US"/>
          </a:p>
        </p:txBody>
      </p:sp>
      <p:sp>
        <p:nvSpPr>
          <p:cNvPr id="10" name="Text 8"/>
          <p:cNvSpPr/>
          <p:nvPr/>
        </p:nvSpPr>
        <p:spPr>
          <a:xfrm>
            <a:off x="548640" y="6537960"/>
            <a:ext cx="5486400" cy="27432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C# Concepts Quiz</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F59E0B"/>
          </a:solidFill>
          <a:ln w="12700">
            <a:solidFill>
              <a:srgbClr val="F59E0B"/>
            </a:solidFill>
            <a:prstDash val="solid"/>
          </a:ln>
        </p:spPr>
        <p:txBody>
          <a:bodyPr/>
          <a:lstStyle/>
          <a:p>
            <a:endParaRPr lang="en-US"/>
          </a:p>
        </p:txBody>
      </p:sp>
      <p:sp>
        <p:nvSpPr>
          <p:cNvPr id="3" name="Shape 1"/>
          <p:cNvSpPr/>
          <p:nvPr/>
        </p:nvSpPr>
        <p:spPr>
          <a:xfrm>
            <a:off x="548640" y="365760"/>
            <a:ext cx="4023360" cy="411480"/>
          </a:xfrm>
          <a:prstGeom prst="rect">
            <a:avLst/>
          </a:prstGeom>
          <a:solidFill>
            <a:srgbClr val="FFF7E6"/>
          </a:solidFill>
          <a:ln w="9525">
            <a:solidFill>
              <a:srgbClr val="F59E0B"/>
            </a:solidFill>
            <a:prstDash val="solid"/>
          </a:ln>
        </p:spPr>
        <p:txBody>
          <a:bodyPr/>
          <a:lstStyle/>
          <a:p>
            <a:endParaRPr lang="en-US"/>
          </a:p>
        </p:txBody>
      </p:sp>
      <p:sp>
        <p:nvSpPr>
          <p:cNvPr id="4" name="Text 2"/>
          <p:cNvSpPr/>
          <p:nvPr/>
        </p:nvSpPr>
        <p:spPr>
          <a:xfrm>
            <a:off x="548640" y="365760"/>
            <a:ext cx="4023360" cy="411480"/>
          </a:xfrm>
          <a:prstGeom prst="rect">
            <a:avLst/>
          </a:prstGeom>
          <a:noFill/>
          <a:ln/>
        </p:spPr>
        <p:txBody>
          <a:bodyPr wrap="square" rtlCol="0" anchor="ctr"/>
          <a:lstStyle/>
          <a:p>
            <a:pPr marL="0" indent="0" algn="ctr">
              <a:buNone/>
            </a:pPr>
            <a:r>
              <a:rPr lang="en-US" sz="1100" b="1" kern="0" spc="200" dirty="0">
                <a:solidFill>
                  <a:srgbClr val="0B2545"/>
                </a:solidFill>
                <a:latin typeface="Calibri" pitchFamily="34" charset="0"/>
                <a:ea typeface="Calibri" pitchFamily="34" charset="-122"/>
                <a:cs typeface="Calibri" pitchFamily="34" charset="-120"/>
              </a:rPr>
              <a:t>SECTION 4 — LOOPS</a:t>
            </a:r>
            <a:endParaRPr lang="en-US" sz="1100" dirty="0"/>
          </a:p>
        </p:txBody>
      </p:sp>
      <p:sp>
        <p:nvSpPr>
          <p:cNvPr id="5" name="Shape 3"/>
          <p:cNvSpPr/>
          <p:nvPr/>
        </p:nvSpPr>
        <p:spPr>
          <a:xfrm>
            <a:off x="9418320" y="365760"/>
            <a:ext cx="2194560" cy="411480"/>
          </a:xfrm>
          <a:prstGeom prst="rect">
            <a:avLst/>
          </a:prstGeom>
          <a:solidFill>
            <a:srgbClr val="ECFDF5"/>
          </a:solidFill>
          <a:ln w="9525">
            <a:solidFill>
              <a:srgbClr val="10B981"/>
            </a:solidFill>
            <a:prstDash val="solid"/>
          </a:ln>
        </p:spPr>
        <p:txBody>
          <a:bodyPr/>
          <a:lstStyle/>
          <a:p>
            <a:endParaRPr lang="en-US"/>
          </a:p>
        </p:txBody>
      </p:sp>
      <p:sp>
        <p:nvSpPr>
          <p:cNvPr id="6" name="Text 4"/>
          <p:cNvSpPr/>
          <p:nvPr/>
        </p:nvSpPr>
        <p:spPr>
          <a:xfrm>
            <a:off x="9418320" y="365760"/>
            <a:ext cx="2194560" cy="411480"/>
          </a:xfrm>
          <a:prstGeom prst="rect">
            <a:avLst/>
          </a:prstGeom>
          <a:noFill/>
          <a:ln/>
        </p:spPr>
        <p:txBody>
          <a:bodyPr wrap="square" rtlCol="0" anchor="ctr"/>
          <a:lstStyle/>
          <a:p>
            <a:pPr marL="0" indent="0" algn="ctr">
              <a:buNone/>
            </a:pPr>
            <a:r>
              <a:rPr lang="en-US" sz="1100" b="1" kern="0" spc="200" dirty="0">
                <a:solidFill>
                  <a:srgbClr val="10B981"/>
                </a:solidFill>
                <a:latin typeface="Calibri" pitchFamily="34" charset="0"/>
                <a:ea typeface="Calibri" pitchFamily="34" charset="-122"/>
                <a:cs typeface="Calibri" pitchFamily="34" charset="-120"/>
              </a:rPr>
              <a:t>Q12  ·  ANSWER</a:t>
            </a:r>
            <a:endParaRPr lang="en-US" sz="1100" dirty="0"/>
          </a:p>
        </p:txBody>
      </p:sp>
      <p:sp>
        <p:nvSpPr>
          <p:cNvPr id="7" name="Text 5"/>
          <p:cNvSpPr/>
          <p:nvPr/>
        </p:nvSpPr>
        <p:spPr>
          <a:xfrm>
            <a:off x="548640" y="1005840"/>
            <a:ext cx="11064240" cy="640080"/>
          </a:xfrm>
          <a:prstGeom prst="rect">
            <a:avLst/>
          </a:prstGeom>
          <a:noFill/>
          <a:ln/>
        </p:spPr>
        <p:txBody>
          <a:bodyPr wrap="square" rtlCol="0" anchor="t"/>
          <a:lstStyle/>
          <a:p>
            <a:pPr marL="0" indent="0">
              <a:buNone/>
            </a:pPr>
            <a:r>
              <a:rPr lang="en-US" sz="1500" i="1" dirty="0">
                <a:solidFill>
                  <a:srgbClr val="6B7280"/>
                </a:solidFill>
                <a:latin typeface="Calibri" pitchFamily="34" charset="0"/>
                <a:ea typeface="Calibri" pitchFamily="34" charset="-122"/>
                <a:cs typeface="Calibri" pitchFamily="34" charset="-120"/>
              </a:rPr>
              <a:t>Key difference between a while loop and a do…while loop?</a:t>
            </a:r>
            <a:endParaRPr lang="en-US" sz="1500" dirty="0"/>
          </a:p>
        </p:txBody>
      </p:sp>
      <p:sp>
        <p:nvSpPr>
          <p:cNvPr id="8" name="Shape 6"/>
          <p:cNvSpPr/>
          <p:nvPr/>
        </p:nvSpPr>
        <p:spPr>
          <a:xfrm>
            <a:off x="548640" y="1783080"/>
            <a:ext cx="11064240" cy="0"/>
          </a:xfrm>
          <a:prstGeom prst="line">
            <a:avLst/>
          </a:prstGeom>
          <a:noFill/>
          <a:ln w="12700">
            <a:solidFill>
              <a:srgbClr val="E5E7EB"/>
            </a:solidFill>
            <a:prstDash val="solid"/>
          </a:ln>
        </p:spPr>
        <p:txBody>
          <a:bodyPr/>
          <a:lstStyle/>
          <a:p>
            <a:endParaRPr lang="en-US"/>
          </a:p>
        </p:txBody>
      </p:sp>
      <p:sp>
        <p:nvSpPr>
          <p:cNvPr id="9" name="Shape 7"/>
          <p:cNvSpPr/>
          <p:nvPr/>
        </p:nvSpPr>
        <p:spPr>
          <a:xfrm>
            <a:off x="548640" y="1965960"/>
            <a:ext cx="11064240" cy="640080"/>
          </a:xfrm>
          <a:prstGeom prst="rect">
            <a:avLst/>
          </a:prstGeom>
          <a:solidFill>
            <a:srgbClr val="ECFDF5"/>
          </a:solidFill>
          <a:ln w="12700">
            <a:solidFill>
              <a:srgbClr val="10B981"/>
            </a:solidFill>
            <a:prstDash val="solid"/>
          </a:ln>
        </p:spPr>
        <p:txBody>
          <a:bodyPr/>
          <a:lstStyle/>
          <a:p>
            <a:endParaRPr lang="en-US"/>
          </a:p>
        </p:txBody>
      </p:sp>
      <p:sp>
        <p:nvSpPr>
          <p:cNvPr id="10" name="Text 8"/>
          <p:cNvSpPr/>
          <p:nvPr/>
        </p:nvSpPr>
        <p:spPr>
          <a:xfrm>
            <a:off x="777240" y="1965960"/>
            <a:ext cx="10607040" cy="640080"/>
          </a:xfrm>
          <a:prstGeom prst="rect">
            <a:avLst/>
          </a:prstGeom>
          <a:noFill/>
          <a:ln/>
        </p:spPr>
        <p:txBody>
          <a:bodyPr wrap="square" rtlCol="0" anchor="ctr"/>
          <a:lstStyle/>
          <a:p>
            <a:pPr marL="0" indent="0">
              <a:buNone/>
            </a:pPr>
            <a:r>
              <a:rPr lang="en-US" sz="1800" b="1" dirty="0">
                <a:solidFill>
                  <a:srgbClr val="065F46"/>
                </a:solidFill>
                <a:latin typeface="Calibri" pitchFamily="34" charset="0"/>
                <a:ea typeface="Calibri" pitchFamily="34" charset="-122"/>
                <a:cs typeface="Calibri" pitchFamily="34" charset="-120"/>
              </a:rPr>
              <a:t>A while loop tests before the body; a do…while loop tests after.</a:t>
            </a:r>
            <a:endParaRPr lang="en-US" sz="1800" dirty="0"/>
          </a:p>
        </p:txBody>
      </p:sp>
      <p:sp>
        <p:nvSpPr>
          <p:cNvPr id="11" name="Text 9"/>
          <p:cNvSpPr/>
          <p:nvPr/>
        </p:nvSpPr>
        <p:spPr>
          <a:xfrm>
            <a:off x="548640" y="2788920"/>
            <a:ext cx="11064240" cy="320040"/>
          </a:xfrm>
          <a:prstGeom prst="rect">
            <a:avLst/>
          </a:prstGeom>
          <a:noFill/>
          <a:ln/>
        </p:spPr>
        <p:txBody>
          <a:bodyPr wrap="square" rtlCol="0" anchor="ctr"/>
          <a:lstStyle/>
          <a:p>
            <a:pPr marL="0" indent="0">
              <a:buNone/>
            </a:pPr>
            <a:r>
              <a:rPr lang="en-US" sz="1200" b="1" kern="0" spc="300" dirty="0">
                <a:solidFill>
                  <a:srgbClr val="F59E0B"/>
                </a:solidFill>
                <a:latin typeface="Calibri" pitchFamily="34" charset="0"/>
                <a:ea typeface="Calibri" pitchFamily="34" charset="-122"/>
                <a:cs typeface="Calibri" pitchFamily="34" charset="-120"/>
              </a:rPr>
              <a:t>Explanation</a:t>
            </a:r>
            <a:endParaRPr lang="en-US" sz="1200" dirty="0"/>
          </a:p>
        </p:txBody>
      </p:sp>
      <p:sp>
        <p:nvSpPr>
          <p:cNvPr id="12" name="Text 10"/>
          <p:cNvSpPr/>
          <p:nvPr/>
        </p:nvSpPr>
        <p:spPr>
          <a:xfrm>
            <a:off x="548640" y="3154680"/>
            <a:ext cx="11064240" cy="2788920"/>
          </a:xfrm>
          <a:prstGeom prst="rect">
            <a:avLst/>
          </a:prstGeom>
          <a:noFill/>
          <a:ln/>
        </p:spPr>
        <p:txBody>
          <a:bodyPr wrap="square" rtlCol="0" anchor="t"/>
          <a:lstStyle/>
          <a:p>
            <a:pPr marL="0" indent="0">
              <a:buNone/>
            </a:pPr>
            <a:r>
              <a:rPr lang="en-US" sz="1600" dirty="0">
                <a:solidFill>
                  <a:srgbClr val="13315C"/>
                </a:solidFill>
                <a:latin typeface="Calibri" pitchFamily="34" charset="0"/>
                <a:ea typeface="Calibri" pitchFamily="34" charset="-122"/>
                <a:cs typeface="Calibri" pitchFamily="34" charset="-120"/>
              </a:rPr>
              <a:t>while checks the condition first, so the body may execute zero times if the condition starts out false. do…while runs the body once before checking, so it always executes at least one iteration. Use do…while when the first pass is mandatory — for example, prompting the user before validating input.</a:t>
            </a:r>
            <a:endParaRPr lang="en-US" sz="1600" dirty="0"/>
          </a:p>
        </p:txBody>
      </p:sp>
      <p:sp>
        <p:nvSpPr>
          <p:cNvPr id="13" name="Shape 11"/>
          <p:cNvSpPr/>
          <p:nvPr/>
        </p:nvSpPr>
        <p:spPr>
          <a:xfrm>
            <a:off x="548640" y="6492240"/>
            <a:ext cx="11064240" cy="0"/>
          </a:xfrm>
          <a:prstGeom prst="line">
            <a:avLst/>
          </a:prstGeom>
          <a:noFill/>
          <a:ln w="9525">
            <a:solidFill>
              <a:srgbClr val="E5E7EB"/>
            </a:solidFill>
            <a:prstDash val="solid"/>
          </a:ln>
        </p:spPr>
        <p:txBody>
          <a:bodyPr/>
          <a:lstStyle/>
          <a:p>
            <a:endParaRPr lang="en-US"/>
          </a:p>
        </p:txBody>
      </p:sp>
      <p:sp>
        <p:nvSpPr>
          <p:cNvPr id="14" name="Text 12"/>
          <p:cNvSpPr/>
          <p:nvPr/>
        </p:nvSpPr>
        <p:spPr>
          <a:xfrm>
            <a:off x="548640" y="6537960"/>
            <a:ext cx="5486400" cy="27432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C# Concepts Quiz</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F59E0B"/>
          </a:solidFill>
          <a:ln w="12700">
            <a:solidFill>
              <a:srgbClr val="F59E0B"/>
            </a:solidFill>
            <a:prstDash val="solid"/>
          </a:ln>
        </p:spPr>
        <p:txBody>
          <a:bodyPr/>
          <a:lstStyle/>
          <a:p>
            <a:endParaRPr lang="en-US"/>
          </a:p>
        </p:txBody>
      </p:sp>
      <p:sp>
        <p:nvSpPr>
          <p:cNvPr id="3" name="Shape 1"/>
          <p:cNvSpPr/>
          <p:nvPr/>
        </p:nvSpPr>
        <p:spPr>
          <a:xfrm>
            <a:off x="548640" y="365760"/>
            <a:ext cx="4023360" cy="411480"/>
          </a:xfrm>
          <a:prstGeom prst="rect">
            <a:avLst/>
          </a:prstGeom>
          <a:solidFill>
            <a:srgbClr val="FFF7E6"/>
          </a:solidFill>
          <a:ln w="9525">
            <a:solidFill>
              <a:srgbClr val="F59E0B"/>
            </a:solidFill>
            <a:prstDash val="solid"/>
          </a:ln>
        </p:spPr>
        <p:txBody>
          <a:bodyPr/>
          <a:lstStyle/>
          <a:p>
            <a:endParaRPr lang="en-US"/>
          </a:p>
        </p:txBody>
      </p:sp>
      <p:sp>
        <p:nvSpPr>
          <p:cNvPr id="4" name="Text 2"/>
          <p:cNvSpPr/>
          <p:nvPr/>
        </p:nvSpPr>
        <p:spPr>
          <a:xfrm>
            <a:off x="548640" y="365760"/>
            <a:ext cx="4023360" cy="411480"/>
          </a:xfrm>
          <a:prstGeom prst="rect">
            <a:avLst/>
          </a:prstGeom>
          <a:noFill/>
          <a:ln/>
        </p:spPr>
        <p:txBody>
          <a:bodyPr wrap="square" rtlCol="0" anchor="ctr"/>
          <a:lstStyle/>
          <a:p>
            <a:pPr marL="0" indent="0" algn="ctr">
              <a:buNone/>
            </a:pPr>
            <a:r>
              <a:rPr lang="en-US" sz="1100" b="1" kern="0" spc="200" dirty="0">
                <a:solidFill>
                  <a:srgbClr val="0B2545"/>
                </a:solidFill>
                <a:latin typeface="Calibri" pitchFamily="34" charset="0"/>
                <a:ea typeface="Calibri" pitchFamily="34" charset="-122"/>
                <a:cs typeface="Calibri" pitchFamily="34" charset="-120"/>
              </a:rPr>
              <a:t>SECTION 4 — LOOPS</a:t>
            </a:r>
            <a:endParaRPr lang="en-US" sz="1100" dirty="0"/>
          </a:p>
        </p:txBody>
      </p:sp>
      <p:sp>
        <p:nvSpPr>
          <p:cNvPr id="5" name="Shape 3"/>
          <p:cNvSpPr/>
          <p:nvPr/>
        </p:nvSpPr>
        <p:spPr>
          <a:xfrm>
            <a:off x="9418320" y="365760"/>
            <a:ext cx="2194560" cy="411480"/>
          </a:xfrm>
          <a:prstGeom prst="rect">
            <a:avLst/>
          </a:prstGeom>
          <a:solidFill>
            <a:srgbClr val="EEF2FF"/>
          </a:solidFill>
          <a:ln w="9525">
            <a:solidFill>
              <a:srgbClr val="0B2545"/>
            </a:solidFill>
            <a:prstDash val="solid"/>
          </a:ln>
        </p:spPr>
        <p:txBody>
          <a:bodyPr/>
          <a:lstStyle/>
          <a:p>
            <a:endParaRPr lang="en-US"/>
          </a:p>
        </p:txBody>
      </p:sp>
      <p:sp>
        <p:nvSpPr>
          <p:cNvPr id="6" name="Text 4"/>
          <p:cNvSpPr/>
          <p:nvPr/>
        </p:nvSpPr>
        <p:spPr>
          <a:xfrm>
            <a:off x="9418320" y="365760"/>
            <a:ext cx="2194560" cy="411480"/>
          </a:xfrm>
          <a:prstGeom prst="rect">
            <a:avLst/>
          </a:prstGeom>
          <a:noFill/>
          <a:ln/>
        </p:spPr>
        <p:txBody>
          <a:bodyPr wrap="square" rtlCol="0" anchor="ctr"/>
          <a:lstStyle/>
          <a:p>
            <a:pPr marL="0" indent="0" algn="ctr">
              <a:buNone/>
            </a:pPr>
            <a:r>
              <a:rPr lang="en-US" sz="1100" b="1" kern="0" spc="200" dirty="0">
                <a:solidFill>
                  <a:srgbClr val="0B2545"/>
                </a:solidFill>
                <a:latin typeface="Calibri" pitchFamily="34" charset="0"/>
                <a:ea typeface="Calibri" pitchFamily="34" charset="-122"/>
                <a:cs typeface="Calibri" pitchFamily="34" charset="-120"/>
              </a:rPr>
              <a:t>Q13  ·  QUESTION</a:t>
            </a:r>
            <a:endParaRPr lang="en-US" sz="1100" dirty="0"/>
          </a:p>
        </p:txBody>
      </p:sp>
      <p:sp>
        <p:nvSpPr>
          <p:cNvPr id="7" name="Text 5"/>
          <p:cNvSpPr/>
          <p:nvPr/>
        </p:nvSpPr>
        <p:spPr>
          <a:xfrm>
            <a:off x="548640" y="1005840"/>
            <a:ext cx="11064240" cy="320040"/>
          </a:xfrm>
          <a:prstGeom prst="rect">
            <a:avLst/>
          </a:prstGeom>
          <a:noFill/>
          <a:ln/>
        </p:spPr>
        <p:txBody>
          <a:bodyPr wrap="square" rtlCol="0" anchor="ctr"/>
          <a:lstStyle/>
          <a:p>
            <a:pPr marL="0" indent="0">
              <a:buNone/>
            </a:pPr>
            <a:r>
              <a:rPr lang="en-US" sz="1200" b="1" kern="0" spc="300" dirty="0">
                <a:solidFill>
                  <a:srgbClr val="F59E0B"/>
                </a:solidFill>
                <a:latin typeface="Calibri" pitchFamily="34" charset="0"/>
                <a:ea typeface="Calibri" pitchFamily="34" charset="-122"/>
                <a:cs typeface="Calibri" pitchFamily="34" charset="-120"/>
              </a:rPr>
              <a:t>CODE COMPLETION</a:t>
            </a:r>
            <a:endParaRPr lang="en-US" sz="1200" dirty="0"/>
          </a:p>
        </p:txBody>
      </p:sp>
      <p:sp>
        <p:nvSpPr>
          <p:cNvPr id="8" name="Text 6"/>
          <p:cNvSpPr/>
          <p:nvPr/>
        </p:nvSpPr>
        <p:spPr>
          <a:xfrm>
            <a:off x="548640" y="1371600"/>
            <a:ext cx="11064240" cy="1097280"/>
          </a:xfrm>
          <a:prstGeom prst="rect">
            <a:avLst/>
          </a:prstGeom>
          <a:noFill/>
          <a:ln/>
        </p:spPr>
        <p:txBody>
          <a:bodyPr wrap="square" rtlCol="0" anchor="t"/>
          <a:lstStyle/>
          <a:p>
            <a:pPr marL="0" indent="0">
              <a:buNone/>
            </a:pPr>
            <a:r>
              <a:rPr lang="en-US" sz="2600" b="1" dirty="0">
                <a:solidFill>
                  <a:srgbClr val="0B2545"/>
                </a:solidFill>
                <a:latin typeface="Calibri" pitchFamily="34" charset="0"/>
                <a:ea typeface="Calibri" pitchFamily="34" charset="-122"/>
                <a:cs typeface="Calibri" pitchFamily="34" charset="-120"/>
              </a:rPr>
              <a:t>Fill in the missing condition to make this loop count from 1 to 5.</a:t>
            </a:r>
            <a:endParaRPr lang="en-US" sz="2600" dirty="0"/>
          </a:p>
        </p:txBody>
      </p:sp>
      <p:sp>
        <p:nvSpPr>
          <p:cNvPr id="9" name="Shape 7"/>
          <p:cNvSpPr/>
          <p:nvPr/>
        </p:nvSpPr>
        <p:spPr>
          <a:xfrm>
            <a:off x="548640" y="2560320"/>
            <a:ext cx="11064240" cy="1975104"/>
          </a:xfrm>
          <a:prstGeom prst="rect">
            <a:avLst/>
          </a:prstGeom>
          <a:solidFill>
            <a:srgbClr val="F3F4F6"/>
          </a:solidFill>
          <a:ln w="6350">
            <a:solidFill>
              <a:srgbClr val="E5E7EB"/>
            </a:solidFill>
            <a:prstDash val="solid"/>
          </a:ln>
        </p:spPr>
        <p:txBody>
          <a:bodyPr/>
          <a:lstStyle/>
          <a:p>
            <a:endParaRPr lang="en-US"/>
          </a:p>
        </p:txBody>
      </p:sp>
      <p:sp>
        <p:nvSpPr>
          <p:cNvPr id="10" name="Text 8"/>
          <p:cNvSpPr/>
          <p:nvPr/>
        </p:nvSpPr>
        <p:spPr>
          <a:xfrm>
            <a:off x="685800" y="2633472"/>
            <a:ext cx="10789920" cy="1828800"/>
          </a:xfrm>
          <a:prstGeom prst="rect">
            <a:avLst/>
          </a:prstGeom>
          <a:noFill/>
          <a:ln/>
        </p:spPr>
        <p:txBody>
          <a:bodyPr wrap="square" lIns="0" tIns="0" rIns="0" bIns="0" rtlCol="0" anchor="t"/>
          <a:lstStyle/>
          <a:p>
            <a:pPr marL="0" indent="0">
              <a:buNone/>
            </a:pPr>
            <a:r>
              <a:rPr lang="en-US" sz="1300" dirty="0">
                <a:solidFill>
                  <a:srgbClr val="1F2937"/>
                </a:solidFill>
                <a:latin typeface="Consolas" pitchFamily="34" charset="0"/>
                <a:ea typeface="Consolas" pitchFamily="34" charset="-122"/>
                <a:cs typeface="Consolas" pitchFamily="34" charset="-120"/>
              </a:rPr>
              <a:t>int i = 1;</a:t>
            </a:r>
            <a:endParaRPr lang="en-US" sz="1300" dirty="0"/>
          </a:p>
          <a:p>
            <a:pPr marL="0" indent="0">
              <a:buNone/>
            </a:pPr>
            <a:endParaRPr lang="en-US" sz="1300" dirty="0"/>
          </a:p>
          <a:p>
            <a:pPr marL="0" indent="0">
              <a:buNone/>
            </a:pPr>
            <a:r>
              <a:rPr lang="en-US" sz="1300" dirty="0">
                <a:solidFill>
                  <a:srgbClr val="1F2937"/>
                </a:solidFill>
                <a:latin typeface="Consolas" pitchFamily="34" charset="0"/>
                <a:ea typeface="Consolas" pitchFamily="34" charset="-122"/>
                <a:cs typeface="Consolas" pitchFamily="34" charset="-120"/>
              </a:rPr>
              <a:t>while (__________)</a:t>
            </a:r>
            <a:endParaRPr lang="en-US" sz="1300" dirty="0"/>
          </a:p>
          <a:p>
            <a:pPr marL="0" indent="0">
              <a:buNone/>
            </a:pPr>
            <a:r>
              <a:rPr lang="en-US" sz="1300" dirty="0">
                <a:solidFill>
                  <a:srgbClr val="1F2937"/>
                </a:solidFill>
                <a:latin typeface="Consolas" pitchFamily="34" charset="0"/>
                <a:ea typeface="Consolas" pitchFamily="34" charset="-122"/>
                <a:cs typeface="Consolas" pitchFamily="34" charset="-120"/>
              </a:rPr>
              <a:t>{</a:t>
            </a:r>
            <a:endParaRPr lang="en-US" sz="1300" dirty="0"/>
          </a:p>
          <a:p>
            <a:pPr marL="0" indent="0">
              <a:buNone/>
            </a:pPr>
            <a:r>
              <a:rPr lang="en-US" sz="1300" dirty="0">
                <a:solidFill>
                  <a:srgbClr val="1F2937"/>
                </a:solidFill>
                <a:latin typeface="Consolas" pitchFamily="34" charset="0"/>
                <a:ea typeface="Consolas" pitchFamily="34" charset="-122"/>
                <a:cs typeface="Consolas" pitchFamily="34" charset="-120"/>
              </a:rPr>
              <a:t>    Console.WriteLine(i);</a:t>
            </a:r>
            <a:endParaRPr lang="en-US" sz="1300" dirty="0"/>
          </a:p>
          <a:p>
            <a:pPr marL="0" indent="0">
              <a:buNone/>
            </a:pPr>
            <a:r>
              <a:rPr lang="en-US" sz="1300" dirty="0">
                <a:solidFill>
                  <a:srgbClr val="1F2937"/>
                </a:solidFill>
                <a:latin typeface="Consolas" pitchFamily="34" charset="0"/>
                <a:ea typeface="Consolas" pitchFamily="34" charset="-122"/>
                <a:cs typeface="Consolas" pitchFamily="34" charset="-120"/>
              </a:rPr>
              <a:t>    i++;</a:t>
            </a:r>
            <a:endParaRPr lang="en-US" sz="1300" dirty="0"/>
          </a:p>
          <a:p>
            <a:pPr marL="0" indent="0">
              <a:buNone/>
            </a:pPr>
            <a:r>
              <a:rPr lang="en-US" sz="1300" dirty="0">
                <a:solidFill>
                  <a:srgbClr val="1F2937"/>
                </a:solidFill>
                <a:latin typeface="Consolas" pitchFamily="34" charset="0"/>
                <a:ea typeface="Consolas" pitchFamily="34" charset="-122"/>
                <a:cs typeface="Consolas" pitchFamily="34" charset="-120"/>
              </a:rPr>
              <a:t>}</a:t>
            </a:r>
            <a:endParaRPr lang="en-US" sz="1300" dirty="0"/>
          </a:p>
        </p:txBody>
      </p:sp>
      <p:sp>
        <p:nvSpPr>
          <p:cNvPr id="11" name="Shape 9"/>
          <p:cNvSpPr/>
          <p:nvPr/>
        </p:nvSpPr>
        <p:spPr>
          <a:xfrm>
            <a:off x="548640" y="6492240"/>
            <a:ext cx="11064240" cy="0"/>
          </a:xfrm>
          <a:prstGeom prst="line">
            <a:avLst/>
          </a:prstGeom>
          <a:noFill/>
          <a:ln w="9525">
            <a:solidFill>
              <a:srgbClr val="E5E7EB"/>
            </a:solidFill>
            <a:prstDash val="solid"/>
          </a:ln>
        </p:spPr>
        <p:txBody>
          <a:bodyPr/>
          <a:lstStyle/>
          <a:p>
            <a:endParaRPr lang="en-US"/>
          </a:p>
        </p:txBody>
      </p:sp>
      <p:sp>
        <p:nvSpPr>
          <p:cNvPr id="12" name="Text 10"/>
          <p:cNvSpPr/>
          <p:nvPr/>
        </p:nvSpPr>
        <p:spPr>
          <a:xfrm>
            <a:off x="548640" y="6537960"/>
            <a:ext cx="5486400" cy="27432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C# Concepts Quiz</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F59E0B"/>
          </a:solidFill>
          <a:ln w="12700">
            <a:solidFill>
              <a:srgbClr val="F59E0B"/>
            </a:solidFill>
            <a:prstDash val="solid"/>
          </a:ln>
        </p:spPr>
        <p:txBody>
          <a:bodyPr/>
          <a:lstStyle/>
          <a:p>
            <a:endParaRPr lang="en-US"/>
          </a:p>
        </p:txBody>
      </p:sp>
      <p:sp>
        <p:nvSpPr>
          <p:cNvPr id="3" name="Shape 1"/>
          <p:cNvSpPr/>
          <p:nvPr/>
        </p:nvSpPr>
        <p:spPr>
          <a:xfrm>
            <a:off x="548640" y="365760"/>
            <a:ext cx="4023360" cy="411480"/>
          </a:xfrm>
          <a:prstGeom prst="rect">
            <a:avLst/>
          </a:prstGeom>
          <a:solidFill>
            <a:srgbClr val="FFF7E6"/>
          </a:solidFill>
          <a:ln w="9525">
            <a:solidFill>
              <a:srgbClr val="F59E0B"/>
            </a:solidFill>
            <a:prstDash val="solid"/>
          </a:ln>
        </p:spPr>
        <p:txBody>
          <a:bodyPr/>
          <a:lstStyle/>
          <a:p>
            <a:endParaRPr lang="en-US"/>
          </a:p>
        </p:txBody>
      </p:sp>
      <p:sp>
        <p:nvSpPr>
          <p:cNvPr id="4" name="Text 2"/>
          <p:cNvSpPr/>
          <p:nvPr/>
        </p:nvSpPr>
        <p:spPr>
          <a:xfrm>
            <a:off x="548640" y="365760"/>
            <a:ext cx="4023360" cy="411480"/>
          </a:xfrm>
          <a:prstGeom prst="rect">
            <a:avLst/>
          </a:prstGeom>
          <a:noFill/>
          <a:ln/>
        </p:spPr>
        <p:txBody>
          <a:bodyPr wrap="square" rtlCol="0" anchor="ctr"/>
          <a:lstStyle/>
          <a:p>
            <a:pPr marL="0" indent="0" algn="ctr">
              <a:buNone/>
            </a:pPr>
            <a:r>
              <a:rPr lang="en-US" sz="1100" b="1" kern="0" spc="200" dirty="0">
                <a:solidFill>
                  <a:srgbClr val="0B2545"/>
                </a:solidFill>
                <a:latin typeface="Calibri" pitchFamily="34" charset="0"/>
                <a:ea typeface="Calibri" pitchFamily="34" charset="-122"/>
                <a:cs typeface="Calibri" pitchFamily="34" charset="-120"/>
              </a:rPr>
              <a:t>SECTION 4 — LOOPS</a:t>
            </a:r>
            <a:endParaRPr lang="en-US" sz="1100" dirty="0"/>
          </a:p>
        </p:txBody>
      </p:sp>
      <p:sp>
        <p:nvSpPr>
          <p:cNvPr id="5" name="Shape 3"/>
          <p:cNvSpPr/>
          <p:nvPr/>
        </p:nvSpPr>
        <p:spPr>
          <a:xfrm>
            <a:off x="9418320" y="365760"/>
            <a:ext cx="2194560" cy="411480"/>
          </a:xfrm>
          <a:prstGeom prst="rect">
            <a:avLst/>
          </a:prstGeom>
          <a:solidFill>
            <a:srgbClr val="ECFDF5"/>
          </a:solidFill>
          <a:ln w="9525">
            <a:solidFill>
              <a:srgbClr val="10B981"/>
            </a:solidFill>
            <a:prstDash val="solid"/>
          </a:ln>
        </p:spPr>
        <p:txBody>
          <a:bodyPr/>
          <a:lstStyle/>
          <a:p>
            <a:endParaRPr lang="en-US"/>
          </a:p>
        </p:txBody>
      </p:sp>
      <p:sp>
        <p:nvSpPr>
          <p:cNvPr id="6" name="Text 4"/>
          <p:cNvSpPr/>
          <p:nvPr/>
        </p:nvSpPr>
        <p:spPr>
          <a:xfrm>
            <a:off x="9418320" y="365760"/>
            <a:ext cx="2194560" cy="411480"/>
          </a:xfrm>
          <a:prstGeom prst="rect">
            <a:avLst/>
          </a:prstGeom>
          <a:noFill/>
          <a:ln/>
        </p:spPr>
        <p:txBody>
          <a:bodyPr wrap="square" rtlCol="0" anchor="ctr"/>
          <a:lstStyle/>
          <a:p>
            <a:pPr marL="0" indent="0" algn="ctr">
              <a:buNone/>
            </a:pPr>
            <a:r>
              <a:rPr lang="en-US" sz="1100" b="1" kern="0" spc="200" dirty="0">
                <a:solidFill>
                  <a:srgbClr val="10B981"/>
                </a:solidFill>
                <a:latin typeface="Calibri" pitchFamily="34" charset="0"/>
                <a:ea typeface="Calibri" pitchFamily="34" charset="-122"/>
                <a:cs typeface="Calibri" pitchFamily="34" charset="-120"/>
              </a:rPr>
              <a:t>Q13  ·  ANSWER</a:t>
            </a:r>
            <a:endParaRPr lang="en-US" sz="1100" dirty="0"/>
          </a:p>
        </p:txBody>
      </p:sp>
      <p:sp>
        <p:nvSpPr>
          <p:cNvPr id="7" name="Text 5"/>
          <p:cNvSpPr/>
          <p:nvPr/>
        </p:nvSpPr>
        <p:spPr>
          <a:xfrm>
            <a:off x="548640" y="1005840"/>
            <a:ext cx="11064240" cy="640080"/>
          </a:xfrm>
          <a:prstGeom prst="rect">
            <a:avLst/>
          </a:prstGeom>
          <a:noFill/>
          <a:ln/>
        </p:spPr>
        <p:txBody>
          <a:bodyPr wrap="square" rtlCol="0" anchor="t"/>
          <a:lstStyle/>
          <a:p>
            <a:pPr marL="0" indent="0">
              <a:buNone/>
            </a:pPr>
            <a:r>
              <a:rPr lang="en-US" sz="1500" i="1" dirty="0">
                <a:solidFill>
                  <a:srgbClr val="6B7280"/>
                </a:solidFill>
                <a:latin typeface="Calibri" pitchFamily="34" charset="0"/>
                <a:ea typeface="Calibri" pitchFamily="34" charset="-122"/>
                <a:cs typeface="Calibri" pitchFamily="34" charset="-120"/>
              </a:rPr>
              <a:t>Fill in the missing condition so the loop counts from 1 to 5.</a:t>
            </a:r>
            <a:endParaRPr lang="en-US" sz="1500" dirty="0"/>
          </a:p>
        </p:txBody>
      </p:sp>
      <p:sp>
        <p:nvSpPr>
          <p:cNvPr id="8" name="Shape 6"/>
          <p:cNvSpPr/>
          <p:nvPr/>
        </p:nvSpPr>
        <p:spPr>
          <a:xfrm>
            <a:off x="548640" y="1783080"/>
            <a:ext cx="11064240" cy="0"/>
          </a:xfrm>
          <a:prstGeom prst="line">
            <a:avLst/>
          </a:prstGeom>
          <a:noFill/>
          <a:ln w="12700">
            <a:solidFill>
              <a:srgbClr val="E5E7EB"/>
            </a:solidFill>
            <a:prstDash val="solid"/>
          </a:ln>
        </p:spPr>
        <p:txBody>
          <a:bodyPr/>
          <a:lstStyle/>
          <a:p>
            <a:endParaRPr lang="en-US"/>
          </a:p>
        </p:txBody>
      </p:sp>
      <p:sp>
        <p:nvSpPr>
          <p:cNvPr id="9" name="Shape 7"/>
          <p:cNvSpPr/>
          <p:nvPr/>
        </p:nvSpPr>
        <p:spPr>
          <a:xfrm>
            <a:off x="548640" y="1965960"/>
            <a:ext cx="11064240" cy="640080"/>
          </a:xfrm>
          <a:prstGeom prst="rect">
            <a:avLst/>
          </a:prstGeom>
          <a:solidFill>
            <a:srgbClr val="ECFDF5"/>
          </a:solidFill>
          <a:ln w="12700">
            <a:solidFill>
              <a:srgbClr val="10B981"/>
            </a:solidFill>
            <a:prstDash val="solid"/>
          </a:ln>
        </p:spPr>
        <p:txBody>
          <a:bodyPr/>
          <a:lstStyle/>
          <a:p>
            <a:endParaRPr lang="en-US"/>
          </a:p>
        </p:txBody>
      </p:sp>
      <p:sp>
        <p:nvSpPr>
          <p:cNvPr id="10" name="Text 8"/>
          <p:cNvSpPr/>
          <p:nvPr/>
        </p:nvSpPr>
        <p:spPr>
          <a:xfrm>
            <a:off x="777240" y="1965960"/>
            <a:ext cx="10607040" cy="640080"/>
          </a:xfrm>
          <a:prstGeom prst="rect">
            <a:avLst/>
          </a:prstGeom>
          <a:noFill/>
          <a:ln/>
        </p:spPr>
        <p:txBody>
          <a:bodyPr wrap="square" rtlCol="0" anchor="ctr"/>
          <a:lstStyle/>
          <a:p>
            <a:pPr marL="0" indent="0">
              <a:buNone/>
            </a:pPr>
            <a:r>
              <a:rPr lang="en-US" sz="1800" b="1" dirty="0">
                <a:solidFill>
                  <a:srgbClr val="065F46"/>
                </a:solidFill>
                <a:latin typeface="Calibri" pitchFamily="34" charset="0"/>
                <a:ea typeface="Calibri" pitchFamily="34" charset="-122"/>
                <a:cs typeface="Calibri" pitchFamily="34" charset="-120"/>
              </a:rPr>
              <a:t>Use i &lt;= 5.</a:t>
            </a:r>
            <a:endParaRPr lang="en-US" sz="1800" dirty="0"/>
          </a:p>
        </p:txBody>
      </p:sp>
      <p:sp>
        <p:nvSpPr>
          <p:cNvPr id="11" name="Shape 9"/>
          <p:cNvSpPr/>
          <p:nvPr/>
        </p:nvSpPr>
        <p:spPr>
          <a:xfrm>
            <a:off x="548640" y="2788920"/>
            <a:ext cx="11064240" cy="1719072"/>
          </a:xfrm>
          <a:prstGeom prst="rect">
            <a:avLst/>
          </a:prstGeom>
          <a:solidFill>
            <a:srgbClr val="F3F4F6"/>
          </a:solidFill>
          <a:ln w="6350">
            <a:solidFill>
              <a:srgbClr val="E5E7EB"/>
            </a:solidFill>
            <a:prstDash val="solid"/>
          </a:ln>
        </p:spPr>
        <p:txBody>
          <a:bodyPr/>
          <a:lstStyle/>
          <a:p>
            <a:endParaRPr lang="en-US"/>
          </a:p>
        </p:txBody>
      </p:sp>
      <p:sp>
        <p:nvSpPr>
          <p:cNvPr id="12" name="Text 10"/>
          <p:cNvSpPr/>
          <p:nvPr/>
        </p:nvSpPr>
        <p:spPr>
          <a:xfrm>
            <a:off x="685800" y="2862072"/>
            <a:ext cx="10789920" cy="1572768"/>
          </a:xfrm>
          <a:prstGeom prst="rect">
            <a:avLst/>
          </a:prstGeom>
          <a:noFill/>
          <a:ln/>
        </p:spPr>
        <p:txBody>
          <a:bodyPr wrap="square" lIns="0" tIns="0" rIns="0" bIns="0" rtlCol="0" anchor="t"/>
          <a:lstStyle/>
          <a:p>
            <a:pPr marL="0" indent="0">
              <a:buNone/>
            </a:pPr>
            <a:r>
              <a:rPr lang="en-US" sz="1300" dirty="0">
                <a:solidFill>
                  <a:srgbClr val="1F2937"/>
                </a:solidFill>
                <a:latin typeface="Consolas" pitchFamily="34" charset="0"/>
                <a:ea typeface="Consolas" pitchFamily="34" charset="-122"/>
                <a:cs typeface="Consolas" pitchFamily="34" charset="-120"/>
              </a:rPr>
              <a:t>int i = 1;</a:t>
            </a:r>
            <a:endParaRPr lang="en-US" sz="1300" dirty="0"/>
          </a:p>
          <a:p>
            <a:pPr marL="0" indent="0">
              <a:buNone/>
            </a:pPr>
            <a:r>
              <a:rPr lang="en-US" sz="1300" dirty="0">
                <a:solidFill>
                  <a:srgbClr val="1F2937"/>
                </a:solidFill>
                <a:latin typeface="Consolas" pitchFamily="34" charset="0"/>
                <a:ea typeface="Consolas" pitchFamily="34" charset="-122"/>
                <a:cs typeface="Consolas" pitchFamily="34" charset="-120"/>
              </a:rPr>
              <a:t>while (i &lt;= 5)</a:t>
            </a:r>
            <a:endParaRPr lang="en-US" sz="1300" dirty="0"/>
          </a:p>
          <a:p>
            <a:pPr marL="0" indent="0">
              <a:buNone/>
            </a:pPr>
            <a:r>
              <a:rPr lang="en-US" sz="1300" dirty="0">
                <a:solidFill>
                  <a:srgbClr val="1F2937"/>
                </a:solidFill>
                <a:latin typeface="Consolas" pitchFamily="34" charset="0"/>
                <a:ea typeface="Consolas" pitchFamily="34" charset="-122"/>
                <a:cs typeface="Consolas" pitchFamily="34" charset="-120"/>
              </a:rPr>
              <a:t>{</a:t>
            </a:r>
            <a:endParaRPr lang="en-US" sz="1300" dirty="0"/>
          </a:p>
          <a:p>
            <a:pPr marL="0" indent="0">
              <a:buNone/>
            </a:pPr>
            <a:r>
              <a:rPr lang="en-US" sz="1300" dirty="0">
                <a:solidFill>
                  <a:srgbClr val="1F2937"/>
                </a:solidFill>
                <a:latin typeface="Consolas" pitchFamily="34" charset="0"/>
                <a:ea typeface="Consolas" pitchFamily="34" charset="-122"/>
                <a:cs typeface="Consolas" pitchFamily="34" charset="-120"/>
              </a:rPr>
              <a:t>    Console.WriteLine(i);</a:t>
            </a:r>
            <a:endParaRPr lang="en-US" sz="1300" dirty="0"/>
          </a:p>
          <a:p>
            <a:pPr marL="0" indent="0">
              <a:buNone/>
            </a:pPr>
            <a:r>
              <a:rPr lang="en-US" sz="1300" dirty="0">
                <a:solidFill>
                  <a:srgbClr val="1F2937"/>
                </a:solidFill>
                <a:latin typeface="Consolas" pitchFamily="34" charset="0"/>
                <a:ea typeface="Consolas" pitchFamily="34" charset="-122"/>
                <a:cs typeface="Consolas" pitchFamily="34" charset="-120"/>
              </a:rPr>
              <a:t>    i++;</a:t>
            </a:r>
            <a:endParaRPr lang="en-US" sz="1300" dirty="0"/>
          </a:p>
          <a:p>
            <a:pPr marL="0" indent="0">
              <a:buNone/>
            </a:pPr>
            <a:r>
              <a:rPr lang="en-US" sz="1300" dirty="0">
                <a:solidFill>
                  <a:srgbClr val="1F2937"/>
                </a:solidFill>
                <a:latin typeface="Consolas" pitchFamily="34" charset="0"/>
                <a:ea typeface="Consolas" pitchFamily="34" charset="-122"/>
                <a:cs typeface="Consolas" pitchFamily="34" charset="-120"/>
              </a:rPr>
              <a:t>}</a:t>
            </a:r>
            <a:endParaRPr lang="en-US" sz="1300" dirty="0"/>
          </a:p>
        </p:txBody>
      </p:sp>
      <p:sp>
        <p:nvSpPr>
          <p:cNvPr id="13" name="Text 11"/>
          <p:cNvSpPr/>
          <p:nvPr/>
        </p:nvSpPr>
        <p:spPr>
          <a:xfrm>
            <a:off x="548640" y="4736592"/>
            <a:ext cx="11064240" cy="320040"/>
          </a:xfrm>
          <a:prstGeom prst="rect">
            <a:avLst/>
          </a:prstGeom>
          <a:noFill/>
          <a:ln/>
        </p:spPr>
        <p:txBody>
          <a:bodyPr wrap="square" rtlCol="0" anchor="ctr"/>
          <a:lstStyle/>
          <a:p>
            <a:pPr marL="0" indent="0">
              <a:buNone/>
            </a:pPr>
            <a:r>
              <a:rPr lang="en-US" sz="1200" b="1" kern="0" spc="300" dirty="0">
                <a:solidFill>
                  <a:srgbClr val="F59E0B"/>
                </a:solidFill>
                <a:latin typeface="Calibri" pitchFamily="34" charset="0"/>
                <a:ea typeface="Calibri" pitchFamily="34" charset="-122"/>
                <a:cs typeface="Calibri" pitchFamily="34" charset="-120"/>
              </a:rPr>
              <a:t>Explanation</a:t>
            </a:r>
            <a:endParaRPr lang="en-US" sz="1200" dirty="0"/>
          </a:p>
        </p:txBody>
      </p:sp>
      <p:sp>
        <p:nvSpPr>
          <p:cNvPr id="14" name="Text 12"/>
          <p:cNvSpPr/>
          <p:nvPr/>
        </p:nvSpPr>
        <p:spPr>
          <a:xfrm>
            <a:off x="548640" y="5102352"/>
            <a:ext cx="11064240" cy="841248"/>
          </a:xfrm>
          <a:prstGeom prst="rect">
            <a:avLst/>
          </a:prstGeom>
          <a:noFill/>
          <a:ln/>
        </p:spPr>
        <p:txBody>
          <a:bodyPr wrap="square" rtlCol="0" anchor="t"/>
          <a:lstStyle/>
          <a:p>
            <a:pPr marL="0" indent="0">
              <a:buNone/>
            </a:pPr>
            <a:r>
              <a:rPr lang="en-US" sz="1600" dirty="0">
                <a:solidFill>
                  <a:srgbClr val="13315C"/>
                </a:solidFill>
                <a:latin typeface="Calibri" pitchFamily="34" charset="0"/>
                <a:ea typeface="Calibri" pitchFamily="34" charset="-122"/>
                <a:cs typeface="Calibri" pitchFamily="34" charset="-120"/>
              </a:rPr>
              <a:t>The loop runs while i is 5 or less. It prints 1, 2, 3, 4, 5; on the next iteration i becomes 6, the condition becomes false, and the loop exits. Using i &lt; 5 would stop after 4, and i &lt; 6 would also work but is less readable.</a:t>
            </a:r>
            <a:endParaRPr lang="en-US" sz="1600" dirty="0"/>
          </a:p>
        </p:txBody>
      </p:sp>
      <p:sp>
        <p:nvSpPr>
          <p:cNvPr id="15" name="Shape 13"/>
          <p:cNvSpPr/>
          <p:nvPr/>
        </p:nvSpPr>
        <p:spPr>
          <a:xfrm>
            <a:off x="548640" y="6492240"/>
            <a:ext cx="11064240" cy="0"/>
          </a:xfrm>
          <a:prstGeom prst="line">
            <a:avLst/>
          </a:prstGeom>
          <a:noFill/>
          <a:ln w="9525">
            <a:solidFill>
              <a:srgbClr val="E5E7EB"/>
            </a:solidFill>
            <a:prstDash val="solid"/>
          </a:ln>
        </p:spPr>
        <p:txBody>
          <a:bodyPr/>
          <a:lstStyle/>
          <a:p>
            <a:endParaRPr lang="en-US"/>
          </a:p>
        </p:txBody>
      </p:sp>
      <p:sp>
        <p:nvSpPr>
          <p:cNvPr id="16" name="Text 14"/>
          <p:cNvSpPr/>
          <p:nvPr/>
        </p:nvSpPr>
        <p:spPr>
          <a:xfrm>
            <a:off x="548640" y="6537960"/>
            <a:ext cx="5486400" cy="27432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C# Concepts Quiz</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F59E0B"/>
          </a:solidFill>
          <a:ln w="12700">
            <a:solidFill>
              <a:srgbClr val="F59E0B"/>
            </a:solidFill>
            <a:prstDash val="solid"/>
          </a:ln>
        </p:spPr>
        <p:txBody>
          <a:bodyPr/>
          <a:lstStyle/>
          <a:p>
            <a:endParaRPr lang="en-US"/>
          </a:p>
        </p:txBody>
      </p:sp>
      <p:sp>
        <p:nvSpPr>
          <p:cNvPr id="3" name="Shape 1"/>
          <p:cNvSpPr/>
          <p:nvPr/>
        </p:nvSpPr>
        <p:spPr>
          <a:xfrm>
            <a:off x="548640" y="365760"/>
            <a:ext cx="4023360" cy="411480"/>
          </a:xfrm>
          <a:prstGeom prst="rect">
            <a:avLst/>
          </a:prstGeom>
          <a:solidFill>
            <a:srgbClr val="FFF7E6"/>
          </a:solidFill>
          <a:ln w="9525">
            <a:solidFill>
              <a:srgbClr val="F59E0B"/>
            </a:solidFill>
            <a:prstDash val="solid"/>
          </a:ln>
        </p:spPr>
        <p:txBody>
          <a:bodyPr/>
          <a:lstStyle/>
          <a:p>
            <a:endParaRPr lang="en-US"/>
          </a:p>
        </p:txBody>
      </p:sp>
      <p:sp>
        <p:nvSpPr>
          <p:cNvPr id="4" name="Text 2"/>
          <p:cNvSpPr/>
          <p:nvPr/>
        </p:nvSpPr>
        <p:spPr>
          <a:xfrm>
            <a:off x="548640" y="365760"/>
            <a:ext cx="4023360" cy="411480"/>
          </a:xfrm>
          <a:prstGeom prst="rect">
            <a:avLst/>
          </a:prstGeom>
          <a:noFill/>
          <a:ln/>
        </p:spPr>
        <p:txBody>
          <a:bodyPr wrap="square" rtlCol="0" anchor="ctr"/>
          <a:lstStyle/>
          <a:p>
            <a:pPr marL="0" indent="0" algn="ctr">
              <a:buNone/>
            </a:pPr>
            <a:r>
              <a:rPr lang="en-US" sz="1100" b="1" kern="0" spc="200" dirty="0">
                <a:solidFill>
                  <a:srgbClr val="0B2545"/>
                </a:solidFill>
                <a:latin typeface="Calibri" pitchFamily="34" charset="0"/>
                <a:ea typeface="Calibri" pitchFamily="34" charset="-122"/>
                <a:cs typeface="Calibri" pitchFamily="34" charset="-120"/>
              </a:rPr>
              <a:t>SECTION 3 — LOGICAL OPERATORS</a:t>
            </a:r>
            <a:endParaRPr lang="en-US" sz="1100" dirty="0"/>
          </a:p>
        </p:txBody>
      </p:sp>
      <p:sp>
        <p:nvSpPr>
          <p:cNvPr id="5" name="Shape 3"/>
          <p:cNvSpPr/>
          <p:nvPr/>
        </p:nvSpPr>
        <p:spPr>
          <a:xfrm>
            <a:off x="9418320" y="365760"/>
            <a:ext cx="2194560" cy="411480"/>
          </a:xfrm>
          <a:prstGeom prst="rect">
            <a:avLst/>
          </a:prstGeom>
          <a:solidFill>
            <a:srgbClr val="EEF2FF"/>
          </a:solidFill>
          <a:ln w="9525">
            <a:solidFill>
              <a:srgbClr val="0B2545"/>
            </a:solidFill>
            <a:prstDash val="solid"/>
          </a:ln>
        </p:spPr>
        <p:txBody>
          <a:bodyPr/>
          <a:lstStyle/>
          <a:p>
            <a:endParaRPr lang="en-US"/>
          </a:p>
        </p:txBody>
      </p:sp>
      <p:sp>
        <p:nvSpPr>
          <p:cNvPr id="6" name="Text 4"/>
          <p:cNvSpPr/>
          <p:nvPr/>
        </p:nvSpPr>
        <p:spPr>
          <a:xfrm>
            <a:off x="9418320" y="365760"/>
            <a:ext cx="2194560" cy="411480"/>
          </a:xfrm>
          <a:prstGeom prst="rect">
            <a:avLst/>
          </a:prstGeom>
          <a:noFill/>
          <a:ln/>
        </p:spPr>
        <p:txBody>
          <a:bodyPr wrap="square" rtlCol="0" anchor="ctr"/>
          <a:lstStyle/>
          <a:p>
            <a:pPr marL="0" indent="0" algn="ctr">
              <a:buNone/>
            </a:pPr>
            <a:r>
              <a:rPr lang="en-US" sz="1100" b="1" kern="0" spc="200" dirty="0">
                <a:solidFill>
                  <a:srgbClr val="0B2545"/>
                </a:solidFill>
                <a:latin typeface="Calibri" pitchFamily="34" charset="0"/>
                <a:ea typeface="Calibri" pitchFamily="34" charset="-122"/>
                <a:cs typeface="Calibri" pitchFamily="34" charset="-120"/>
              </a:rPr>
              <a:t>Q10  ·  QUESTION</a:t>
            </a:r>
            <a:endParaRPr lang="en-US" sz="1100" dirty="0"/>
          </a:p>
        </p:txBody>
      </p:sp>
      <p:sp>
        <p:nvSpPr>
          <p:cNvPr id="7" name="Text 5"/>
          <p:cNvSpPr/>
          <p:nvPr/>
        </p:nvSpPr>
        <p:spPr>
          <a:xfrm>
            <a:off x="548640" y="1005840"/>
            <a:ext cx="11064240" cy="320040"/>
          </a:xfrm>
          <a:prstGeom prst="rect">
            <a:avLst/>
          </a:prstGeom>
          <a:noFill/>
          <a:ln/>
        </p:spPr>
        <p:txBody>
          <a:bodyPr wrap="square" rtlCol="0" anchor="ctr"/>
          <a:lstStyle/>
          <a:p>
            <a:pPr marL="0" indent="0">
              <a:buNone/>
            </a:pPr>
            <a:r>
              <a:rPr lang="en-US" sz="1200" b="1" kern="0" spc="300" dirty="0">
                <a:solidFill>
                  <a:srgbClr val="F59E0B"/>
                </a:solidFill>
                <a:latin typeface="Calibri" pitchFamily="34" charset="0"/>
                <a:ea typeface="Calibri" pitchFamily="34" charset="-122"/>
                <a:cs typeface="Calibri" pitchFamily="34" charset="-120"/>
              </a:rPr>
              <a:t>MULTIPLE CHOICE</a:t>
            </a:r>
            <a:endParaRPr lang="en-US" sz="1200" dirty="0"/>
          </a:p>
        </p:txBody>
      </p:sp>
      <p:sp>
        <p:nvSpPr>
          <p:cNvPr id="8" name="Text 6"/>
          <p:cNvSpPr/>
          <p:nvPr/>
        </p:nvSpPr>
        <p:spPr>
          <a:xfrm>
            <a:off x="548640" y="1371600"/>
            <a:ext cx="11064240" cy="1097280"/>
          </a:xfrm>
          <a:prstGeom prst="rect">
            <a:avLst/>
          </a:prstGeom>
          <a:noFill/>
          <a:ln/>
        </p:spPr>
        <p:txBody>
          <a:bodyPr wrap="square" rtlCol="0" anchor="t"/>
          <a:lstStyle/>
          <a:p>
            <a:pPr marL="0" indent="0">
              <a:buNone/>
            </a:pPr>
            <a:r>
              <a:rPr lang="en-US" sz="2600" b="1" dirty="0">
                <a:solidFill>
                  <a:srgbClr val="0B2545"/>
                </a:solidFill>
                <a:latin typeface="Calibri" pitchFamily="34" charset="0"/>
                <a:ea typeface="Calibri" pitchFamily="34" charset="-122"/>
                <a:cs typeface="Calibri" pitchFamily="34" charset="-120"/>
              </a:rPr>
              <a:t>Which logical operator has the highest precedence in C#?</a:t>
            </a:r>
            <a:endParaRPr lang="en-US" sz="2600" dirty="0"/>
          </a:p>
        </p:txBody>
      </p:sp>
      <p:sp>
        <p:nvSpPr>
          <p:cNvPr id="9" name="Shape 7"/>
          <p:cNvSpPr/>
          <p:nvPr/>
        </p:nvSpPr>
        <p:spPr>
          <a:xfrm>
            <a:off x="548640" y="2560320"/>
            <a:ext cx="457200" cy="457200"/>
          </a:xfrm>
          <a:prstGeom prst="ellipse">
            <a:avLst/>
          </a:prstGeom>
          <a:solidFill>
            <a:srgbClr val="EEF2FF"/>
          </a:solidFill>
          <a:ln w="12700">
            <a:solidFill>
              <a:srgbClr val="0B2545"/>
            </a:solidFill>
            <a:prstDash val="solid"/>
          </a:ln>
        </p:spPr>
        <p:txBody>
          <a:bodyPr/>
          <a:lstStyle/>
          <a:p>
            <a:endParaRPr lang="en-US"/>
          </a:p>
        </p:txBody>
      </p:sp>
      <p:sp>
        <p:nvSpPr>
          <p:cNvPr id="10" name="Text 8"/>
          <p:cNvSpPr/>
          <p:nvPr/>
        </p:nvSpPr>
        <p:spPr>
          <a:xfrm>
            <a:off x="548640" y="2560320"/>
            <a:ext cx="457200" cy="457200"/>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A</a:t>
            </a:r>
            <a:endParaRPr lang="en-US" sz="1400" dirty="0"/>
          </a:p>
        </p:txBody>
      </p:sp>
      <p:sp>
        <p:nvSpPr>
          <p:cNvPr id="11" name="Text 9"/>
          <p:cNvSpPr/>
          <p:nvPr/>
        </p:nvSpPr>
        <p:spPr>
          <a:xfrm>
            <a:off x="1143000" y="2578608"/>
            <a:ext cx="10469880" cy="457200"/>
          </a:xfrm>
          <a:prstGeom prst="rect">
            <a:avLst/>
          </a:prstGeom>
          <a:noFill/>
          <a:ln/>
        </p:spPr>
        <p:txBody>
          <a:bodyPr wrap="square" lIns="0" tIns="0" rIns="0" bIns="0" rtlCol="0" anchor="ctr"/>
          <a:lstStyle/>
          <a:p>
            <a:pPr marL="0" indent="0">
              <a:buNone/>
            </a:pPr>
            <a:r>
              <a:rPr lang="en-US" sz="1600" dirty="0">
                <a:solidFill>
                  <a:srgbClr val="1F2937"/>
                </a:solidFill>
                <a:latin typeface="Calibri" pitchFamily="34" charset="0"/>
                <a:ea typeface="Calibri" pitchFamily="34" charset="-122"/>
                <a:cs typeface="Calibri" pitchFamily="34" charset="-120"/>
              </a:rPr>
              <a:t>||</a:t>
            </a:r>
            <a:endParaRPr lang="en-US" sz="1600" dirty="0"/>
          </a:p>
        </p:txBody>
      </p:sp>
      <p:sp>
        <p:nvSpPr>
          <p:cNvPr id="12" name="Shape 10"/>
          <p:cNvSpPr/>
          <p:nvPr/>
        </p:nvSpPr>
        <p:spPr>
          <a:xfrm>
            <a:off x="548640" y="3154680"/>
            <a:ext cx="457200" cy="457200"/>
          </a:xfrm>
          <a:prstGeom prst="ellipse">
            <a:avLst/>
          </a:prstGeom>
          <a:solidFill>
            <a:srgbClr val="EEF2FF"/>
          </a:solidFill>
          <a:ln w="12700">
            <a:solidFill>
              <a:srgbClr val="0B2545"/>
            </a:solidFill>
            <a:prstDash val="solid"/>
          </a:ln>
        </p:spPr>
        <p:txBody>
          <a:bodyPr/>
          <a:lstStyle/>
          <a:p>
            <a:endParaRPr lang="en-US"/>
          </a:p>
        </p:txBody>
      </p:sp>
      <p:sp>
        <p:nvSpPr>
          <p:cNvPr id="13" name="Text 11"/>
          <p:cNvSpPr/>
          <p:nvPr/>
        </p:nvSpPr>
        <p:spPr>
          <a:xfrm>
            <a:off x="548640" y="3154680"/>
            <a:ext cx="457200" cy="457200"/>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B</a:t>
            </a:r>
            <a:endParaRPr lang="en-US" sz="1400" dirty="0"/>
          </a:p>
        </p:txBody>
      </p:sp>
      <p:sp>
        <p:nvSpPr>
          <p:cNvPr id="14" name="Text 12"/>
          <p:cNvSpPr/>
          <p:nvPr/>
        </p:nvSpPr>
        <p:spPr>
          <a:xfrm>
            <a:off x="1143000" y="3172968"/>
            <a:ext cx="10469880" cy="457200"/>
          </a:xfrm>
          <a:prstGeom prst="rect">
            <a:avLst/>
          </a:prstGeom>
          <a:noFill/>
          <a:ln/>
        </p:spPr>
        <p:txBody>
          <a:bodyPr wrap="square" lIns="0" tIns="0" rIns="0" bIns="0" rtlCol="0" anchor="ctr"/>
          <a:lstStyle/>
          <a:p>
            <a:pPr marL="0" indent="0">
              <a:buNone/>
            </a:pPr>
            <a:r>
              <a:rPr lang="en-US" sz="1600" dirty="0">
                <a:solidFill>
                  <a:srgbClr val="1F2937"/>
                </a:solidFill>
                <a:latin typeface="Calibri" pitchFamily="34" charset="0"/>
                <a:ea typeface="Calibri" pitchFamily="34" charset="-122"/>
                <a:cs typeface="Calibri" pitchFamily="34" charset="-120"/>
              </a:rPr>
              <a:t>&amp;&amp;</a:t>
            </a:r>
            <a:endParaRPr lang="en-US" sz="1600" dirty="0"/>
          </a:p>
        </p:txBody>
      </p:sp>
      <p:sp>
        <p:nvSpPr>
          <p:cNvPr id="15" name="Shape 13"/>
          <p:cNvSpPr/>
          <p:nvPr/>
        </p:nvSpPr>
        <p:spPr>
          <a:xfrm>
            <a:off x="548640" y="3749040"/>
            <a:ext cx="457200" cy="457200"/>
          </a:xfrm>
          <a:prstGeom prst="ellipse">
            <a:avLst/>
          </a:prstGeom>
          <a:solidFill>
            <a:srgbClr val="EEF2FF"/>
          </a:solidFill>
          <a:ln w="12700">
            <a:solidFill>
              <a:srgbClr val="0B2545"/>
            </a:solidFill>
            <a:prstDash val="solid"/>
          </a:ln>
        </p:spPr>
        <p:txBody>
          <a:bodyPr/>
          <a:lstStyle/>
          <a:p>
            <a:endParaRPr lang="en-US"/>
          </a:p>
        </p:txBody>
      </p:sp>
      <p:sp>
        <p:nvSpPr>
          <p:cNvPr id="16" name="Text 14"/>
          <p:cNvSpPr/>
          <p:nvPr/>
        </p:nvSpPr>
        <p:spPr>
          <a:xfrm>
            <a:off x="548640" y="3749040"/>
            <a:ext cx="457200" cy="457200"/>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C</a:t>
            </a:r>
            <a:endParaRPr lang="en-US" sz="1400" dirty="0"/>
          </a:p>
        </p:txBody>
      </p:sp>
      <p:sp>
        <p:nvSpPr>
          <p:cNvPr id="17" name="Text 15"/>
          <p:cNvSpPr/>
          <p:nvPr/>
        </p:nvSpPr>
        <p:spPr>
          <a:xfrm>
            <a:off x="1143000" y="3767328"/>
            <a:ext cx="10469880" cy="457200"/>
          </a:xfrm>
          <a:prstGeom prst="rect">
            <a:avLst/>
          </a:prstGeom>
          <a:noFill/>
          <a:ln/>
        </p:spPr>
        <p:txBody>
          <a:bodyPr wrap="square" lIns="0" tIns="0" rIns="0" bIns="0" rtlCol="0" anchor="ctr"/>
          <a:lstStyle/>
          <a:p>
            <a:pPr marL="0" indent="0">
              <a:buNone/>
            </a:pPr>
            <a:r>
              <a:rPr lang="en-US" sz="1600" dirty="0">
                <a:solidFill>
                  <a:srgbClr val="1F2937"/>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548640" y="4343400"/>
            <a:ext cx="457200" cy="457200"/>
          </a:xfrm>
          <a:prstGeom prst="ellipse">
            <a:avLst/>
          </a:prstGeom>
          <a:solidFill>
            <a:srgbClr val="EEF2FF"/>
          </a:solidFill>
          <a:ln w="12700">
            <a:solidFill>
              <a:srgbClr val="0B2545"/>
            </a:solidFill>
            <a:prstDash val="solid"/>
          </a:ln>
        </p:spPr>
        <p:txBody>
          <a:bodyPr/>
          <a:lstStyle/>
          <a:p>
            <a:endParaRPr lang="en-US"/>
          </a:p>
        </p:txBody>
      </p:sp>
      <p:sp>
        <p:nvSpPr>
          <p:cNvPr id="19" name="Text 17"/>
          <p:cNvSpPr/>
          <p:nvPr/>
        </p:nvSpPr>
        <p:spPr>
          <a:xfrm>
            <a:off x="548640" y="4343400"/>
            <a:ext cx="457200" cy="457200"/>
          </a:xfrm>
          <a:prstGeom prst="rect">
            <a:avLst/>
          </a:prstGeom>
          <a:noFill/>
          <a:ln/>
        </p:spPr>
        <p:txBody>
          <a:bodyPr wrap="square" lIns="0" tIns="0" rIns="0" bIns="0" rtlCol="0" anchor="ctr"/>
          <a:lstStyle/>
          <a:p>
            <a:pPr marL="0" indent="0" algn="ctr">
              <a:buNone/>
            </a:pPr>
            <a:r>
              <a:rPr lang="en-US" sz="1400" b="1" dirty="0">
                <a:solidFill>
                  <a:srgbClr val="0B2545"/>
                </a:solidFill>
                <a:latin typeface="Calibri" pitchFamily="34" charset="0"/>
                <a:ea typeface="Calibri" pitchFamily="34" charset="-122"/>
                <a:cs typeface="Calibri" pitchFamily="34" charset="-120"/>
              </a:rPr>
              <a:t>D</a:t>
            </a:r>
            <a:endParaRPr lang="en-US" sz="1400" dirty="0"/>
          </a:p>
        </p:txBody>
      </p:sp>
      <p:sp>
        <p:nvSpPr>
          <p:cNvPr id="20" name="Text 18"/>
          <p:cNvSpPr/>
          <p:nvPr/>
        </p:nvSpPr>
        <p:spPr>
          <a:xfrm>
            <a:off x="1143000" y="4361688"/>
            <a:ext cx="10469880" cy="457200"/>
          </a:xfrm>
          <a:prstGeom prst="rect">
            <a:avLst/>
          </a:prstGeom>
          <a:noFill/>
          <a:ln/>
        </p:spPr>
        <p:txBody>
          <a:bodyPr wrap="square" lIns="0" tIns="0" rIns="0" bIns="0" rtlCol="0" anchor="ctr"/>
          <a:lstStyle/>
          <a:p>
            <a:pPr marL="0" indent="0">
              <a:buNone/>
            </a:pPr>
            <a:r>
              <a:rPr lang="en-US" sz="1600" dirty="0">
                <a:solidFill>
                  <a:srgbClr val="1F2937"/>
                </a:solidFill>
                <a:latin typeface="Calibri" pitchFamily="34" charset="0"/>
                <a:ea typeface="Calibri" pitchFamily="34" charset="-122"/>
                <a:cs typeface="Calibri" pitchFamily="34" charset="-120"/>
              </a:rPr>
              <a:t>==</a:t>
            </a:r>
            <a:endParaRPr lang="en-US" sz="1600" dirty="0"/>
          </a:p>
        </p:txBody>
      </p:sp>
      <p:sp>
        <p:nvSpPr>
          <p:cNvPr id="21" name="Shape 19"/>
          <p:cNvSpPr/>
          <p:nvPr/>
        </p:nvSpPr>
        <p:spPr>
          <a:xfrm>
            <a:off x="548640" y="6492240"/>
            <a:ext cx="11064240" cy="0"/>
          </a:xfrm>
          <a:prstGeom prst="line">
            <a:avLst/>
          </a:prstGeom>
          <a:noFill/>
          <a:ln w="9525">
            <a:solidFill>
              <a:srgbClr val="E5E7EB"/>
            </a:solidFill>
            <a:prstDash val="solid"/>
          </a:ln>
        </p:spPr>
        <p:txBody>
          <a:bodyPr/>
          <a:lstStyle/>
          <a:p>
            <a:endParaRPr lang="en-US"/>
          </a:p>
        </p:txBody>
      </p:sp>
      <p:sp>
        <p:nvSpPr>
          <p:cNvPr id="22" name="Text 20"/>
          <p:cNvSpPr/>
          <p:nvPr/>
        </p:nvSpPr>
        <p:spPr>
          <a:xfrm>
            <a:off x="548640" y="6537960"/>
            <a:ext cx="5486400" cy="27432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C# Concepts Quiz</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F59E0B"/>
          </a:solidFill>
          <a:ln w="12700">
            <a:solidFill>
              <a:srgbClr val="F59E0B"/>
            </a:solidFill>
            <a:prstDash val="solid"/>
          </a:ln>
        </p:spPr>
        <p:txBody>
          <a:bodyPr/>
          <a:lstStyle/>
          <a:p>
            <a:endParaRPr lang="en-US"/>
          </a:p>
        </p:txBody>
      </p:sp>
      <p:sp>
        <p:nvSpPr>
          <p:cNvPr id="3" name="Shape 1"/>
          <p:cNvSpPr/>
          <p:nvPr/>
        </p:nvSpPr>
        <p:spPr>
          <a:xfrm>
            <a:off x="548640" y="365760"/>
            <a:ext cx="4023360" cy="411480"/>
          </a:xfrm>
          <a:prstGeom prst="rect">
            <a:avLst/>
          </a:prstGeom>
          <a:solidFill>
            <a:srgbClr val="FFF7E6"/>
          </a:solidFill>
          <a:ln w="9525">
            <a:solidFill>
              <a:srgbClr val="F59E0B"/>
            </a:solidFill>
            <a:prstDash val="solid"/>
          </a:ln>
        </p:spPr>
        <p:txBody>
          <a:bodyPr/>
          <a:lstStyle/>
          <a:p>
            <a:endParaRPr lang="en-US"/>
          </a:p>
        </p:txBody>
      </p:sp>
      <p:sp>
        <p:nvSpPr>
          <p:cNvPr id="4" name="Text 2"/>
          <p:cNvSpPr/>
          <p:nvPr/>
        </p:nvSpPr>
        <p:spPr>
          <a:xfrm>
            <a:off x="548640" y="365760"/>
            <a:ext cx="4023360" cy="411480"/>
          </a:xfrm>
          <a:prstGeom prst="rect">
            <a:avLst/>
          </a:prstGeom>
          <a:noFill/>
          <a:ln/>
        </p:spPr>
        <p:txBody>
          <a:bodyPr wrap="square" rtlCol="0" anchor="ctr"/>
          <a:lstStyle/>
          <a:p>
            <a:pPr marL="0" indent="0" algn="ctr">
              <a:buNone/>
            </a:pPr>
            <a:r>
              <a:rPr lang="en-US" sz="1100" b="1" kern="0" spc="200" dirty="0">
                <a:solidFill>
                  <a:srgbClr val="0B2545"/>
                </a:solidFill>
                <a:latin typeface="Calibri" pitchFamily="34" charset="0"/>
                <a:ea typeface="Calibri" pitchFamily="34" charset="-122"/>
                <a:cs typeface="Calibri" pitchFamily="34" charset="-120"/>
              </a:rPr>
              <a:t>SECTION 3 — LOGICAL OPERATORS</a:t>
            </a:r>
            <a:endParaRPr lang="en-US" sz="1100" dirty="0"/>
          </a:p>
        </p:txBody>
      </p:sp>
      <p:sp>
        <p:nvSpPr>
          <p:cNvPr id="5" name="Shape 3"/>
          <p:cNvSpPr/>
          <p:nvPr/>
        </p:nvSpPr>
        <p:spPr>
          <a:xfrm>
            <a:off x="9418320" y="365760"/>
            <a:ext cx="2194560" cy="411480"/>
          </a:xfrm>
          <a:prstGeom prst="rect">
            <a:avLst/>
          </a:prstGeom>
          <a:solidFill>
            <a:srgbClr val="ECFDF5"/>
          </a:solidFill>
          <a:ln w="9525">
            <a:solidFill>
              <a:srgbClr val="10B981"/>
            </a:solidFill>
            <a:prstDash val="solid"/>
          </a:ln>
        </p:spPr>
        <p:txBody>
          <a:bodyPr/>
          <a:lstStyle/>
          <a:p>
            <a:endParaRPr lang="en-US"/>
          </a:p>
        </p:txBody>
      </p:sp>
      <p:sp>
        <p:nvSpPr>
          <p:cNvPr id="6" name="Text 4"/>
          <p:cNvSpPr/>
          <p:nvPr/>
        </p:nvSpPr>
        <p:spPr>
          <a:xfrm>
            <a:off x="9418320" y="365760"/>
            <a:ext cx="2194560" cy="411480"/>
          </a:xfrm>
          <a:prstGeom prst="rect">
            <a:avLst/>
          </a:prstGeom>
          <a:noFill/>
          <a:ln/>
        </p:spPr>
        <p:txBody>
          <a:bodyPr wrap="square" rtlCol="0" anchor="ctr"/>
          <a:lstStyle/>
          <a:p>
            <a:pPr marL="0" indent="0" algn="ctr">
              <a:buNone/>
            </a:pPr>
            <a:r>
              <a:rPr lang="en-US" sz="1100" b="1" kern="0" spc="200" dirty="0">
                <a:solidFill>
                  <a:srgbClr val="10B981"/>
                </a:solidFill>
                <a:latin typeface="Calibri" pitchFamily="34" charset="0"/>
                <a:ea typeface="Calibri" pitchFamily="34" charset="-122"/>
                <a:cs typeface="Calibri" pitchFamily="34" charset="-120"/>
              </a:rPr>
              <a:t>Q10  ·  ANSWER</a:t>
            </a:r>
            <a:endParaRPr lang="en-US" sz="1100" dirty="0"/>
          </a:p>
        </p:txBody>
      </p:sp>
      <p:sp>
        <p:nvSpPr>
          <p:cNvPr id="7" name="Text 5"/>
          <p:cNvSpPr/>
          <p:nvPr/>
        </p:nvSpPr>
        <p:spPr>
          <a:xfrm>
            <a:off x="548640" y="1005840"/>
            <a:ext cx="11064240" cy="640080"/>
          </a:xfrm>
          <a:prstGeom prst="rect">
            <a:avLst/>
          </a:prstGeom>
          <a:noFill/>
          <a:ln/>
        </p:spPr>
        <p:txBody>
          <a:bodyPr wrap="square" rtlCol="0" anchor="t"/>
          <a:lstStyle/>
          <a:p>
            <a:pPr marL="0" indent="0">
              <a:buNone/>
            </a:pPr>
            <a:r>
              <a:rPr lang="en-US" sz="1500" i="1" dirty="0">
                <a:solidFill>
                  <a:srgbClr val="6B7280"/>
                </a:solidFill>
                <a:latin typeface="Calibri" pitchFamily="34" charset="0"/>
                <a:ea typeface="Calibri" pitchFamily="34" charset="-122"/>
                <a:cs typeface="Calibri" pitchFamily="34" charset="-120"/>
              </a:rPr>
              <a:t>Which logical operator has the highest precedence in C#?</a:t>
            </a:r>
            <a:endParaRPr lang="en-US" sz="1500" dirty="0"/>
          </a:p>
        </p:txBody>
      </p:sp>
      <p:sp>
        <p:nvSpPr>
          <p:cNvPr id="8" name="Shape 6"/>
          <p:cNvSpPr/>
          <p:nvPr/>
        </p:nvSpPr>
        <p:spPr>
          <a:xfrm>
            <a:off x="548640" y="1783080"/>
            <a:ext cx="11064240" cy="0"/>
          </a:xfrm>
          <a:prstGeom prst="line">
            <a:avLst/>
          </a:prstGeom>
          <a:noFill/>
          <a:ln w="12700">
            <a:solidFill>
              <a:srgbClr val="E5E7EB"/>
            </a:solidFill>
            <a:prstDash val="solid"/>
          </a:ln>
        </p:spPr>
        <p:txBody>
          <a:bodyPr/>
          <a:lstStyle/>
          <a:p>
            <a:endParaRPr lang="en-US"/>
          </a:p>
        </p:txBody>
      </p:sp>
      <p:sp>
        <p:nvSpPr>
          <p:cNvPr id="9" name="Shape 7"/>
          <p:cNvSpPr/>
          <p:nvPr/>
        </p:nvSpPr>
        <p:spPr>
          <a:xfrm>
            <a:off x="548640" y="1965960"/>
            <a:ext cx="11064240" cy="640080"/>
          </a:xfrm>
          <a:prstGeom prst="rect">
            <a:avLst/>
          </a:prstGeom>
          <a:solidFill>
            <a:srgbClr val="ECFDF5"/>
          </a:solidFill>
          <a:ln w="12700">
            <a:solidFill>
              <a:srgbClr val="10B981"/>
            </a:solidFill>
            <a:prstDash val="solid"/>
          </a:ln>
        </p:spPr>
        <p:txBody>
          <a:bodyPr/>
          <a:lstStyle/>
          <a:p>
            <a:endParaRPr lang="en-US"/>
          </a:p>
        </p:txBody>
      </p:sp>
      <p:sp>
        <p:nvSpPr>
          <p:cNvPr id="10" name="Text 8"/>
          <p:cNvSpPr/>
          <p:nvPr/>
        </p:nvSpPr>
        <p:spPr>
          <a:xfrm>
            <a:off x="777240" y="1965960"/>
            <a:ext cx="10607040" cy="640080"/>
          </a:xfrm>
          <a:prstGeom prst="rect">
            <a:avLst/>
          </a:prstGeom>
          <a:noFill/>
          <a:ln/>
        </p:spPr>
        <p:txBody>
          <a:bodyPr wrap="square" rtlCol="0" anchor="ctr"/>
          <a:lstStyle/>
          <a:p>
            <a:pPr marL="0" indent="0">
              <a:buNone/>
            </a:pPr>
            <a:r>
              <a:rPr lang="en-US" sz="1800" b="1" dirty="0">
                <a:solidFill>
                  <a:srgbClr val="065F46"/>
                </a:solidFill>
                <a:latin typeface="Calibri" pitchFamily="34" charset="0"/>
                <a:ea typeface="Calibri" pitchFamily="34" charset="-122"/>
                <a:cs typeface="Calibri" pitchFamily="34" charset="-120"/>
              </a:rPr>
              <a:t>Correct answer: C — the unary NOT operator (!).</a:t>
            </a:r>
            <a:endParaRPr lang="en-US" sz="1800" dirty="0"/>
          </a:p>
        </p:txBody>
      </p:sp>
      <p:sp>
        <p:nvSpPr>
          <p:cNvPr id="11" name="Text 9"/>
          <p:cNvSpPr/>
          <p:nvPr/>
        </p:nvSpPr>
        <p:spPr>
          <a:xfrm>
            <a:off x="548640" y="2788920"/>
            <a:ext cx="11064240" cy="320040"/>
          </a:xfrm>
          <a:prstGeom prst="rect">
            <a:avLst/>
          </a:prstGeom>
          <a:noFill/>
          <a:ln/>
        </p:spPr>
        <p:txBody>
          <a:bodyPr wrap="square" rtlCol="0" anchor="ctr"/>
          <a:lstStyle/>
          <a:p>
            <a:pPr marL="0" indent="0">
              <a:buNone/>
            </a:pPr>
            <a:r>
              <a:rPr lang="en-US" sz="1200" b="1" kern="0" spc="300" dirty="0">
                <a:solidFill>
                  <a:srgbClr val="F59E0B"/>
                </a:solidFill>
                <a:latin typeface="Calibri" pitchFamily="34" charset="0"/>
                <a:ea typeface="Calibri" pitchFamily="34" charset="-122"/>
                <a:cs typeface="Calibri" pitchFamily="34" charset="-120"/>
              </a:rPr>
              <a:t>Explanation</a:t>
            </a:r>
            <a:endParaRPr lang="en-US" sz="1200" dirty="0"/>
          </a:p>
        </p:txBody>
      </p:sp>
      <p:sp>
        <p:nvSpPr>
          <p:cNvPr id="12" name="Text 10"/>
          <p:cNvSpPr/>
          <p:nvPr/>
        </p:nvSpPr>
        <p:spPr>
          <a:xfrm>
            <a:off x="548640" y="3154680"/>
            <a:ext cx="11064240" cy="2788920"/>
          </a:xfrm>
          <a:prstGeom prst="rect">
            <a:avLst/>
          </a:prstGeom>
          <a:noFill/>
          <a:ln/>
        </p:spPr>
        <p:txBody>
          <a:bodyPr wrap="square" rtlCol="0" anchor="t"/>
          <a:lstStyle/>
          <a:p>
            <a:pPr marL="0" indent="0">
              <a:buNone/>
            </a:pPr>
            <a:r>
              <a:rPr lang="en-US" sz="1600" dirty="0">
                <a:solidFill>
                  <a:srgbClr val="13315C"/>
                </a:solidFill>
                <a:latin typeface="Calibri" pitchFamily="34" charset="0"/>
                <a:ea typeface="Calibri" pitchFamily="34" charset="-122"/>
                <a:cs typeface="Calibri" pitchFamily="34" charset="-120"/>
              </a:rPr>
              <a:t>Precedence order, highest to lowest: ! (logical NOT) → &amp;&amp; (logical AND) → || (logical OR). The == operator is an equality operator, not a logical one, and sits above the logical operators in the broader precedence table but is not in this group.</a:t>
            </a:r>
            <a:endParaRPr lang="en-US" sz="1600" dirty="0"/>
          </a:p>
        </p:txBody>
      </p:sp>
      <p:sp>
        <p:nvSpPr>
          <p:cNvPr id="13" name="Shape 11"/>
          <p:cNvSpPr/>
          <p:nvPr/>
        </p:nvSpPr>
        <p:spPr>
          <a:xfrm>
            <a:off x="548640" y="6492240"/>
            <a:ext cx="11064240" cy="0"/>
          </a:xfrm>
          <a:prstGeom prst="line">
            <a:avLst/>
          </a:prstGeom>
          <a:noFill/>
          <a:ln w="9525">
            <a:solidFill>
              <a:srgbClr val="E5E7EB"/>
            </a:solidFill>
            <a:prstDash val="solid"/>
          </a:ln>
        </p:spPr>
        <p:txBody>
          <a:bodyPr/>
          <a:lstStyle/>
          <a:p>
            <a:endParaRPr lang="en-US"/>
          </a:p>
        </p:txBody>
      </p:sp>
      <p:sp>
        <p:nvSpPr>
          <p:cNvPr id="14" name="Text 12"/>
          <p:cNvSpPr/>
          <p:nvPr/>
        </p:nvSpPr>
        <p:spPr>
          <a:xfrm>
            <a:off x="548640" y="6537960"/>
            <a:ext cx="5486400" cy="27432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C# Concepts Quiz</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F59E0B"/>
          </a:solidFill>
          <a:ln w="12700">
            <a:solidFill>
              <a:srgbClr val="F59E0B"/>
            </a:solidFill>
            <a:prstDash val="solid"/>
          </a:ln>
        </p:spPr>
        <p:txBody>
          <a:bodyPr/>
          <a:lstStyle/>
          <a:p>
            <a:endParaRPr lang="en-US"/>
          </a:p>
        </p:txBody>
      </p:sp>
      <p:sp>
        <p:nvSpPr>
          <p:cNvPr id="3" name="Shape 1"/>
          <p:cNvSpPr/>
          <p:nvPr/>
        </p:nvSpPr>
        <p:spPr>
          <a:xfrm>
            <a:off x="548640" y="365760"/>
            <a:ext cx="4023360" cy="411480"/>
          </a:xfrm>
          <a:prstGeom prst="rect">
            <a:avLst/>
          </a:prstGeom>
          <a:solidFill>
            <a:srgbClr val="FFF7E6"/>
          </a:solidFill>
          <a:ln w="9525">
            <a:solidFill>
              <a:srgbClr val="F59E0B"/>
            </a:solidFill>
            <a:prstDash val="solid"/>
          </a:ln>
        </p:spPr>
        <p:txBody>
          <a:bodyPr/>
          <a:lstStyle/>
          <a:p>
            <a:endParaRPr lang="en-US"/>
          </a:p>
        </p:txBody>
      </p:sp>
      <p:sp>
        <p:nvSpPr>
          <p:cNvPr id="4" name="Text 2"/>
          <p:cNvSpPr/>
          <p:nvPr/>
        </p:nvSpPr>
        <p:spPr>
          <a:xfrm>
            <a:off x="548640" y="365760"/>
            <a:ext cx="4023360" cy="411480"/>
          </a:xfrm>
          <a:prstGeom prst="rect">
            <a:avLst/>
          </a:prstGeom>
          <a:noFill/>
          <a:ln/>
        </p:spPr>
        <p:txBody>
          <a:bodyPr wrap="square" rtlCol="0" anchor="ctr"/>
          <a:lstStyle/>
          <a:p>
            <a:pPr marL="0" indent="0" algn="ctr">
              <a:buNone/>
            </a:pPr>
            <a:r>
              <a:rPr lang="en-US" sz="1100" b="1" kern="0" spc="200">
                <a:solidFill>
                  <a:srgbClr val="0B2545"/>
                </a:solidFill>
                <a:latin typeface="Calibri" pitchFamily="34" charset="0"/>
                <a:ea typeface="Calibri" pitchFamily="34" charset="-122"/>
                <a:cs typeface="Calibri" pitchFamily="34" charset="-120"/>
              </a:rPr>
              <a:t>SECTION 4 — FOR LOOPS</a:t>
            </a:r>
            <a:endParaRPr lang="en-US" sz="1100"/>
          </a:p>
        </p:txBody>
      </p:sp>
      <p:sp>
        <p:nvSpPr>
          <p:cNvPr id="5" name="Shape 3"/>
          <p:cNvSpPr/>
          <p:nvPr/>
        </p:nvSpPr>
        <p:spPr>
          <a:xfrm>
            <a:off x="9418320" y="365760"/>
            <a:ext cx="2194560" cy="411480"/>
          </a:xfrm>
          <a:prstGeom prst="rect">
            <a:avLst/>
          </a:prstGeom>
          <a:solidFill>
            <a:srgbClr val="EEF2FF"/>
          </a:solidFill>
          <a:ln w="9525">
            <a:solidFill>
              <a:srgbClr val="0B2545"/>
            </a:solidFill>
            <a:prstDash val="solid"/>
          </a:ln>
        </p:spPr>
        <p:txBody>
          <a:bodyPr/>
          <a:lstStyle/>
          <a:p>
            <a:endParaRPr lang="en-US"/>
          </a:p>
        </p:txBody>
      </p:sp>
      <p:sp>
        <p:nvSpPr>
          <p:cNvPr id="6" name="Text 4"/>
          <p:cNvSpPr/>
          <p:nvPr/>
        </p:nvSpPr>
        <p:spPr>
          <a:xfrm>
            <a:off x="9418320" y="365760"/>
            <a:ext cx="2194560" cy="411480"/>
          </a:xfrm>
          <a:prstGeom prst="rect">
            <a:avLst/>
          </a:prstGeom>
          <a:noFill/>
          <a:ln/>
        </p:spPr>
        <p:txBody>
          <a:bodyPr wrap="square" rtlCol="0" anchor="ctr"/>
          <a:lstStyle/>
          <a:p>
            <a:pPr marL="0" indent="0" algn="ctr">
              <a:buNone/>
            </a:pPr>
            <a:r>
              <a:rPr lang="en-US" sz="1100" b="1" kern="0" spc="200">
                <a:solidFill>
                  <a:srgbClr val="0B2545"/>
                </a:solidFill>
                <a:latin typeface="Calibri" pitchFamily="34" charset="0"/>
                <a:ea typeface="Calibri" pitchFamily="34" charset="-122"/>
                <a:cs typeface="Calibri" pitchFamily="34" charset="-120"/>
              </a:rPr>
              <a:t>Q11  ·  QUESTION</a:t>
            </a:r>
            <a:endParaRPr lang="en-US" sz="1100"/>
          </a:p>
        </p:txBody>
      </p:sp>
      <p:sp>
        <p:nvSpPr>
          <p:cNvPr id="7" name="Text 5"/>
          <p:cNvSpPr/>
          <p:nvPr/>
        </p:nvSpPr>
        <p:spPr>
          <a:xfrm>
            <a:off x="548640" y="1005840"/>
            <a:ext cx="11064240" cy="320040"/>
          </a:xfrm>
          <a:prstGeom prst="rect">
            <a:avLst/>
          </a:prstGeom>
          <a:noFill/>
          <a:ln/>
        </p:spPr>
        <p:txBody>
          <a:bodyPr wrap="square" rtlCol="0" anchor="ctr"/>
          <a:lstStyle/>
          <a:p>
            <a:pPr marL="0" indent="0">
              <a:buNone/>
            </a:pPr>
            <a:r>
              <a:rPr lang="en-US" sz="1200" b="1" kern="0" spc="300">
                <a:solidFill>
                  <a:srgbClr val="F59E0B"/>
                </a:solidFill>
                <a:latin typeface="Calibri" pitchFamily="34" charset="0"/>
                <a:ea typeface="Calibri" pitchFamily="34" charset="-122"/>
                <a:cs typeface="Calibri" pitchFamily="34" charset="-120"/>
              </a:rPr>
              <a:t>MULTIPLE CHOICE</a:t>
            </a:r>
            <a:endParaRPr lang="en-US" sz="1200"/>
          </a:p>
        </p:txBody>
      </p:sp>
      <p:sp>
        <p:nvSpPr>
          <p:cNvPr id="8" name="Text 6"/>
          <p:cNvSpPr/>
          <p:nvPr/>
        </p:nvSpPr>
        <p:spPr>
          <a:xfrm>
            <a:off x="548640" y="1371600"/>
            <a:ext cx="11064240" cy="1097280"/>
          </a:xfrm>
          <a:prstGeom prst="rect">
            <a:avLst/>
          </a:prstGeom>
          <a:noFill/>
          <a:ln/>
        </p:spPr>
        <p:txBody>
          <a:bodyPr wrap="square" rtlCol="0" anchor="t"/>
          <a:lstStyle/>
          <a:p>
            <a:pPr marL="0" indent="0">
              <a:buNone/>
            </a:pPr>
            <a:r>
              <a:rPr lang="en-US" sz="2600" b="1" dirty="0">
                <a:solidFill>
                  <a:srgbClr val="0B2545"/>
                </a:solidFill>
                <a:latin typeface="Calibri" pitchFamily="34" charset="0"/>
                <a:ea typeface="Calibri" pitchFamily="34" charset="-122"/>
                <a:cs typeface="Calibri" pitchFamily="34" charset="-120"/>
              </a:rPr>
              <a:t>What does this print?  for (int i = 0; i &lt; 3; i++)</a:t>
            </a:r>
          </a:p>
          <a:p>
            <a:pPr marL="0" indent="0">
              <a:buNone/>
            </a:pPr>
            <a:r>
              <a:rPr lang="en-US" sz="2600" b="1" dirty="0">
                <a:solidFill>
                  <a:srgbClr val="0B2545"/>
                </a:solidFill>
                <a:latin typeface="Calibri" pitchFamily="34" charset="0"/>
                <a:ea typeface="Calibri" pitchFamily="34" charset="-122"/>
                <a:cs typeface="Calibri" pitchFamily="34" charset="-120"/>
              </a:rPr>
              <a:t>				 </a:t>
            </a:r>
            <a:r>
              <a:rPr lang="en-US" sz="2600" b="1" dirty="0" err="1">
                <a:solidFill>
                  <a:srgbClr val="0B2545"/>
                </a:solidFill>
                <a:latin typeface="Calibri" pitchFamily="34" charset="0"/>
                <a:ea typeface="Calibri" pitchFamily="34" charset="-122"/>
                <a:cs typeface="Calibri" pitchFamily="34" charset="-120"/>
              </a:rPr>
              <a:t>Console.Write</a:t>
            </a:r>
            <a:r>
              <a:rPr lang="en-US" sz="2600" b="1" dirty="0">
                <a:solidFill>
                  <a:srgbClr val="0B2545"/>
                </a:solidFill>
                <a:latin typeface="Calibri" pitchFamily="34" charset="0"/>
                <a:ea typeface="Calibri" pitchFamily="34" charset="-122"/>
                <a:cs typeface="Calibri" pitchFamily="34" charset="-120"/>
              </a:rPr>
              <a:t>(i);</a:t>
            </a:r>
            <a:endParaRPr lang="en-US" sz="2600" dirty="0"/>
          </a:p>
        </p:txBody>
      </p:sp>
      <p:sp>
        <p:nvSpPr>
          <p:cNvPr id="9" name="Shape 7"/>
          <p:cNvSpPr/>
          <p:nvPr/>
        </p:nvSpPr>
        <p:spPr>
          <a:xfrm>
            <a:off x="548640" y="2560320"/>
            <a:ext cx="457200" cy="457200"/>
          </a:xfrm>
          <a:prstGeom prst="ellipse">
            <a:avLst/>
          </a:prstGeom>
          <a:solidFill>
            <a:srgbClr val="EEF2FF"/>
          </a:solidFill>
          <a:ln w="12700">
            <a:solidFill>
              <a:srgbClr val="0B2545"/>
            </a:solidFill>
            <a:prstDash val="solid"/>
          </a:ln>
        </p:spPr>
        <p:txBody>
          <a:bodyPr/>
          <a:lstStyle/>
          <a:p>
            <a:endParaRPr lang="en-US"/>
          </a:p>
        </p:txBody>
      </p:sp>
      <p:sp>
        <p:nvSpPr>
          <p:cNvPr id="10" name="Text 8"/>
          <p:cNvSpPr/>
          <p:nvPr/>
        </p:nvSpPr>
        <p:spPr>
          <a:xfrm>
            <a:off x="548640" y="2560320"/>
            <a:ext cx="457200" cy="457200"/>
          </a:xfrm>
          <a:prstGeom prst="rect">
            <a:avLst/>
          </a:prstGeom>
          <a:noFill/>
          <a:ln/>
        </p:spPr>
        <p:txBody>
          <a:bodyPr wrap="square" lIns="0" tIns="0" rIns="0" bIns="0" rtlCol="0" anchor="ctr"/>
          <a:lstStyle/>
          <a:p>
            <a:pPr marL="0" indent="0" algn="ctr">
              <a:buNone/>
            </a:pPr>
            <a:r>
              <a:rPr lang="en-US" sz="1400" b="1">
                <a:solidFill>
                  <a:srgbClr val="0B2545"/>
                </a:solidFill>
                <a:latin typeface="Calibri" pitchFamily="34" charset="0"/>
                <a:ea typeface="Calibri" pitchFamily="34" charset="-122"/>
                <a:cs typeface="Calibri" pitchFamily="34" charset="-120"/>
              </a:rPr>
              <a:t>A</a:t>
            </a:r>
            <a:endParaRPr lang="en-US" sz="1400"/>
          </a:p>
        </p:txBody>
      </p:sp>
      <p:sp>
        <p:nvSpPr>
          <p:cNvPr id="11" name="Text 9"/>
          <p:cNvSpPr/>
          <p:nvPr/>
        </p:nvSpPr>
        <p:spPr>
          <a:xfrm>
            <a:off x="1143000" y="2578608"/>
            <a:ext cx="10469880" cy="457200"/>
          </a:xfrm>
          <a:prstGeom prst="rect">
            <a:avLst/>
          </a:prstGeom>
          <a:noFill/>
          <a:ln/>
        </p:spPr>
        <p:txBody>
          <a:bodyPr wrap="square" lIns="0" tIns="0" rIns="0" bIns="0" rtlCol="0" anchor="ctr"/>
          <a:lstStyle/>
          <a:p>
            <a:pPr marL="0" indent="0">
              <a:buNone/>
            </a:pPr>
            <a:r>
              <a:rPr lang="en-US" sz="1600">
                <a:solidFill>
                  <a:srgbClr val="1F2937"/>
                </a:solidFill>
                <a:latin typeface="Calibri" pitchFamily="34" charset="0"/>
                <a:ea typeface="Calibri" pitchFamily="34" charset="-122"/>
                <a:cs typeface="Calibri" pitchFamily="34" charset="-120"/>
              </a:rPr>
              <a:t>012</a:t>
            </a:r>
            <a:endParaRPr lang="en-US" sz="1600"/>
          </a:p>
        </p:txBody>
      </p:sp>
      <p:sp>
        <p:nvSpPr>
          <p:cNvPr id="12" name="Shape 10"/>
          <p:cNvSpPr/>
          <p:nvPr/>
        </p:nvSpPr>
        <p:spPr>
          <a:xfrm>
            <a:off x="548640" y="3154680"/>
            <a:ext cx="457200" cy="457200"/>
          </a:xfrm>
          <a:prstGeom prst="ellipse">
            <a:avLst/>
          </a:prstGeom>
          <a:solidFill>
            <a:srgbClr val="EEF2FF"/>
          </a:solidFill>
          <a:ln w="12700">
            <a:solidFill>
              <a:srgbClr val="0B2545"/>
            </a:solidFill>
            <a:prstDash val="solid"/>
          </a:ln>
        </p:spPr>
        <p:txBody>
          <a:bodyPr/>
          <a:lstStyle/>
          <a:p>
            <a:endParaRPr lang="en-US"/>
          </a:p>
        </p:txBody>
      </p:sp>
      <p:sp>
        <p:nvSpPr>
          <p:cNvPr id="13" name="Text 11"/>
          <p:cNvSpPr/>
          <p:nvPr/>
        </p:nvSpPr>
        <p:spPr>
          <a:xfrm>
            <a:off x="548640" y="3154680"/>
            <a:ext cx="457200" cy="457200"/>
          </a:xfrm>
          <a:prstGeom prst="rect">
            <a:avLst/>
          </a:prstGeom>
          <a:noFill/>
          <a:ln/>
        </p:spPr>
        <p:txBody>
          <a:bodyPr wrap="square" lIns="0" tIns="0" rIns="0" bIns="0" rtlCol="0" anchor="ctr"/>
          <a:lstStyle/>
          <a:p>
            <a:pPr marL="0" indent="0" algn="ctr">
              <a:buNone/>
            </a:pPr>
            <a:r>
              <a:rPr lang="en-US" sz="1400" b="1">
                <a:solidFill>
                  <a:srgbClr val="0B2545"/>
                </a:solidFill>
                <a:latin typeface="Calibri" pitchFamily="34" charset="0"/>
                <a:ea typeface="Calibri" pitchFamily="34" charset="-122"/>
                <a:cs typeface="Calibri" pitchFamily="34" charset="-120"/>
              </a:rPr>
              <a:t>B</a:t>
            </a:r>
            <a:endParaRPr lang="en-US" sz="1400"/>
          </a:p>
        </p:txBody>
      </p:sp>
      <p:sp>
        <p:nvSpPr>
          <p:cNvPr id="14" name="Text 12"/>
          <p:cNvSpPr/>
          <p:nvPr/>
        </p:nvSpPr>
        <p:spPr>
          <a:xfrm>
            <a:off x="1143000" y="3172968"/>
            <a:ext cx="10469880" cy="457200"/>
          </a:xfrm>
          <a:prstGeom prst="rect">
            <a:avLst/>
          </a:prstGeom>
          <a:noFill/>
          <a:ln/>
        </p:spPr>
        <p:txBody>
          <a:bodyPr wrap="square" lIns="0" tIns="0" rIns="0" bIns="0" rtlCol="0" anchor="ctr"/>
          <a:lstStyle/>
          <a:p>
            <a:pPr marL="0" indent="0">
              <a:buNone/>
            </a:pPr>
            <a:r>
              <a:rPr lang="en-US" sz="1600">
                <a:solidFill>
                  <a:srgbClr val="1F2937"/>
                </a:solidFill>
                <a:latin typeface="Calibri" pitchFamily="34" charset="0"/>
                <a:ea typeface="Calibri" pitchFamily="34" charset="-122"/>
                <a:cs typeface="Calibri" pitchFamily="34" charset="-120"/>
              </a:rPr>
              <a:t>123</a:t>
            </a:r>
            <a:endParaRPr lang="en-US" sz="1600"/>
          </a:p>
        </p:txBody>
      </p:sp>
      <p:sp>
        <p:nvSpPr>
          <p:cNvPr id="15" name="Shape 13"/>
          <p:cNvSpPr/>
          <p:nvPr/>
        </p:nvSpPr>
        <p:spPr>
          <a:xfrm>
            <a:off x="548640" y="3749040"/>
            <a:ext cx="457200" cy="457200"/>
          </a:xfrm>
          <a:prstGeom prst="ellipse">
            <a:avLst/>
          </a:prstGeom>
          <a:solidFill>
            <a:srgbClr val="EEF2FF"/>
          </a:solidFill>
          <a:ln w="12700">
            <a:solidFill>
              <a:srgbClr val="0B2545"/>
            </a:solidFill>
            <a:prstDash val="solid"/>
          </a:ln>
        </p:spPr>
        <p:txBody>
          <a:bodyPr/>
          <a:lstStyle/>
          <a:p>
            <a:endParaRPr lang="en-US"/>
          </a:p>
        </p:txBody>
      </p:sp>
      <p:sp>
        <p:nvSpPr>
          <p:cNvPr id="16" name="Text 14"/>
          <p:cNvSpPr/>
          <p:nvPr/>
        </p:nvSpPr>
        <p:spPr>
          <a:xfrm>
            <a:off x="548640" y="3749040"/>
            <a:ext cx="457200" cy="457200"/>
          </a:xfrm>
          <a:prstGeom prst="rect">
            <a:avLst/>
          </a:prstGeom>
          <a:noFill/>
          <a:ln/>
        </p:spPr>
        <p:txBody>
          <a:bodyPr wrap="square" lIns="0" tIns="0" rIns="0" bIns="0" rtlCol="0" anchor="ctr"/>
          <a:lstStyle/>
          <a:p>
            <a:pPr marL="0" indent="0" algn="ctr">
              <a:buNone/>
            </a:pPr>
            <a:r>
              <a:rPr lang="en-US" sz="1400" b="1">
                <a:solidFill>
                  <a:srgbClr val="0B2545"/>
                </a:solidFill>
                <a:latin typeface="Calibri" pitchFamily="34" charset="0"/>
                <a:ea typeface="Calibri" pitchFamily="34" charset="-122"/>
                <a:cs typeface="Calibri" pitchFamily="34" charset="-120"/>
              </a:rPr>
              <a:t>C</a:t>
            </a:r>
            <a:endParaRPr lang="en-US" sz="1400"/>
          </a:p>
        </p:txBody>
      </p:sp>
      <p:sp>
        <p:nvSpPr>
          <p:cNvPr id="17" name="Text 15"/>
          <p:cNvSpPr/>
          <p:nvPr/>
        </p:nvSpPr>
        <p:spPr>
          <a:xfrm>
            <a:off x="1143000" y="3767328"/>
            <a:ext cx="10469880" cy="457200"/>
          </a:xfrm>
          <a:prstGeom prst="rect">
            <a:avLst/>
          </a:prstGeom>
          <a:noFill/>
          <a:ln/>
        </p:spPr>
        <p:txBody>
          <a:bodyPr wrap="square" lIns="0" tIns="0" rIns="0" bIns="0" rtlCol="0" anchor="ctr"/>
          <a:lstStyle/>
          <a:p>
            <a:pPr marL="0" indent="0">
              <a:buNone/>
            </a:pPr>
            <a:r>
              <a:rPr lang="en-US" sz="1600">
                <a:solidFill>
                  <a:srgbClr val="1F2937"/>
                </a:solidFill>
                <a:latin typeface="Calibri" pitchFamily="34" charset="0"/>
                <a:ea typeface="Calibri" pitchFamily="34" charset="-122"/>
                <a:cs typeface="Calibri" pitchFamily="34" charset="-120"/>
              </a:rPr>
              <a:t>0123</a:t>
            </a:r>
            <a:endParaRPr lang="en-US" sz="1600"/>
          </a:p>
        </p:txBody>
      </p:sp>
      <p:sp>
        <p:nvSpPr>
          <p:cNvPr id="18" name="Shape 16"/>
          <p:cNvSpPr/>
          <p:nvPr/>
        </p:nvSpPr>
        <p:spPr>
          <a:xfrm>
            <a:off x="548640" y="4343400"/>
            <a:ext cx="457200" cy="457200"/>
          </a:xfrm>
          <a:prstGeom prst="ellipse">
            <a:avLst/>
          </a:prstGeom>
          <a:solidFill>
            <a:srgbClr val="EEF2FF"/>
          </a:solidFill>
          <a:ln w="12700">
            <a:solidFill>
              <a:srgbClr val="0B2545"/>
            </a:solidFill>
            <a:prstDash val="solid"/>
          </a:ln>
        </p:spPr>
        <p:txBody>
          <a:bodyPr/>
          <a:lstStyle/>
          <a:p>
            <a:endParaRPr lang="en-US"/>
          </a:p>
        </p:txBody>
      </p:sp>
      <p:sp>
        <p:nvSpPr>
          <p:cNvPr id="19" name="Text 17"/>
          <p:cNvSpPr/>
          <p:nvPr/>
        </p:nvSpPr>
        <p:spPr>
          <a:xfrm>
            <a:off x="548640" y="4343400"/>
            <a:ext cx="457200" cy="457200"/>
          </a:xfrm>
          <a:prstGeom prst="rect">
            <a:avLst/>
          </a:prstGeom>
          <a:noFill/>
          <a:ln/>
        </p:spPr>
        <p:txBody>
          <a:bodyPr wrap="square" lIns="0" tIns="0" rIns="0" bIns="0" rtlCol="0" anchor="ctr"/>
          <a:lstStyle/>
          <a:p>
            <a:pPr marL="0" indent="0" algn="ctr">
              <a:buNone/>
            </a:pPr>
            <a:r>
              <a:rPr lang="en-US" sz="1400" b="1">
                <a:solidFill>
                  <a:srgbClr val="0B2545"/>
                </a:solidFill>
                <a:latin typeface="Calibri" pitchFamily="34" charset="0"/>
                <a:ea typeface="Calibri" pitchFamily="34" charset="-122"/>
                <a:cs typeface="Calibri" pitchFamily="34" charset="-120"/>
              </a:rPr>
              <a:t>D</a:t>
            </a:r>
            <a:endParaRPr lang="en-US" sz="1400"/>
          </a:p>
        </p:txBody>
      </p:sp>
      <p:sp>
        <p:nvSpPr>
          <p:cNvPr id="20" name="Text 18"/>
          <p:cNvSpPr/>
          <p:nvPr/>
        </p:nvSpPr>
        <p:spPr>
          <a:xfrm>
            <a:off x="1143000" y="4361688"/>
            <a:ext cx="10469880" cy="457200"/>
          </a:xfrm>
          <a:prstGeom prst="rect">
            <a:avLst/>
          </a:prstGeom>
          <a:noFill/>
          <a:ln/>
        </p:spPr>
        <p:txBody>
          <a:bodyPr wrap="square" lIns="0" tIns="0" rIns="0" bIns="0" rtlCol="0" anchor="ctr"/>
          <a:lstStyle/>
          <a:p>
            <a:pPr marL="0" indent="0">
              <a:buNone/>
            </a:pPr>
            <a:r>
              <a:rPr lang="en-US" sz="1600">
                <a:solidFill>
                  <a:srgbClr val="1F2937"/>
                </a:solidFill>
                <a:latin typeface="Calibri" pitchFamily="34" charset="0"/>
                <a:ea typeface="Calibri" pitchFamily="34" charset="-122"/>
                <a:cs typeface="Calibri" pitchFamily="34" charset="-120"/>
              </a:rPr>
              <a:t>Compile error</a:t>
            </a:r>
            <a:endParaRPr lang="en-US" sz="1600"/>
          </a:p>
        </p:txBody>
      </p:sp>
      <p:sp>
        <p:nvSpPr>
          <p:cNvPr id="21" name="Shape 19"/>
          <p:cNvSpPr/>
          <p:nvPr/>
        </p:nvSpPr>
        <p:spPr>
          <a:xfrm>
            <a:off x="548640" y="6492240"/>
            <a:ext cx="11064240" cy="0"/>
          </a:xfrm>
          <a:prstGeom prst="line">
            <a:avLst/>
          </a:prstGeom>
          <a:noFill/>
          <a:ln w="9525">
            <a:solidFill>
              <a:srgbClr val="E5E7EB"/>
            </a:solidFill>
            <a:prstDash val="solid"/>
          </a:ln>
        </p:spPr>
        <p:txBody>
          <a:bodyPr/>
          <a:lstStyle/>
          <a:p>
            <a:endParaRPr lang="en-US"/>
          </a:p>
        </p:txBody>
      </p:sp>
      <p:sp>
        <p:nvSpPr>
          <p:cNvPr id="22" name="Text 20"/>
          <p:cNvSpPr/>
          <p:nvPr/>
        </p:nvSpPr>
        <p:spPr>
          <a:xfrm>
            <a:off x="548640" y="6537960"/>
            <a:ext cx="5486400" cy="274320"/>
          </a:xfrm>
          <a:prstGeom prst="rect">
            <a:avLst/>
          </a:prstGeom>
          <a:noFill/>
          <a:ln/>
        </p:spPr>
        <p:txBody>
          <a:bodyPr wrap="square" rtlCol="0" anchor="ctr"/>
          <a:lstStyle/>
          <a:p>
            <a:pPr marL="0" indent="0">
              <a:buNone/>
            </a:pPr>
            <a:r>
              <a:rPr lang="en-US" sz="1000">
                <a:solidFill>
                  <a:srgbClr val="6B7280"/>
                </a:solidFill>
                <a:latin typeface="Calibri" pitchFamily="34" charset="0"/>
                <a:ea typeface="Calibri" pitchFamily="34" charset="-122"/>
                <a:cs typeface="Calibri" pitchFamily="34" charset="-120"/>
              </a:rPr>
              <a:t>C# Concepts Quiz</a:t>
            </a:r>
            <a:endParaRPr lang="en-US" sz="1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F59E0B"/>
          </a:solidFill>
          <a:ln w="12700">
            <a:solidFill>
              <a:srgbClr val="F59E0B"/>
            </a:solidFill>
            <a:prstDash val="solid"/>
          </a:ln>
        </p:spPr>
        <p:txBody>
          <a:bodyPr/>
          <a:lstStyle/>
          <a:p>
            <a:endParaRPr lang="en-US"/>
          </a:p>
        </p:txBody>
      </p:sp>
      <p:sp>
        <p:nvSpPr>
          <p:cNvPr id="3" name="Shape 1"/>
          <p:cNvSpPr/>
          <p:nvPr/>
        </p:nvSpPr>
        <p:spPr>
          <a:xfrm>
            <a:off x="548640" y="365760"/>
            <a:ext cx="4023360" cy="411480"/>
          </a:xfrm>
          <a:prstGeom prst="rect">
            <a:avLst/>
          </a:prstGeom>
          <a:solidFill>
            <a:srgbClr val="FFF7E6"/>
          </a:solidFill>
          <a:ln w="9525">
            <a:solidFill>
              <a:srgbClr val="F59E0B"/>
            </a:solidFill>
            <a:prstDash val="solid"/>
          </a:ln>
        </p:spPr>
        <p:txBody>
          <a:bodyPr/>
          <a:lstStyle/>
          <a:p>
            <a:endParaRPr lang="en-US"/>
          </a:p>
        </p:txBody>
      </p:sp>
      <p:sp>
        <p:nvSpPr>
          <p:cNvPr id="4" name="Text 2"/>
          <p:cNvSpPr/>
          <p:nvPr/>
        </p:nvSpPr>
        <p:spPr>
          <a:xfrm>
            <a:off x="548640" y="365760"/>
            <a:ext cx="4023360" cy="411480"/>
          </a:xfrm>
          <a:prstGeom prst="rect">
            <a:avLst/>
          </a:prstGeom>
          <a:noFill/>
          <a:ln/>
        </p:spPr>
        <p:txBody>
          <a:bodyPr wrap="square" rtlCol="0" anchor="ctr"/>
          <a:lstStyle/>
          <a:p>
            <a:pPr marL="0" indent="0" algn="ctr">
              <a:buNone/>
            </a:pPr>
            <a:r>
              <a:rPr lang="en-US" sz="1100" b="1" kern="0" spc="200">
                <a:solidFill>
                  <a:srgbClr val="0B2545"/>
                </a:solidFill>
                <a:latin typeface="Calibri" pitchFamily="34" charset="0"/>
                <a:ea typeface="Calibri" pitchFamily="34" charset="-122"/>
                <a:cs typeface="Calibri" pitchFamily="34" charset="-120"/>
              </a:rPr>
              <a:t>SECTION 4 — FOR LOOPS</a:t>
            </a:r>
            <a:endParaRPr lang="en-US" sz="1100"/>
          </a:p>
        </p:txBody>
      </p:sp>
      <p:sp>
        <p:nvSpPr>
          <p:cNvPr id="5" name="Shape 3"/>
          <p:cNvSpPr/>
          <p:nvPr/>
        </p:nvSpPr>
        <p:spPr>
          <a:xfrm>
            <a:off x="9418320" y="365760"/>
            <a:ext cx="2194560" cy="411480"/>
          </a:xfrm>
          <a:prstGeom prst="rect">
            <a:avLst/>
          </a:prstGeom>
          <a:solidFill>
            <a:srgbClr val="ECFDF5"/>
          </a:solidFill>
          <a:ln w="9525">
            <a:solidFill>
              <a:srgbClr val="10B981"/>
            </a:solidFill>
            <a:prstDash val="solid"/>
          </a:ln>
        </p:spPr>
        <p:txBody>
          <a:bodyPr/>
          <a:lstStyle/>
          <a:p>
            <a:endParaRPr lang="en-US"/>
          </a:p>
        </p:txBody>
      </p:sp>
      <p:sp>
        <p:nvSpPr>
          <p:cNvPr id="6" name="Text 4"/>
          <p:cNvSpPr/>
          <p:nvPr/>
        </p:nvSpPr>
        <p:spPr>
          <a:xfrm>
            <a:off x="9418320" y="365760"/>
            <a:ext cx="2194560" cy="411480"/>
          </a:xfrm>
          <a:prstGeom prst="rect">
            <a:avLst/>
          </a:prstGeom>
          <a:noFill/>
          <a:ln/>
        </p:spPr>
        <p:txBody>
          <a:bodyPr wrap="square" rtlCol="0" anchor="ctr"/>
          <a:lstStyle/>
          <a:p>
            <a:pPr marL="0" indent="0" algn="ctr">
              <a:buNone/>
            </a:pPr>
            <a:r>
              <a:rPr lang="en-US" sz="1100" b="1" kern="0" spc="200">
                <a:solidFill>
                  <a:srgbClr val="10B981"/>
                </a:solidFill>
                <a:latin typeface="Calibri" pitchFamily="34" charset="0"/>
                <a:ea typeface="Calibri" pitchFamily="34" charset="-122"/>
                <a:cs typeface="Calibri" pitchFamily="34" charset="-120"/>
              </a:rPr>
              <a:t>Q11  ·  ANSWER</a:t>
            </a:r>
            <a:endParaRPr lang="en-US" sz="1100"/>
          </a:p>
        </p:txBody>
      </p:sp>
      <p:sp>
        <p:nvSpPr>
          <p:cNvPr id="7" name="Text 5"/>
          <p:cNvSpPr/>
          <p:nvPr/>
        </p:nvSpPr>
        <p:spPr>
          <a:xfrm>
            <a:off x="548640" y="1005840"/>
            <a:ext cx="11064240" cy="640080"/>
          </a:xfrm>
          <a:prstGeom prst="rect">
            <a:avLst/>
          </a:prstGeom>
          <a:noFill/>
          <a:ln/>
        </p:spPr>
        <p:txBody>
          <a:bodyPr wrap="square" rtlCol="0" anchor="t"/>
          <a:lstStyle/>
          <a:p>
            <a:pPr marL="0" indent="0">
              <a:buNone/>
            </a:pPr>
            <a:r>
              <a:rPr lang="en-US" sz="1500" i="1">
                <a:solidFill>
                  <a:srgbClr val="6B7280"/>
                </a:solidFill>
                <a:latin typeface="Calibri" pitchFamily="34" charset="0"/>
                <a:ea typeface="Calibri" pitchFamily="34" charset="-122"/>
                <a:cs typeface="Calibri" pitchFamily="34" charset="-120"/>
              </a:rPr>
              <a:t>What does this print?  for (int i = 0; i &lt; 3; i++) Console.Write(i);</a:t>
            </a:r>
            <a:endParaRPr lang="en-US" sz="1500"/>
          </a:p>
        </p:txBody>
      </p:sp>
      <p:sp>
        <p:nvSpPr>
          <p:cNvPr id="8" name="Shape 6"/>
          <p:cNvSpPr/>
          <p:nvPr/>
        </p:nvSpPr>
        <p:spPr>
          <a:xfrm>
            <a:off x="548640" y="1783080"/>
            <a:ext cx="11064240" cy="0"/>
          </a:xfrm>
          <a:prstGeom prst="line">
            <a:avLst/>
          </a:prstGeom>
          <a:noFill/>
          <a:ln w="12700">
            <a:solidFill>
              <a:srgbClr val="E5E7EB"/>
            </a:solidFill>
            <a:prstDash val="solid"/>
          </a:ln>
        </p:spPr>
        <p:txBody>
          <a:bodyPr/>
          <a:lstStyle/>
          <a:p>
            <a:endParaRPr lang="en-US"/>
          </a:p>
        </p:txBody>
      </p:sp>
      <p:sp>
        <p:nvSpPr>
          <p:cNvPr id="9" name="Shape 7"/>
          <p:cNvSpPr/>
          <p:nvPr/>
        </p:nvSpPr>
        <p:spPr>
          <a:xfrm>
            <a:off x="548640" y="1965960"/>
            <a:ext cx="11064240" cy="640080"/>
          </a:xfrm>
          <a:prstGeom prst="rect">
            <a:avLst/>
          </a:prstGeom>
          <a:solidFill>
            <a:srgbClr val="ECFDF5"/>
          </a:solidFill>
          <a:ln w="12700">
            <a:solidFill>
              <a:srgbClr val="10B981"/>
            </a:solidFill>
            <a:prstDash val="solid"/>
          </a:ln>
        </p:spPr>
        <p:txBody>
          <a:bodyPr/>
          <a:lstStyle/>
          <a:p>
            <a:endParaRPr lang="en-US"/>
          </a:p>
        </p:txBody>
      </p:sp>
      <p:sp>
        <p:nvSpPr>
          <p:cNvPr id="10" name="Text 8"/>
          <p:cNvSpPr/>
          <p:nvPr/>
        </p:nvSpPr>
        <p:spPr>
          <a:xfrm>
            <a:off x="777240" y="1965960"/>
            <a:ext cx="10607040" cy="640080"/>
          </a:xfrm>
          <a:prstGeom prst="rect">
            <a:avLst/>
          </a:prstGeom>
          <a:noFill/>
          <a:ln/>
        </p:spPr>
        <p:txBody>
          <a:bodyPr wrap="square" rtlCol="0" anchor="ctr"/>
          <a:lstStyle/>
          <a:p>
            <a:pPr marL="0" indent="0">
              <a:buNone/>
            </a:pPr>
            <a:r>
              <a:rPr lang="en-US" sz="1800" b="1">
                <a:solidFill>
                  <a:srgbClr val="065F46"/>
                </a:solidFill>
                <a:latin typeface="Calibri" pitchFamily="34" charset="0"/>
                <a:ea typeface="Calibri" pitchFamily="34" charset="-122"/>
                <a:cs typeface="Calibri" pitchFamily="34" charset="-120"/>
              </a:rPr>
              <a:t>Correct answer: A — the loop prints 012.</a:t>
            </a:r>
            <a:endParaRPr lang="en-US" sz="1800"/>
          </a:p>
        </p:txBody>
      </p:sp>
      <p:sp>
        <p:nvSpPr>
          <p:cNvPr id="11" name="Text 9"/>
          <p:cNvSpPr/>
          <p:nvPr/>
        </p:nvSpPr>
        <p:spPr>
          <a:xfrm>
            <a:off x="548640" y="2788920"/>
            <a:ext cx="11064240" cy="320040"/>
          </a:xfrm>
          <a:prstGeom prst="rect">
            <a:avLst/>
          </a:prstGeom>
          <a:noFill/>
          <a:ln/>
        </p:spPr>
        <p:txBody>
          <a:bodyPr wrap="square" rtlCol="0" anchor="ctr"/>
          <a:lstStyle/>
          <a:p>
            <a:pPr marL="0" indent="0">
              <a:buNone/>
            </a:pPr>
            <a:r>
              <a:rPr lang="en-US" sz="1200" b="1" kern="0" spc="300">
                <a:solidFill>
                  <a:srgbClr val="F59E0B"/>
                </a:solidFill>
                <a:latin typeface="Calibri" pitchFamily="34" charset="0"/>
                <a:ea typeface="Calibri" pitchFamily="34" charset="-122"/>
                <a:cs typeface="Calibri" pitchFamily="34" charset="-120"/>
              </a:rPr>
              <a:t>Explanation</a:t>
            </a:r>
            <a:endParaRPr lang="en-US" sz="1200"/>
          </a:p>
        </p:txBody>
      </p:sp>
      <p:sp>
        <p:nvSpPr>
          <p:cNvPr id="12" name="Text 10"/>
          <p:cNvSpPr/>
          <p:nvPr/>
        </p:nvSpPr>
        <p:spPr>
          <a:xfrm>
            <a:off x="548640" y="3154680"/>
            <a:ext cx="11064240" cy="2788920"/>
          </a:xfrm>
          <a:prstGeom prst="rect">
            <a:avLst/>
          </a:prstGeom>
          <a:noFill/>
          <a:ln/>
        </p:spPr>
        <p:txBody>
          <a:bodyPr wrap="square" rtlCol="0" anchor="t"/>
          <a:lstStyle/>
          <a:p>
            <a:pPr marL="0" indent="0">
              <a:buNone/>
            </a:pPr>
            <a:r>
              <a:rPr lang="en-US" sz="1600">
                <a:solidFill>
                  <a:srgbClr val="13315C"/>
                </a:solidFill>
                <a:latin typeface="Calibri" pitchFamily="34" charset="0"/>
                <a:ea typeface="Calibri" pitchFamily="34" charset="-122"/>
                <a:cs typeface="Calibri" pitchFamily="34" charset="-120"/>
              </a:rPr>
              <a:t>The counter i starts at 0, runs while i &lt; 3, and increments after each iteration. Console.Write outputs each value with no separator, so the output is the digits 0, 1, and 2 concatenated as 012.</a:t>
            </a:r>
            <a:endParaRPr lang="en-US" sz="1600"/>
          </a:p>
        </p:txBody>
      </p:sp>
      <p:sp>
        <p:nvSpPr>
          <p:cNvPr id="13" name="Shape 11"/>
          <p:cNvSpPr/>
          <p:nvPr/>
        </p:nvSpPr>
        <p:spPr>
          <a:xfrm>
            <a:off x="548640" y="6492240"/>
            <a:ext cx="11064240" cy="0"/>
          </a:xfrm>
          <a:prstGeom prst="line">
            <a:avLst/>
          </a:prstGeom>
          <a:noFill/>
          <a:ln w="9525">
            <a:solidFill>
              <a:srgbClr val="E5E7EB"/>
            </a:solidFill>
            <a:prstDash val="solid"/>
          </a:ln>
        </p:spPr>
        <p:txBody>
          <a:bodyPr/>
          <a:lstStyle/>
          <a:p>
            <a:endParaRPr lang="en-US"/>
          </a:p>
        </p:txBody>
      </p:sp>
      <p:sp>
        <p:nvSpPr>
          <p:cNvPr id="14" name="Text 12"/>
          <p:cNvSpPr/>
          <p:nvPr/>
        </p:nvSpPr>
        <p:spPr>
          <a:xfrm>
            <a:off x="548640" y="6537960"/>
            <a:ext cx="5486400" cy="274320"/>
          </a:xfrm>
          <a:prstGeom prst="rect">
            <a:avLst/>
          </a:prstGeom>
          <a:noFill/>
          <a:ln/>
        </p:spPr>
        <p:txBody>
          <a:bodyPr wrap="square" rtlCol="0" anchor="ctr"/>
          <a:lstStyle/>
          <a:p>
            <a:pPr marL="0" indent="0">
              <a:buNone/>
            </a:pPr>
            <a:r>
              <a:rPr lang="en-US" sz="1000">
                <a:solidFill>
                  <a:srgbClr val="6B7280"/>
                </a:solidFill>
                <a:latin typeface="Calibri" pitchFamily="34" charset="0"/>
                <a:ea typeface="Calibri" pitchFamily="34" charset="-122"/>
                <a:cs typeface="Calibri" pitchFamily="34" charset="-120"/>
              </a:rPr>
              <a:t>C# Concepts Quiz</a:t>
            </a:r>
            <a:endParaRPr lang="en-US" sz="1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F59E0B"/>
          </a:solidFill>
          <a:ln w="12700">
            <a:solidFill>
              <a:srgbClr val="F59E0B"/>
            </a:solidFill>
            <a:prstDash val="solid"/>
          </a:ln>
        </p:spPr>
        <p:txBody>
          <a:bodyPr/>
          <a:lstStyle/>
          <a:p>
            <a:endParaRPr lang="en-US"/>
          </a:p>
        </p:txBody>
      </p:sp>
      <p:sp>
        <p:nvSpPr>
          <p:cNvPr id="3" name="Shape 1"/>
          <p:cNvSpPr/>
          <p:nvPr/>
        </p:nvSpPr>
        <p:spPr>
          <a:xfrm>
            <a:off x="548640" y="365760"/>
            <a:ext cx="4023360" cy="411480"/>
          </a:xfrm>
          <a:prstGeom prst="rect">
            <a:avLst/>
          </a:prstGeom>
          <a:solidFill>
            <a:srgbClr val="FFF7E6"/>
          </a:solidFill>
          <a:ln w="9525">
            <a:solidFill>
              <a:srgbClr val="F59E0B"/>
            </a:solidFill>
            <a:prstDash val="solid"/>
          </a:ln>
        </p:spPr>
        <p:txBody>
          <a:bodyPr/>
          <a:lstStyle/>
          <a:p>
            <a:endParaRPr lang="en-US"/>
          </a:p>
        </p:txBody>
      </p:sp>
      <p:sp>
        <p:nvSpPr>
          <p:cNvPr id="4" name="Text 2"/>
          <p:cNvSpPr/>
          <p:nvPr/>
        </p:nvSpPr>
        <p:spPr>
          <a:xfrm>
            <a:off x="548640" y="365760"/>
            <a:ext cx="4023360" cy="411480"/>
          </a:xfrm>
          <a:prstGeom prst="rect">
            <a:avLst/>
          </a:prstGeom>
          <a:noFill/>
          <a:ln/>
        </p:spPr>
        <p:txBody>
          <a:bodyPr wrap="square" rtlCol="0" anchor="ctr"/>
          <a:lstStyle/>
          <a:p>
            <a:pPr marL="0" indent="0" algn="ctr">
              <a:buNone/>
            </a:pPr>
            <a:r>
              <a:rPr lang="en-US" sz="1100" b="1" kern="0" spc="200">
                <a:solidFill>
                  <a:srgbClr val="0B2545"/>
                </a:solidFill>
                <a:latin typeface="Calibri" pitchFamily="34" charset="0"/>
                <a:ea typeface="Calibri" pitchFamily="34" charset="-122"/>
                <a:cs typeface="Calibri" pitchFamily="34" charset="-120"/>
              </a:rPr>
              <a:t>SECTION 4 — FOR LOOPS</a:t>
            </a:r>
            <a:endParaRPr lang="en-US" sz="1100"/>
          </a:p>
        </p:txBody>
      </p:sp>
      <p:sp>
        <p:nvSpPr>
          <p:cNvPr id="5" name="Shape 3"/>
          <p:cNvSpPr/>
          <p:nvPr/>
        </p:nvSpPr>
        <p:spPr>
          <a:xfrm>
            <a:off x="9418320" y="365760"/>
            <a:ext cx="2194560" cy="411480"/>
          </a:xfrm>
          <a:prstGeom prst="rect">
            <a:avLst/>
          </a:prstGeom>
          <a:solidFill>
            <a:srgbClr val="EEF2FF"/>
          </a:solidFill>
          <a:ln w="9525">
            <a:solidFill>
              <a:srgbClr val="0B2545"/>
            </a:solidFill>
            <a:prstDash val="solid"/>
          </a:ln>
        </p:spPr>
        <p:txBody>
          <a:bodyPr/>
          <a:lstStyle/>
          <a:p>
            <a:endParaRPr lang="en-US"/>
          </a:p>
        </p:txBody>
      </p:sp>
      <p:sp>
        <p:nvSpPr>
          <p:cNvPr id="6" name="Text 4"/>
          <p:cNvSpPr/>
          <p:nvPr/>
        </p:nvSpPr>
        <p:spPr>
          <a:xfrm>
            <a:off x="9418320" y="365760"/>
            <a:ext cx="2194560" cy="411480"/>
          </a:xfrm>
          <a:prstGeom prst="rect">
            <a:avLst/>
          </a:prstGeom>
          <a:noFill/>
          <a:ln/>
        </p:spPr>
        <p:txBody>
          <a:bodyPr wrap="square" rtlCol="0" anchor="ctr"/>
          <a:lstStyle/>
          <a:p>
            <a:pPr marL="0" indent="0" algn="ctr">
              <a:buNone/>
            </a:pPr>
            <a:r>
              <a:rPr lang="en-US" sz="1100" b="1" kern="0" spc="200">
                <a:solidFill>
                  <a:srgbClr val="0B2545"/>
                </a:solidFill>
                <a:latin typeface="Calibri" pitchFamily="34" charset="0"/>
                <a:ea typeface="Calibri" pitchFamily="34" charset="-122"/>
                <a:cs typeface="Calibri" pitchFamily="34" charset="-120"/>
              </a:rPr>
              <a:t>Q12  ·  QUESTION</a:t>
            </a:r>
            <a:endParaRPr lang="en-US" sz="1100"/>
          </a:p>
        </p:txBody>
      </p:sp>
      <p:sp>
        <p:nvSpPr>
          <p:cNvPr id="7" name="Text 5"/>
          <p:cNvSpPr/>
          <p:nvPr/>
        </p:nvSpPr>
        <p:spPr>
          <a:xfrm>
            <a:off x="548640" y="1005840"/>
            <a:ext cx="11064240" cy="320040"/>
          </a:xfrm>
          <a:prstGeom prst="rect">
            <a:avLst/>
          </a:prstGeom>
          <a:noFill/>
          <a:ln/>
        </p:spPr>
        <p:txBody>
          <a:bodyPr wrap="square" rtlCol="0" anchor="ctr"/>
          <a:lstStyle/>
          <a:p>
            <a:pPr marL="0" indent="0">
              <a:buNone/>
            </a:pPr>
            <a:r>
              <a:rPr lang="en-US" sz="1200" b="1" kern="0" spc="300">
                <a:solidFill>
                  <a:srgbClr val="F59E0B"/>
                </a:solidFill>
                <a:latin typeface="Calibri" pitchFamily="34" charset="0"/>
                <a:ea typeface="Calibri" pitchFamily="34" charset="-122"/>
                <a:cs typeface="Calibri" pitchFamily="34" charset="-120"/>
              </a:rPr>
              <a:t>MULTIPLE CHOICE</a:t>
            </a:r>
            <a:endParaRPr lang="en-US" sz="1200"/>
          </a:p>
        </p:txBody>
      </p:sp>
      <p:sp>
        <p:nvSpPr>
          <p:cNvPr id="8" name="Text 6"/>
          <p:cNvSpPr/>
          <p:nvPr/>
        </p:nvSpPr>
        <p:spPr>
          <a:xfrm>
            <a:off x="548640" y="1371600"/>
            <a:ext cx="11064240" cy="1097280"/>
          </a:xfrm>
          <a:prstGeom prst="rect">
            <a:avLst/>
          </a:prstGeom>
          <a:noFill/>
          <a:ln/>
        </p:spPr>
        <p:txBody>
          <a:bodyPr wrap="square" rtlCol="0" anchor="t"/>
          <a:lstStyle/>
          <a:p>
            <a:pPr marL="0" indent="0">
              <a:buNone/>
            </a:pPr>
            <a:r>
              <a:rPr lang="en-US" sz="2600" b="1">
                <a:solidFill>
                  <a:srgbClr val="0B2545"/>
                </a:solidFill>
                <a:latin typeface="Calibri" pitchFamily="34" charset="0"/>
                <a:ea typeface="Calibri" pitchFamily="34" charset="-122"/>
                <a:cs typeface="Calibri" pitchFamily="34" charset="-120"/>
              </a:rPr>
              <a:t>How many times does the body run?  for (int i = 10; i &gt; 0; i -= 2) { ... }</a:t>
            </a:r>
            <a:endParaRPr lang="en-US" sz="2600"/>
          </a:p>
        </p:txBody>
      </p:sp>
      <p:sp>
        <p:nvSpPr>
          <p:cNvPr id="9" name="Shape 7"/>
          <p:cNvSpPr/>
          <p:nvPr/>
        </p:nvSpPr>
        <p:spPr>
          <a:xfrm>
            <a:off x="548640" y="2560320"/>
            <a:ext cx="457200" cy="457200"/>
          </a:xfrm>
          <a:prstGeom prst="ellipse">
            <a:avLst/>
          </a:prstGeom>
          <a:solidFill>
            <a:srgbClr val="EEF2FF"/>
          </a:solidFill>
          <a:ln w="12700">
            <a:solidFill>
              <a:srgbClr val="0B2545"/>
            </a:solidFill>
            <a:prstDash val="solid"/>
          </a:ln>
        </p:spPr>
        <p:txBody>
          <a:bodyPr/>
          <a:lstStyle/>
          <a:p>
            <a:endParaRPr lang="en-US"/>
          </a:p>
        </p:txBody>
      </p:sp>
      <p:sp>
        <p:nvSpPr>
          <p:cNvPr id="10" name="Text 8"/>
          <p:cNvSpPr/>
          <p:nvPr/>
        </p:nvSpPr>
        <p:spPr>
          <a:xfrm>
            <a:off x="548640" y="2560320"/>
            <a:ext cx="457200" cy="457200"/>
          </a:xfrm>
          <a:prstGeom prst="rect">
            <a:avLst/>
          </a:prstGeom>
          <a:noFill/>
          <a:ln/>
        </p:spPr>
        <p:txBody>
          <a:bodyPr wrap="square" lIns="0" tIns="0" rIns="0" bIns="0" rtlCol="0" anchor="ctr"/>
          <a:lstStyle/>
          <a:p>
            <a:pPr marL="0" indent="0" algn="ctr">
              <a:buNone/>
            </a:pPr>
            <a:r>
              <a:rPr lang="en-US" sz="1400" b="1">
                <a:solidFill>
                  <a:srgbClr val="0B2545"/>
                </a:solidFill>
                <a:latin typeface="Calibri" pitchFamily="34" charset="0"/>
                <a:ea typeface="Calibri" pitchFamily="34" charset="-122"/>
                <a:cs typeface="Calibri" pitchFamily="34" charset="-120"/>
              </a:rPr>
              <a:t>A</a:t>
            </a:r>
            <a:endParaRPr lang="en-US" sz="1400"/>
          </a:p>
        </p:txBody>
      </p:sp>
      <p:sp>
        <p:nvSpPr>
          <p:cNvPr id="11" name="Text 9"/>
          <p:cNvSpPr/>
          <p:nvPr/>
        </p:nvSpPr>
        <p:spPr>
          <a:xfrm>
            <a:off x="1143000" y="2578608"/>
            <a:ext cx="10469880" cy="457200"/>
          </a:xfrm>
          <a:prstGeom prst="rect">
            <a:avLst/>
          </a:prstGeom>
          <a:noFill/>
          <a:ln/>
        </p:spPr>
        <p:txBody>
          <a:bodyPr wrap="square" lIns="0" tIns="0" rIns="0" bIns="0" rtlCol="0" anchor="ctr"/>
          <a:lstStyle/>
          <a:p>
            <a:pPr marL="0" indent="0">
              <a:buNone/>
            </a:pPr>
            <a:r>
              <a:rPr lang="en-US" sz="1600">
                <a:solidFill>
                  <a:srgbClr val="1F2937"/>
                </a:solidFill>
                <a:latin typeface="Calibri" pitchFamily="34" charset="0"/>
                <a:ea typeface="Calibri" pitchFamily="34" charset="-122"/>
                <a:cs typeface="Calibri" pitchFamily="34" charset="-120"/>
              </a:rPr>
              <a:t>4</a:t>
            </a:r>
            <a:endParaRPr lang="en-US" sz="1600"/>
          </a:p>
        </p:txBody>
      </p:sp>
      <p:sp>
        <p:nvSpPr>
          <p:cNvPr id="12" name="Shape 10"/>
          <p:cNvSpPr/>
          <p:nvPr/>
        </p:nvSpPr>
        <p:spPr>
          <a:xfrm>
            <a:off x="548640" y="3154680"/>
            <a:ext cx="457200" cy="457200"/>
          </a:xfrm>
          <a:prstGeom prst="ellipse">
            <a:avLst/>
          </a:prstGeom>
          <a:solidFill>
            <a:srgbClr val="EEF2FF"/>
          </a:solidFill>
          <a:ln w="12700">
            <a:solidFill>
              <a:srgbClr val="0B2545"/>
            </a:solidFill>
            <a:prstDash val="solid"/>
          </a:ln>
        </p:spPr>
        <p:txBody>
          <a:bodyPr/>
          <a:lstStyle/>
          <a:p>
            <a:endParaRPr lang="en-US"/>
          </a:p>
        </p:txBody>
      </p:sp>
      <p:sp>
        <p:nvSpPr>
          <p:cNvPr id="13" name="Text 11"/>
          <p:cNvSpPr/>
          <p:nvPr/>
        </p:nvSpPr>
        <p:spPr>
          <a:xfrm>
            <a:off x="548640" y="3154680"/>
            <a:ext cx="457200" cy="457200"/>
          </a:xfrm>
          <a:prstGeom prst="rect">
            <a:avLst/>
          </a:prstGeom>
          <a:noFill/>
          <a:ln/>
        </p:spPr>
        <p:txBody>
          <a:bodyPr wrap="square" lIns="0" tIns="0" rIns="0" bIns="0" rtlCol="0" anchor="ctr"/>
          <a:lstStyle/>
          <a:p>
            <a:pPr marL="0" indent="0" algn="ctr">
              <a:buNone/>
            </a:pPr>
            <a:r>
              <a:rPr lang="en-US" sz="1400" b="1">
                <a:solidFill>
                  <a:srgbClr val="0B2545"/>
                </a:solidFill>
                <a:latin typeface="Calibri" pitchFamily="34" charset="0"/>
                <a:ea typeface="Calibri" pitchFamily="34" charset="-122"/>
                <a:cs typeface="Calibri" pitchFamily="34" charset="-120"/>
              </a:rPr>
              <a:t>B</a:t>
            </a:r>
            <a:endParaRPr lang="en-US" sz="1400"/>
          </a:p>
        </p:txBody>
      </p:sp>
      <p:sp>
        <p:nvSpPr>
          <p:cNvPr id="14" name="Text 12"/>
          <p:cNvSpPr/>
          <p:nvPr/>
        </p:nvSpPr>
        <p:spPr>
          <a:xfrm>
            <a:off x="1143000" y="3172968"/>
            <a:ext cx="10469880" cy="457200"/>
          </a:xfrm>
          <a:prstGeom prst="rect">
            <a:avLst/>
          </a:prstGeom>
          <a:noFill/>
          <a:ln/>
        </p:spPr>
        <p:txBody>
          <a:bodyPr wrap="square" lIns="0" tIns="0" rIns="0" bIns="0" rtlCol="0" anchor="ctr"/>
          <a:lstStyle/>
          <a:p>
            <a:pPr marL="0" indent="0">
              <a:buNone/>
            </a:pPr>
            <a:r>
              <a:rPr lang="en-US" sz="1600">
                <a:solidFill>
                  <a:srgbClr val="1F2937"/>
                </a:solidFill>
                <a:latin typeface="Calibri" pitchFamily="34" charset="0"/>
                <a:ea typeface="Calibri" pitchFamily="34" charset="-122"/>
                <a:cs typeface="Calibri" pitchFamily="34" charset="-120"/>
              </a:rPr>
              <a:t>5</a:t>
            </a:r>
            <a:endParaRPr lang="en-US" sz="1600"/>
          </a:p>
        </p:txBody>
      </p:sp>
      <p:sp>
        <p:nvSpPr>
          <p:cNvPr id="15" name="Shape 13"/>
          <p:cNvSpPr/>
          <p:nvPr/>
        </p:nvSpPr>
        <p:spPr>
          <a:xfrm>
            <a:off x="548640" y="3749040"/>
            <a:ext cx="457200" cy="457200"/>
          </a:xfrm>
          <a:prstGeom prst="ellipse">
            <a:avLst/>
          </a:prstGeom>
          <a:solidFill>
            <a:srgbClr val="EEF2FF"/>
          </a:solidFill>
          <a:ln w="12700">
            <a:solidFill>
              <a:srgbClr val="0B2545"/>
            </a:solidFill>
            <a:prstDash val="solid"/>
          </a:ln>
        </p:spPr>
        <p:txBody>
          <a:bodyPr/>
          <a:lstStyle/>
          <a:p>
            <a:endParaRPr lang="en-US"/>
          </a:p>
        </p:txBody>
      </p:sp>
      <p:sp>
        <p:nvSpPr>
          <p:cNvPr id="16" name="Text 14"/>
          <p:cNvSpPr/>
          <p:nvPr/>
        </p:nvSpPr>
        <p:spPr>
          <a:xfrm>
            <a:off x="548640" y="3749040"/>
            <a:ext cx="457200" cy="457200"/>
          </a:xfrm>
          <a:prstGeom prst="rect">
            <a:avLst/>
          </a:prstGeom>
          <a:noFill/>
          <a:ln/>
        </p:spPr>
        <p:txBody>
          <a:bodyPr wrap="square" lIns="0" tIns="0" rIns="0" bIns="0" rtlCol="0" anchor="ctr"/>
          <a:lstStyle/>
          <a:p>
            <a:pPr marL="0" indent="0" algn="ctr">
              <a:buNone/>
            </a:pPr>
            <a:r>
              <a:rPr lang="en-US" sz="1400" b="1">
                <a:solidFill>
                  <a:srgbClr val="0B2545"/>
                </a:solidFill>
                <a:latin typeface="Calibri" pitchFamily="34" charset="0"/>
                <a:ea typeface="Calibri" pitchFamily="34" charset="-122"/>
                <a:cs typeface="Calibri" pitchFamily="34" charset="-120"/>
              </a:rPr>
              <a:t>C</a:t>
            </a:r>
            <a:endParaRPr lang="en-US" sz="1400"/>
          </a:p>
        </p:txBody>
      </p:sp>
      <p:sp>
        <p:nvSpPr>
          <p:cNvPr id="17" name="Text 15"/>
          <p:cNvSpPr/>
          <p:nvPr/>
        </p:nvSpPr>
        <p:spPr>
          <a:xfrm>
            <a:off x="1143000" y="3767328"/>
            <a:ext cx="10469880" cy="457200"/>
          </a:xfrm>
          <a:prstGeom prst="rect">
            <a:avLst/>
          </a:prstGeom>
          <a:noFill/>
          <a:ln/>
        </p:spPr>
        <p:txBody>
          <a:bodyPr wrap="square" lIns="0" tIns="0" rIns="0" bIns="0" rtlCol="0" anchor="ctr"/>
          <a:lstStyle/>
          <a:p>
            <a:pPr marL="0" indent="0">
              <a:buNone/>
            </a:pPr>
            <a:r>
              <a:rPr lang="en-US" sz="1600">
                <a:solidFill>
                  <a:srgbClr val="1F2937"/>
                </a:solidFill>
                <a:latin typeface="Calibri" pitchFamily="34" charset="0"/>
                <a:ea typeface="Calibri" pitchFamily="34" charset="-122"/>
                <a:cs typeface="Calibri" pitchFamily="34" charset="-120"/>
              </a:rPr>
              <a:t>6</a:t>
            </a:r>
            <a:endParaRPr lang="en-US" sz="1600"/>
          </a:p>
        </p:txBody>
      </p:sp>
      <p:sp>
        <p:nvSpPr>
          <p:cNvPr id="18" name="Shape 16"/>
          <p:cNvSpPr/>
          <p:nvPr/>
        </p:nvSpPr>
        <p:spPr>
          <a:xfrm>
            <a:off x="548640" y="4343400"/>
            <a:ext cx="457200" cy="457200"/>
          </a:xfrm>
          <a:prstGeom prst="ellipse">
            <a:avLst/>
          </a:prstGeom>
          <a:solidFill>
            <a:srgbClr val="EEF2FF"/>
          </a:solidFill>
          <a:ln w="12700">
            <a:solidFill>
              <a:srgbClr val="0B2545"/>
            </a:solidFill>
            <a:prstDash val="solid"/>
          </a:ln>
        </p:spPr>
        <p:txBody>
          <a:bodyPr/>
          <a:lstStyle/>
          <a:p>
            <a:endParaRPr lang="en-US"/>
          </a:p>
        </p:txBody>
      </p:sp>
      <p:sp>
        <p:nvSpPr>
          <p:cNvPr id="19" name="Text 17"/>
          <p:cNvSpPr/>
          <p:nvPr/>
        </p:nvSpPr>
        <p:spPr>
          <a:xfrm>
            <a:off x="548640" y="4343400"/>
            <a:ext cx="457200" cy="457200"/>
          </a:xfrm>
          <a:prstGeom prst="rect">
            <a:avLst/>
          </a:prstGeom>
          <a:noFill/>
          <a:ln/>
        </p:spPr>
        <p:txBody>
          <a:bodyPr wrap="square" lIns="0" tIns="0" rIns="0" bIns="0" rtlCol="0" anchor="ctr"/>
          <a:lstStyle/>
          <a:p>
            <a:pPr marL="0" indent="0" algn="ctr">
              <a:buNone/>
            </a:pPr>
            <a:r>
              <a:rPr lang="en-US" sz="1400" b="1">
                <a:solidFill>
                  <a:srgbClr val="0B2545"/>
                </a:solidFill>
                <a:latin typeface="Calibri" pitchFamily="34" charset="0"/>
                <a:ea typeface="Calibri" pitchFamily="34" charset="-122"/>
                <a:cs typeface="Calibri" pitchFamily="34" charset="-120"/>
              </a:rPr>
              <a:t>D</a:t>
            </a:r>
            <a:endParaRPr lang="en-US" sz="1400"/>
          </a:p>
        </p:txBody>
      </p:sp>
      <p:sp>
        <p:nvSpPr>
          <p:cNvPr id="20" name="Text 18"/>
          <p:cNvSpPr/>
          <p:nvPr/>
        </p:nvSpPr>
        <p:spPr>
          <a:xfrm>
            <a:off x="1143000" y="4361688"/>
            <a:ext cx="10469880" cy="457200"/>
          </a:xfrm>
          <a:prstGeom prst="rect">
            <a:avLst/>
          </a:prstGeom>
          <a:noFill/>
          <a:ln/>
        </p:spPr>
        <p:txBody>
          <a:bodyPr wrap="square" lIns="0" tIns="0" rIns="0" bIns="0" rtlCol="0" anchor="ctr"/>
          <a:lstStyle/>
          <a:p>
            <a:pPr marL="0" indent="0">
              <a:buNone/>
            </a:pPr>
            <a:r>
              <a:rPr lang="en-US" sz="1600">
                <a:solidFill>
                  <a:srgbClr val="1F2937"/>
                </a:solidFill>
                <a:latin typeface="Calibri" pitchFamily="34" charset="0"/>
                <a:ea typeface="Calibri" pitchFamily="34" charset="-122"/>
                <a:cs typeface="Calibri" pitchFamily="34" charset="-120"/>
              </a:rPr>
              <a:t>10</a:t>
            </a:r>
            <a:endParaRPr lang="en-US" sz="1600"/>
          </a:p>
        </p:txBody>
      </p:sp>
      <p:sp>
        <p:nvSpPr>
          <p:cNvPr id="21" name="Shape 19"/>
          <p:cNvSpPr/>
          <p:nvPr/>
        </p:nvSpPr>
        <p:spPr>
          <a:xfrm>
            <a:off x="548640" y="6492240"/>
            <a:ext cx="11064240" cy="0"/>
          </a:xfrm>
          <a:prstGeom prst="line">
            <a:avLst/>
          </a:prstGeom>
          <a:noFill/>
          <a:ln w="9525">
            <a:solidFill>
              <a:srgbClr val="E5E7EB"/>
            </a:solidFill>
            <a:prstDash val="solid"/>
          </a:ln>
        </p:spPr>
        <p:txBody>
          <a:bodyPr/>
          <a:lstStyle/>
          <a:p>
            <a:endParaRPr lang="en-US"/>
          </a:p>
        </p:txBody>
      </p:sp>
      <p:sp>
        <p:nvSpPr>
          <p:cNvPr id="22" name="Text 20"/>
          <p:cNvSpPr/>
          <p:nvPr/>
        </p:nvSpPr>
        <p:spPr>
          <a:xfrm>
            <a:off x="548640" y="6537960"/>
            <a:ext cx="5486400" cy="274320"/>
          </a:xfrm>
          <a:prstGeom prst="rect">
            <a:avLst/>
          </a:prstGeom>
          <a:noFill/>
          <a:ln/>
        </p:spPr>
        <p:txBody>
          <a:bodyPr wrap="square" rtlCol="0" anchor="ctr"/>
          <a:lstStyle/>
          <a:p>
            <a:pPr marL="0" indent="0">
              <a:buNone/>
            </a:pPr>
            <a:r>
              <a:rPr lang="en-US" sz="1000">
                <a:solidFill>
                  <a:srgbClr val="6B7280"/>
                </a:solidFill>
                <a:latin typeface="Calibri" pitchFamily="34" charset="0"/>
                <a:ea typeface="Calibri" pitchFamily="34" charset="-122"/>
                <a:cs typeface="Calibri" pitchFamily="34" charset="-120"/>
              </a:rPr>
              <a:t>C# Concepts Quiz</a:t>
            </a:r>
            <a:endParaRPr lang="en-US" sz="1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F59E0B"/>
          </a:solidFill>
          <a:ln w="12700">
            <a:solidFill>
              <a:srgbClr val="F59E0B"/>
            </a:solidFill>
            <a:prstDash val="solid"/>
          </a:ln>
        </p:spPr>
        <p:txBody>
          <a:bodyPr/>
          <a:lstStyle/>
          <a:p>
            <a:endParaRPr lang="en-US"/>
          </a:p>
        </p:txBody>
      </p:sp>
      <p:sp>
        <p:nvSpPr>
          <p:cNvPr id="3" name="Shape 1"/>
          <p:cNvSpPr/>
          <p:nvPr/>
        </p:nvSpPr>
        <p:spPr>
          <a:xfrm>
            <a:off x="548640" y="365760"/>
            <a:ext cx="4023360" cy="411480"/>
          </a:xfrm>
          <a:prstGeom prst="rect">
            <a:avLst/>
          </a:prstGeom>
          <a:solidFill>
            <a:srgbClr val="FFF7E6"/>
          </a:solidFill>
          <a:ln w="9525">
            <a:solidFill>
              <a:srgbClr val="F59E0B"/>
            </a:solidFill>
            <a:prstDash val="solid"/>
          </a:ln>
        </p:spPr>
        <p:txBody>
          <a:bodyPr/>
          <a:lstStyle/>
          <a:p>
            <a:endParaRPr lang="en-US"/>
          </a:p>
        </p:txBody>
      </p:sp>
      <p:sp>
        <p:nvSpPr>
          <p:cNvPr id="4" name="Text 2"/>
          <p:cNvSpPr/>
          <p:nvPr/>
        </p:nvSpPr>
        <p:spPr>
          <a:xfrm>
            <a:off x="548640" y="365760"/>
            <a:ext cx="4023360" cy="411480"/>
          </a:xfrm>
          <a:prstGeom prst="rect">
            <a:avLst/>
          </a:prstGeom>
          <a:noFill/>
          <a:ln/>
        </p:spPr>
        <p:txBody>
          <a:bodyPr wrap="square" rtlCol="0" anchor="ctr"/>
          <a:lstStyle/>
          <a:p>
            <a:pPr marL="0" indent="0" algn="ctr">
              <a:buNone/>
            </a:pPr>
            <a:r>
              <a:rPr lang="en-US" sz="1100" b="1" kern="0" spc="200">
                <a:solidFill>
                  <a:srgbClr val="0B2545"/>
                </a:solidFill>
                <a:latin typeface="Calibri" pitchFamily="34" charset="0"/>
                <a:ea typeface="Calibri" pitchFamily="34" charset="-122"/>
                <a:cs typeface="Calibri" pitchFamily="34" charset="-120"/>
              </a:rPr>
              <a:t>SECTION 4 — FOR LOOPS</a:t>
            </a:r>
            <a:endParaRPr lang="en-US" sz="1100"/>
          </a:p>
        </p:txBody>
      </p:sp>
      <p:sp>
        <p:nvSpPr>
          <p:cNvPr id="5" name="Shape 3"/>
          <p:cNvSpPr/>
          <p:nvPr/>
        </p:nvSpPr>
        <p:spPr>
          <a:xfrm>
            <a:off x="9418320" y="365760"/>
            <a:ext cx="2194560" cy="411480"/>
          </a:xfrm>
          <a:prstGeom prst="rect">
            <a:avLst/>
          </a:prstGeom>
          <a:solidFill>
            <a:srgbClr val="ECFDF5"/>
          </a:solidFill>
          <a:ln w="9525">
            <a:solidFill>
              <a:srgbClr val="10B981"/>
            </a:solidFill>
            <a:prstDash val="solid"/>
          </a:ln>
        </p:spPr>
        <p:txBody>
          <a:bodyPr/>
          <a:lstStyle/>
          <a:p>
            <a:endParaRPr lang="en-US"/>
          </a:p>
        </p:txBody>
      </p:sp>
      <p:sp>
        <p:nvSpPr>
          <p:cNvPr id="6" name="Text 4"/>
          <p:cNvSpPr/>
          <p:nvPr/>
        </p:nvSpPr>
        <p:spPr>
          <a:xfrm>
            <a:off x="9418320" y="365760"/>
            <a:ext cx="2194560" cy="411480"/>
          </a:xfrm>
          <a:prstGeom prst="rect">
            <a:avLst/>
          </a:prstGeom>
          <a:noFill/>
          <a:ln/>
        </p:spPr>
        <p:txBody>
          <a:bodyPr wrap="square" rtlCol="0" anchor="ctr"/>
          <a:lstStyle/>
          <a:p>
            <a:pPr marL="0" indent="0" algn="ctr">
              <a:buNone/>
            </a:pPr>
            <a:r>
              <a:rPr lang="en-US" sz="1100" b="1" kern="0" spc="200">
                <a:solidFill>
                  <a:srgbClr val="10B981"/>
                </a:solidFill>
                <a:latin typeface="Calibri" pitchFamily="34" charset="0"/>
                <a:ea typeface="Calibri" pitchFamily="34" charset="-122"/>
                <a:cs typeface="Calibri" pitchFamily="34" charset="-120"/>
              </a:rPr>
              <a:t>Q12  ·  ANSWER</a:t>
            </a:r>
            <a:endParaRPr lang="en-US" sz="1100"/>
          </a:p>
        </p:txBody>
      </p:sp>
      <p:sp>
        <p:nvSpPr>
          <p:cNvPr id="7" name="Text 5"/>
          <p:cNvSpPr/>
          <p:nvPr/>
        </p:nvSpPr>
        <p:spPr>
          <a:xfrm>
            <a:off x="548640" y="1005840"/>
            <a:ext cx="11064240" cy="640080"/>
          </a:xfrm>
          <a:prstGeom prst="rect">
            <a:avLst/>
          </a:prstGeom>
          <a:noFill/>
          <a:ln/>
        </p:spPr>
        <p:txBody>
          <a:bodyPr wrap="square" rtlCol="0" anchor="t"/>
          <a:lstStyle/>
          <a:p>
            <a:pPr marL="0" indent="0">
              <a:buNone/>
            </a:pPr>
            <a:r>
              <a:rPr lang="en-US" sz="1500" i="1">
                <a:solidFill>
                  <a:srgbClr val="6B7280"/>
                </a:solidFill>
                <a:latin typeface="Calibri" pitchFamily="34" charset="0"/>
                <a:ea typeface="Calibri" pitchFamily="34" charset="-122"/>
                <a:cs typeface="Calibri" pitchFamily="34" charset="-120"/>
              </a:rPr>
              <a:t>How many times does the body run?  for (int i = 10; i &gt; 0; i -= 2) { ... }</a:t>
            </a:r>
            <a:endParaRPr lang="en-US" sz="1500"/>
          </a:p>
        </p:txBody>
      </p:sp>
      <p:sp>
        <p:nvSpPr>
          <p:cNvPr id="8" name="Shape 6"/>
          <p:cNvSpPr/>
          <p:nvPr/>
        </p:nvSpPr>
        <p:spPr>
          <a:xfrm>
            <a:off x="548640" y="1783080"/>
            <a:ext cx="11064240" cy="0"/>
          </a:xfrm>
          <a:prstGeom prst="line">
            <a:avLst/>
          </a:prstGeom>
          <a:noFill/>
          <a:ln w="12700">
            <a:solidFill>
              <a:srgbClr val="E5E7EB"/>
            </a:solidFill>
            <a:prstDash val="solid"/>
          </a:ln>
        </p:spPr>
        <p:txBody>
          <a:bodyPr/>
          <a:lstStyle/>
          <a:p>
            <a:endParaRPr lang="en-US"/>
          </a:p>
        </p:txBody>
      </p:sp>
      <p:sp>
        <p:nvSpPr>
          <p:cNvPr id="9" name="Shape 7"/>
          <p:cNvSpPr/>
          <p:nvPr/>
        </p:nvSpPr>
        <p:spPr>
          <a:xfrm>
            <a:off x="548640" y="1965960"/>
            <a:ext cx="11064240" cy="640080"/>
          </a:xfrm>
          <a:prstGeom prst="rect">
            <a:avLst/>
          </a:prstGeom>
          <a:solidFill>
            <a:srgbClr val="ECFDF5"/>
          </a:solidFill>
          <a:ln w="12700">
            <a:solidFill>
              <a:srgbClr val="10B981"/>
            </a:solidFill>
            <a:prstDash val="solid"/>
          </a:ln>
        </p:spPr>
        <p:txBody>
          <a:bodyPr/>
          <a:lstStyle/>
          <a:p>
            <a:endParaRPr lang="en-US"/>
          </a:p>
        </p:txBody>
      </p:sp>
      <p:sp>
        <p:nvSpPr>
          <p:cNvPr id="10" name="Text 8"/>
          <p:cNvSpPr/>
          <p:nvPr/>
        </p:nvSpPr>
        <p:spPr>
          <a:xfrm>
            <a:off x="777240" y="1965960"/>
            <a:ext cx="10607040" cy="640080"/>
          </a:xfrm>
          <a:prstGeom prst="rect">
            <a:avLst/>
          </a:prstGeom>
          <a:noFill/>
          <a:ln/>
        </p:spPr>
        <p:txBody>
          <a:bodyPr wrap="square" rtlCol="0" anchor="ctr"/>
          <a:lstStyle/>
          <a:p>
            <a:pPr marL="0" indent="0">
              <a:buNone/>
            </a:pPr>
            <a:r>
              <a:rPr lang="en-US" sz="1800" b="1">
                <a:solidFill>
                  <a:srgbClr val="065F46"/>
                </a:solidFill>
                <a:latin typeface="Calibri" pitchFamily="34" charset="0"/>
                <a:ea typeface="Calibri" pitchFamily="34" charset="-122"/>
                <a:cs typeface="Calibri" pitchFamily="34" charset="-120"/>
              </a:rPr>
              <a:t>Correct answer: B — the body executes 5 times.</a:t>
            </a:r>
            <a:endParaRPr lang="en-US" sz="1800"/>
          </a:p>
        </p:txBody>
      </p:sp>
      <p:sp>
        <p:nvSpPr>
          <p:cNvPr id="11" name="Text 9"/>
          <p:cNvSpPr/>
          <p:nvPr/>
        </p:nvSpPr>
        <p:spPr>
          <a:xfrm>
            <a:off x="548640" y="2788920"/>
            <a:ext cx="11064240" cy="320040"/>
          </a:xfrm>
          <a:prstGeom prst="rect">
            <a:avLst/>
          </a:prstGeom>
          <a:noFill/>
          <a:ln/>
        </p:spPr>
        <p:txBody>
          <a:bodyPr wrap="square" rtlCol="0" anchor="ctr"/>
          <a:lstStyle/>
          <a:p>
            <a:pPr marL="0" indent="0">
              <a:buNone/>
            </a:pPr>
            <a:r>
              <a:rPr lang="en-US" sz="1200" b="1" kern="0" spc="300">
                <a:solidFill>
                  <a:srgbClr val="F59E0B"/>
                </a:solidFill>
                <a:latin typeface="Calibri" pitchFamily="34" charset="0"/>
                <a:ea typeface="Calibri" pitchFamily="34" charset="-122"/>
                <a:cs typeface="Calibri" pitchFamily="34" charset="-120"/>
              </a:rPr>
              <a:t>Explanation</a:t>
            </a:r>
            <a:endParaRPr lang="en-US" sz="1200"/>
          </a:p>
        </p:txBody>
      </p:sp>
      <p:sp>
        <p:nvSpPr>
          <p:cNvPr id="12" name="Text 10"/>
          <p:cNvSpPr/>
          <p:nvPr/>
        </p:nvSpPr>
        <p:spPr>
          <a:xfrm>
            <a:off x="548640" y="3154680"/>
            <a:ext cx="11064240" cy="2788920"/>
          </a:xfrm>
          <a:prstGeom prst="rect">
            <a:avLst/>
          </a:prstGeom>
          <a:noFill/>
          <a:ln/>
        </p:spPr>
        <p:txBody>
          <a:bodyPr wrap="square" rtlCol="0" anchor="t"/>
          <a:lstStyle/>
          <a:p>
            <a:pPr marL="0" indent="0">
              <a:buNone/>
            </a:pPr>
            <a:r>
              <a:rPr lang="en-US" sz="1600">
                <a:solidFill>
                  <a:srgbClr val="13315C"/>
                </a:solidFill>
                <a:latin typeface="Calibri" pitchFamily="34" charset="0"/>
                <a:ea typeface="Calibri" pitchFamily="34" charset="-122"/>
                <a:cs typeface="Calibri" pitchFamily="34" charset="-120"/>
              </a:rPr>
              <a:t>Starting at i = 10 and decrementing by 2 while i &gt; 0, the values taken are 10, 8, 6, 4, and 2. When i reaches 0 the condition fails, so the body runs exactly five times.</a:t>
            </a:r>
            <a:endParaRPr lang="en-US" sz="1600"/>
          </a:p>
        </p:txBody>
      </p:sp>
      <p:sp>
        <p:nvSpPr>
          <p:cNvPr id="13" name="Shape 11"/>
          <p:cNvSpPr/>
          <p:nvPr/>
        </p:nvSpPr>
        <p:spPr>
          <a:xfrm>
            <a:off x="548640" y="6492240"/>
            <a:ext cx="11064240" cy="0"/>
          </a:xfrm>
          <a:prstGeom prst="line">
            <a:avLst/>
          </a:prstGeom>
          <a:noFill/>
          <a:ln w="9525">
            <a:solidFill>
              <a:srgbClr val="E5E7EB"/>
            </a:solidFill>
            <a:prstDash val="solid"/>
          </a:ln>
        </p:spPr>
        <p:txBody>
          <a:bodyPr/>
          <a:lstStyle/>
          <a:p>
            <a:endParaRPr lang="en-US"/>
          </a:p>
        </p:txBody>
      </p:sp>
      <p:sp>
        <p:nvSpPr>
          <p:cNvPr id="14" name="Text 12"/>
          <p:cNvSpPr/>
          <p:nvPr/>
        </p:nvSpPr>
        <p:spPr>
          <a:xfrm>
            <a:off x="548640" y="6537960"/>
            <a:ext cx="5486400" cy="274320"/>
          </a:xfrm>
          <a:prstGeom prst="rect">
            <a:avLst/>
          </a:prstGeom>
          <a:noFill/>
          <a:ln/>
        </p:spPr>
        <p:txBody>
          <a:bodyPr wrap="square" rtlCol="0" anchor="ctr"/>
          <a:lstStyle/>
          <a:p>
            <a:pPr marL="0" indent="0">
              <a:buNone/>
            </a:pPr>
            <a:r>
              <a:rPr lang="en-US" sz="1000">
                <a:solidFill>
                  <a:srgbClr val="6B7280"/>
                </a:solidFill>
                <a:latin typeface="Calibri" pitchFamily="34" charset="0"/>
                <a:ea typeface="Calibri" pitchFamily="34" charset="-122"/>
                <a:cs typeface="Calibri" pitchFamily="34" charset="-120"/>
              </a:rPr>
              <a:t>C# Concepts Quiz</a:t>
            </a:r>
            <a:endParaRPr lang="en-US" sz="1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F59E0B"/>
          </a:solidFill>
          <a:ln w="12700">
            <a:solidFill>
              <a:srgbClr val="F59E0B"/>
            </a:solidFill>
            <a:prstDash val="solid"/>
          </a:ln>
        </p:spPr>
        <p:txBody>
          <a:bodyPr/>
          <a:lstStyle/>
          <a:p>
            <a:endParaRPr lang="en-US"/>
          </a:p>
        </p:txBody>
      </p:sp>
      <p:sp>
        <p:nvSpPr>
          <p:cNvPr id="3" name="Shape 1"/>
          <p:cNvSpPr/>
          <p:nvPr/>
        </p:nvSpPr>
        <p:spPr>
          <a:xfrm>
            <a:off x="548640" y="365760"/>
            <a:ext cx="4023360" cy="411480"/>
          </a:xfrm>
          <a:prstGeom prst="rect">
            <a:avLst/>
          </a:prstGeom>
          <a:solidFill>
            <a:srgbClr val="FFF7E6"/>
          </a:solidFill>
          <a:ln w="9525">
            <a:solidFill>
              <a:srgbClr val="F59E0B"/>
            </a:solidFill>
            <a:prstDash val="solid"/>
          </a:ln>
        </p:spPr>
        <p:txBody>
          <a:bodyPr/>
          <a:lstStyle/>
          <a:p>
            <a:endParaRPr lang="en-US"/>
          </a:p>
        </p:txBody>
      </p:sp>
      <p:sp>
        <p:nvSpPr>
          <p:cNvPr id="4" name="Text 2"/>
          <p:cNvSpPr/>
          <p:nvPr/>
        </p:nvSpPr>
        <p:spPr>
          <a:xfrm>
            <a:off x="548640" y="365760"/>
            <a:ext cx="4023360" cy="411480"/>
          </a:xfrm>
          <a:prstGeom prst="rect">
            <a:avLst/>
          </a:prstGeom>
          <a:noFill/>
          <a:ln/>
        </p:spPr>
        <p:txBody>
          <a:bodyPr wrap="square" rtlCol="0" anchor="ctr"/>
          <a:lstStyle/>
          <a:p>
            <a:pPr marL="0" indent="0" algn="ctr">
              <a:buNone/>
            </a:pPr>
            <a:r>
              <a:rPr lang="en-US" sz="1100" b="1" kern="0" spc="200">
                <a:solidFill>
                  <a:srgbClr val="0B2545"/>
                </a:solidFill>
                <a:latin typeface="Calibri" pitchFamily="34" charset="0"/>
                <a:ea typeface="Calibri" pitchFamily="34" charset="-122"/>
                <a:cs typeface="Calibri" pitchFamily="34" charset="-120"/>
              </a:rPr>
              <a:t>SECTION 5 — SWITCH STATEMENTS</a:t>
            </a:r>
            <a:endParaRPr lang="en-US" sz="1100"/>
          </a:p>
        </p:txBody>
      </p:sp>
      <p:sp>
        <p:nvSpPr>
          <p:cNvPr id="5" name="Shape 3"/>
          <p:cNvSpPr/>
          <p:nvPr/>
        </p:nvSpPr>
        <p:spPr>
          <a:xfrm>
            <a:off x="9418320" y="365760"/>
            <a:ext cx="2194560" cy="411480"/>
          </a:xfrm>
          <a:prstGeom prst="rect">
            <a:avLst/>
          </a:prstGeom>
          <a:solidFill>
            <a:srgbClr val="EEF2FF"/>
          </a:solidFill>
          <a:ln w="9525">
            <a:solidFill>
              <a:srgbClr val="0B2545"/>
            </a:solidFill>
            <a:prstDash val="solid"/>
          </a:ln>
        </p:spPr>
        <p:txBody>
          <a:bodyPr/>
          <a:lstStyle/>
          <a:p>
            <a:endParaRPr lang="en-US"/>
          </a:p>
        </p:txBody>
      </p:sp>
      <p:sp>
        <p:nvSpPr>
          <p:cNvPr id="6" name="Text 4"/>
          <p:cNvSpPr/>
          <p:nvPr/>
        </p:nvSpPr>
        <p:spPr>
          <a:xfrm>
            <a:off x="9418320" y="365760"/>
            <a:ext cx="2194560" cy="411480"/>
          </a:xfrm>
          <a:prstGeom prst="rect">
            <a:avLst/>
          </a:prstGeom>
          <a:noFill/>
          <a:ln/>
        </p:spPr>
        <p:txBody>
          <a:bodyPr wrap="square" rtlCol="0" anchor="ctr"/>
          <a:lstStyle/>
          <a:p>
            <a:pPr marL="0" indent="0" algn="ctr">
              <a:buNone/>
            </a:pPr>
            <a:r>
              <a:rPr lang="en-US" sz="1100" b="1" kern="0" spc="200">
                <a:solidFill>
                  <a:srgbClr val="0B2545"/>
                </a:solidFill>
                <a:latin typeface="Calibri" pitchFamily="34" charset="0"/>
                <a:ea typeface="Calibri" pitchFamily="34" charset="-122"/>
                <a:cs typeface="Calibri" pitchFamily="34" charset="-120"/>
              </a:rPr>
              <a:t>Q13  ·  QUESTION</a:t>
            </a:r>
            <a:endParaRPr lang="en-US" sz="1100"/>
          </a:p>
        </p:txBody>
      </p:sp>
      <p:sp>
        <p:nvSpPr>
          <p:cNvPr id="7" name="Text 5"/>
          <p:cNvSpPr/>
          <p:nvPr/>
        </p:nvSpPr>
        <p:spPr>
          <a:xfrm>
            <a:off x="548640" y="1005840"/>
            <a:ext cx="11064240" cy="320040"/>
          </a:xfrm>
          <a:prstGeom prst="rect">
            <a:avLst/>
          </a:prstGeom>
          <a:noFill/>
          <a:ln/>
        </p:spPr>
        <p:txBody>
          <a:bodyPr wrap="square" rtlCol="0" anchor="ctr"/>
          <a:lstStyle/>
          <a:p>
            <a:pPr marL="0" indent="0">
              <a:buNone/>
            </a:pPr>
            <a:r>
              <a:rPr lang="en-US" sz="1200" b="1" kern="0" spc="300">
                <a:solidFill>
                  <a:srgbClr val="F59E0B"/>
                </a:solidFill>
                <a:latin typeface="Calibri" pitchFamily="34" charset="0"/>
                <a:ea typeface="Calibri" pitchFamily="34" charset="-122"/>
                <a:cs typeface="Calibri" pitchFamily="34" charset="-120"/>
              </a:rPr>
              <a:t>MULTIPLE CHOICE</a:t>
            </a:r>
            <a:endParaRPr lang="en-US" sz="1200"/>
          </a:p>
        </p:txBody>
      </p:sp>
      <p:sp>
        <p:nvSpPr>
          <p:cNvPr id="8" name="Text 6"/>
          <p:cNvSpPr/>
          <p:nvPr/>
        </p:nvSpPr>
        <p:spPr>
          <a:xfrm>
            <a:off x="548640" y="1371600"/>
            <a:ext cx="11064240" cy="1097280"/>
          </a:xfrm>
          <a:prstGeom prst="rect">
            <a:avLst/>
          </a:prstGeom>
          <a:noFill/>
          <a:ln/>
        </p:spPr>
        <p:txBody>
          <a:bodyPr wrap="square" rtlCol="0" anchor="t"/>
          <a:lstStyle/>
          <a:p>
            <a:pPr marL="0" indent="0">
              <a:buNone/>
            </a:pPr>
            <a:r>
              <a:rPr lang="en-US" sz="2600" b="1">
                <a:solidFill>
                  <a:srgbClr val="0B2545"/>
                </a:solidFill>
                <a:latin typeface="Calibri" pitchFamily="34" charset="0"/>
                <a:ea typeface="Calibri" pitchFamily="34" charset="-122"/>
                <a:cs typeface="Calibri" pitchFamily="34" charset="-120"/>
              </a:rPr>
              <a:t>Which keyword is used to exit a case block in a C# switch?</a:t>
            </a:r>
            <a:endParaRPr lang="en-US" sz="2600"/>
          </a:p>
        </p:txBody>
      </p:sp>
      <p:sp>
        <p:nvSpPr>
          <p:cNvPr id="9" name="Shape 7"/>
          <p:cNvSpPr/>
          <p:nvPr/>
        </p:nvSpPr>
        <p:spPr>
          <a:xfrm>
            <a:off x="548640" y="2560320"/>
            <a:ext cx="457200" cy="457200"/>
          </a:xfrm>
          <a:prstGeom prst="ellipse">
            <a:avLst/>
          </a:prstGeom>
          <a:solidFill>
            <a:srgbClr val="EEF2FF"/>
          </a:solidFill>
          <a:ln w="12700">
            <a:solidFill>
              <a:srgbClr val="0B2545"/>
            </a:solidFill>
            <a:prstDash val="solid"/>
          </a:ln>
        </p:spPr>
        <p:txBody>
          <a:bodyPr/>
          <a:lstStyle/>
          <a:p>
            <a:endParaRPr lang="en-US"/>
          </a:p>
        </p:txBody>
      </p:sp>
      <p:sp>
        <p:nvSpPr>
          <p:cNvPr id="10" name="Text 8"/>
          <p:cNvSpPr/>
          <p:nvPr/>
        </p:nvSpPr>
        <p:spPr>
          <a:xfrm>
            <a:off x="548640" y="2560320"/>
            <a:ext cx="457200" cy="457200"/>
          </a:xfrm>
          <a:prstGeom prst="rect">
            <a:avLst/>
          </a:prstGeom>
          <a:noFill/>
          <a:ln/>
        </p:spPr>
        <p:txBody>
          <a:bodyPr wrap="square" lIns="0" tIns="0" rIns="0" bIns="0" rtlCol="0" anchor="ctr"/>
          <a:lstStyle/>
          <a:p>
            <a:pPr marL="0" indent="0" algn="ctr">
              <a:buNone/>
            </a:pPr>
            <a:r>
              <a:rPr lang="en-US" sz="1400" b="1">
                <a:solidFill>
                  <a:srgbClr val="0B2545"/>
                </a:solidFill>
                <a:latin typeface="Calibri" pitchFamily="34" charset="0"/>
                <a:ea typeface="Calibri" pitchFamily="34" charset="-122"/>
                <a:cs typeface="Calibri" pitchFamily="34" charset="-120"/>
              </a:rPr>
              <a:t>A</a:t>
            </a:r>
            <a:endParaRPr lang="en-US" sz="1400"/>
          </a:p>
        </p:txBody>
      </p:sp>
      <p:sp>
        <p:nvSpPr>
          <p:cNvPr id="11" name="Text 9"/>
          <p:cNvSpPr/>
          <p:nvPr/>
        </p:nvSpPr>
        <p:spPr>
          <a:xfrm>
            <a:off x="1143000" y="2578608"/>
            <a:ext cx="10469880" cy="457200"/>
          </a:xfrm>
          <a:prstGeom prst="rect">
            <a:avLst/>
          </a:prstGeom>
          <a:noFill/>
          <a:ln/>
        </p:spPr>
        <p:txBody>
          <a:bodyPr wrap="square" lIns="0" tIns="0" rIns="0" bIns="0" rtlCol="0" anchor="ctr"/>
          <a:lstStyle/>
          <a:p>
            <a:pPr marL="0" indent="0">
              <a:buNone/>
            </a:pPr>
            <a:r>
              <a:rPr lang="en-US" sz="1600">
                <a:solidFill>
                  <a:srgbClr val="1F2937"/>
                </a:solidFill>
                <a:latin typeface="Calibri" pitchFamily="34" charset="0"/>
                <a:ea typeface="Calibri" pitchFamily="34" charset="-122"/>
                <a:cs typeface="Calibri" pitchFamily="34" charset="-120"/>
              </a:rPr>
              <a:t>exit</a:t>
            </a:r>
            <a:endParaRPr lang="en-US" sz="1600"/>
          </a:p>
        </p:txBody>
      </p:sp>
      <p:sp>
        <p:nvSpPr>
          <p:cNvPr id="12" name="Shape 10"/>
          <p:cNvSpPr/>
          <p:nvPr/>
        </p:nvSpPr>
        <p:spPr>
          <a:xfrm>
            <a:off x="548640" y="3154680"/>
            <a:ext cx="457200" cy="457200"/>
          </a:xfrm>
          <a:prstGeom prst="ellipse">
            <a:avLst/>
          </a:prstGeom>
          <a:solidFill>
            <a:srgbClr val="EEF2FF"/>
          </a:solidFill>
          <a:ln w="12700">
            <a:solidFill>
              <a:srgbClr val="0B2545"/>
            </a:solidFill>
            <a:prstDash val="solid"/>
          </a:ln>
        </p:spPr>
        <p:txBody>
          <a:bodyPr/>
          <a:lstStyle/>
          <a:p>
            <a:endParaRPr lang="en-US"/>
          </a:p>
        </p:txBody>
      </p:sp>
      <p:sp>
        <p:nvSpPr>
          <p:cNvPr id="13" name="Text 11"/>
          <p:cNvSpPr/>
          <p:nvPr/>
        </p:nvSpPr>
        <p:spPr>
          <a:xfrm>
            <a:off x="548640" y="3154680"/>
            <a:ext cx="457200" cy="457200"/>
          </a:xfrm>
          <a:prstGeom prst="rect">
            <a:avLst/>
          </a:prstGeom>
          <a:noFill/>
          <a:ln/>
        </p:spPr>
        <p:txBody>
          <a:bodyPr wrap="square" lIns="0" tIns="0" rIns="0" bIns="0" rtlCol="0" anchor="ctr"/>
          <a:lstStyle/>
          <a:p>
            <a:pPr marL="0" indent="0" algn="ctr">
              <a:buNone/>
            </a:pPr>
            <a:r>
              <a:rPr lang="en-US" sz="1400" b="1">
                <a:solidFill>
                  <a:srgbClr val="0B2545"/>
                </a:solidFill>
                <a:latin typeface="Calibri" pitchFamily="34" charset="0"/>
                <a:ea typeface="Calibri" pitchFamily="34" charset="-122"/>
                <a:cs typeface="Calibri" pitchFamily="34" charset="-120"/>
              </a:rPr>
              <a:t>B</a:t>
            </a:r>
            <a:endParaRPr lang="en-US" sz="1400"/>
          </a:p>
        </p:txBody>
      </p:sp>
      <p:sp>
        <p:nvSpPr>
          <p:cNvPr id="14" name="Text 12"/>
          <p:cNvSpPr/>
          <p:nvPr/>
        </p:nvSpPr>
        <p:spPr>
          <a:xfrm>
            <a:off x="1143000" y="3172968"/>
            <a:ext cx="10469880" cy="457200"/>
          </a:xfrm>
          <a:prstGeom prst="rect">
            <a:avLst/>
          </a:prstGeom>
          <a:noFill/>
          <a:ln/>
        </p:spPr>
        <p:txBody>
          <a:bodyPr wrap="square" lIns="0" tIns="0" rIns="0" bIns="0" rtlCol="0" anchor="ctr"/>
          <a:lstStyle/>
          <a:p>
            <a:pPr marL="0" indent="0">
              <a:buNone/>
            </a:pPr>
            <a:r>
              <a:rPr lang="en-US" sz="1600">
                <a:solidFill>
                  <a:srgbClr val="1F2937"/>
                </a:solidFill>
                <a:latin typeface="Calibri" pitchFamily="34" charset="0"/>
                <a:ea typeface="Calibri" pitchFamily="34" charset="-122"/>
                <a:cs typeface="Calibri" pitchFamily="34" charset="-120"/>
              </a:rPr>
              <a:t>return</a:t>
            </a:r>
            <a:endParaRPr lang="en-US" sz="1600"/>
          </a:p>
        </p:txBody>
      </p:sp>
      <p:sp>
        <p:nvSpPr>
          <p:cNvPr id="15" name="Shape 13"/>
          <p:cNvSpPr/>
          <p:nvPr/>
        </p:nvSpPr>
        <p:spPr>
          <a:xfrm>
            <a:off x="548640" y="3749040"/>
            <a:ext cx="457200" cy="457200"/>
          </a:xfrm>
          <a:prstGeom prst="ellipse">
            <a:avLst/>
          </a:prstGeom>
          <a:solidFill>
            <a:srgbClr val="EEF2FF"/>
          </a:solidFill>
          <a:ln w="12700">
            <a:solidFill>
              <a:srgbClr val="0B2545"/>
            </a:solidFill>
            <a:prstDash val="solid"/>
          </a:ln>
        </p:spPr>
        <p:txBody>
          <a:bodyPr/>
          <a:lstStyle/>
          <a:p>
            <a:endParaRPr lang="en-US"/>
          </a:p>
        </p:txBody>
      </p:sp>
      <p:sp>
        <p:nvSpPr>
          <p:cNvPr id="16" name="Text 14"/>
          <p:cNvSpPr/>
          <p:nvPr/>
        </p:nvSpPr>
        <p:spPr>
          <a:xfrm>
            <a:off x="548640" y="3749040"/>
            <a:ext cx="457200" cy="457200"/>
          </a:xfrm>
          <a:prstGeom prst="rect">
            <a:avLst/>
          </a:prstGeom>
          <a:noFill/>
          <a:ln/>
        </p:spPr>
        <p:txBody>
          <a:bodyPr wrap="square" lIns="0" tIns="0" rIns="0" bIns="0" rtlCol="0" anchor="ctr"/>
          <a:lstStyle/>
          <a:p>
            <a:pPr marL="0" indent="0" algn="ctr">
              <a:buNone/>
            </a:pPr>
            <a:r>
              <a:rPr lang="en-US" sz="1400" b="1">
                <a:solidFill>
                  <a:srgbClr val="0B2545"/>
                </a:solidFill>
                <a:latin typeface="Calibri" pitchFamily="34" charset="0"/>
                <a:ea typeface="Calibri" pitchFamily="34" charset="-122"/>
                <a:cs typeface="Calibri" pitchFamily="34" charset="-120"/>
              </a:rPr>
              <a:t>C</a:t>
            </a:r>
            <a:endParaRPr lang="en-US" sz="1400"/>
          </a:p>
        </p:txBody>
      </p:sp>
      <p:sp>
        <p:nvSpPr>
          <p:cNvPr id="17" name="Text 15"/>
          <p:cNvSpPr/>
          <p:nvPr/>
        </p:nvSpPr>
        <p:spPr>
          <a:xfrm>
            <a:off x="1143000" y="3767328"/>
            <a:ext cx="10469880" cy="457200"/>
          </a:xfrm>
          <a:prstGeom prst="rect">
            <a:avLst/>
          </a:prstGeom>
          <a:noFill/>
          <a:ln/>
        </p:spPr>
        <p:txBody>
          <a:bodyPr wrap="square" lIns="0" tIns="0" rIns="0" bIns="0" rtlCol="0" anchor="ctr"/>
          <a:lstStyle/>
          <a:p>
            <a:pPr marL="0" indent="0">
              <a:buNone/>
            </a:pPr>
            <a:r>
              <a:rPr lang="en-US" sz="1600">
                <a:solidFill>
                  <a:srgbClr val="1F2937"/>
                </a:solidFill>
                <a:latin typeface="Calibri" pitchFamily="34" charset="0"/>
                <a:ea typeface="Calibri" pitchFamily="34" charset="-122"/>
                <a:cs typeface="Calibri" pitchFamily="34" charset="-120"/>
              </a:rPr>
              <a:t>break</a:t>
            </a:r>
            <a:endParaRPr lang="en-US" sz="1600"/>
          </a:p>
        </p:txBody>
      </p:sp>
      <p:sp>
        <p:nvSpPr>
          <p:cNvPr id="18" name="Shape 16"/>
          <p:cNvSpPr/>
          <p:nvPr/>
        </p:nvSpPr>
        <p:spPr>
          <a:xfrm>
            <a:off x="548640" y="4343400"/>
            <a:ext cx="457200" cy="457200"/>
          </a:xfrm>
          <a:prstGeom prst="ellipse">
            <a:avLst/>
          </a:prstGeom>
          <a:solidFill>
            <a:srgbClr val="EEF2FF"/>
          </a:solidFill>
          <a:ln w="12700">
            <a:solidFill>
              <a:srgbClr val="0B2545"/>
            </a:solidFill>
            <a:prstDash val="solid"/>
          </a:ln>
        </p:spPr>
        <p:txBody>
          <a:bodyPr/>
          <a:lstStyle/>
          <a:p>
            <a:endParaRPr lang="en-US"/>
          </a:p>
        </p:txBody>
      </p:sp>
      <p:sp>
        <p:nvSpPr>
          <p:cNvPr id="19" name="Text 17"/>
          <p:cNvSpPr/>
          <p:nvPr/>
        </p:nvSpPr>
        <p:spPr>
          <a:xfrm>
            <a:off x="548640" y="4343400"/>
            <a:ext cx="457200" cy="457200"/>
          </a:xfrm>
          <a:prstGeom prst="rect">
            <a:avLst/>
          </a:prstGeom>
          <a:noFill/>
          <a:ln/>
        </p:spPr>
        <p:txBody>
          <a:bodyPr wrap="square" lIns="0" tIns="0" rIns="0" bIns="0" rtlCol="0" anchor="ctr"/>
          <a:lstStyle/>
          <a:p>
            <a:pPr marL="0" indent="0" algn="ctr">
              <a:buNone/>
            </a:pPr>
            <a:r>
              <a:rPr lang="en-US" sz="1400" b="1">
                <a:solidFill>
                  <a:srgbClr val="0B2545"/>
                </a:solidFill>
                <a:latin typeface="Calibri" pitchFamily="34" charset="0"/>
                <a:ea typeface="Calibri" pitchFamily="34" charset="-122"/>
                <a:cs typeface="Calibri" pitchFamily="34" charset="-120"/>
              </a:rPr>
              <a:t>D</a:t>
            </a:r>
            <a:endParaRPr lang="en-US" sz="1400"/>
          </a:p>
        </p:txBody>
      </p:sp>
      <p:sp>
        <p:nvSpPr>
          <p:cNvPr id="20" name="Text 18"/>
          <p:cNvSpPr/>
          <p:nvPr/>
        </p:nvSpPr>
        <p:spPr>
          <a:xfrm>
            <a:off x="1143000" y="4361688"/>
            <a:ext cx="10469880" cy="457200"/>
          </a:xfrm>
          <a:prstGeom prst="rect">
            <a:avLst/>
          </a:prstGeom>
          <a:noFill/>
          <a:ln/>
        </p:spPr>
        <p:txBody>
          <a:bodyPr wrap="square" lIns="0" tIns="0" rIns="0" bIns="0" rtlCol="0" anchor="ctr"/>
          <a:lstStyle/>
          <a:p>
            <a:pPr marL="0" indent="0">
              <a:buNone/>
            </a:pPr>
            <a:r>
              <a:rPr lang="en-US" sz="1600">
                <a:solidFill>
                  <a:srgbClr val="1F2937"/>
                </a:solidFill>
                <a:latin typeface="Calibri" pitchFamily="34" charset="0"/>
                <a:ea typeface="Calibri" pitchFamily="34" charset="-122"/>
                <a:cs typeface="Calibri" pitchFamily="34" charset="-120"/>
              </a:rPr>
              <a:t>end</a:t>
            </a:r>
            <a:endParaRPr lang="en-US" sz="1600"/>
          </a:p>
        </p:txBody>
      </p:sp>
      <p:sp>
        <p:nvSpPr>
          <p:cNvPr id="21" name="Shape 19"/>
          <p:cNvSpPr/>
          <p:nvPr/>
        </p:nvSpPr>
        <p:spPr>
          <a:xfrm>
            <a:off x="548640" y="6492240"/>
            <a:ext cx="11064240" cy="0"/>
          </a:xfrm>
          <a:prstGeom prst="line">
            <a:avLst/>
          </a:prstGeom>
          <a:noFill/>
          <a:ln w="9525">
            <a:solidFill>
              <a:srgbClr val="E5E7EB"/>
            </a:solidFill>
            <a:prstDash val="solid"/>
          </a:ln>
        </p:spPr>
        <p:txBody>
          <a:bodyPr/>
          <a:lstStyle/>
          <a:p>
            <a:endParaRPr lang="en-US"/>
          </a:p>
        </p:txBody>
      </p:sp>
      <p:sp>
        <p:nvSpPr>
          <p:cNvPr id="22" name="Text 20"/>
          <p:cNvSpPr/>
          <p:nvPr/>
        </p:nvSpPr>
        <p:spPr>
          <a:xfrm>
            <a:off x="548640" y="6537960"/>
            <a:ext cx="5486400" cy="274320"/>
          </a:xfrm>
          <a:prstGeom prst="rect">
            <a:avLst/>
          </a:prstGeom>
          <a:noFill/>
          <a:ln/>
        </p:spPr>
        <p:txBody>
          <a:bodyPr wrap="square" rtlCol="0" anchor="ctr"/>
          <a:lstStyle/>
          <a:p>
            <a:pPr marL="0" indent="0">
              <a:buNone/>
            </a:pPr>
            <a:r>
              <a:rPr lang="en-US" sz="1000">
                <a:solidFill>
                  <a:srgbClr val="6B7280"/>
                </a:solidFill>
                <a:latin typeface="Calibri" pitchFamily="34" charset="0"/>
                <a:ea typeface="Calibri" pitchFamily="34" charset="-122"/>
                <a:cs typeface="Calibri" pitchFamily="34" charset="-120"/>
              </a:rPr>
              <a:t>C# Concepts Quiz</a:t>
            </a:r>
            <a:endParaRPr lang="en-US" sz="1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F59E0B"/>
          </a:solidFill>
          <a:ln w="12700">
            <a:solidFill>
              <a:srgbClr val="F59E0B"/>
            </a:solidFill>
            <a:prstDash val="solid"/>
          </a:ln>
        </p:spPr>
        <p:txBody>
          <a:bodyPr/>
          <a:lstStyle/>
          <a:p>
            <a:endParaRPr lang="en-US"/>
          </a:p>
        </p:txBody>
      </p:sp>
      <p:sp>
        <p:nvSpPr>
          <p:cNvPr id="3" name="Shape 1"/>
          <p:cNvSpPr/>
          <p:nvPr/>
        </p:nvSpPr>
        <p:spPr>
          <a:xfrm>
            <a:off x="548640" y="365760"/>
            <a:ext cx="4023360" cy="411480"/>
          </a:xfrm>
          <a:prstGeom prst="rect">
            <a:avLst/>
          </a:prstGeom>
          <a:solidFill>
            <a:srgbClr val="FFF7E6"/>
          </a:solidFill>
          <a:ln w="9525">
            <a:solidFill>
              <a:srgbClr val="F59E0B"/>
            </a:solidFill>
            <a:prstDash val="solid"/>
          </a:ln>
        </p:spPr>
        <p:txBody>
          <a:bodyPr/>
          <a:lstStyle/>
          <a:p>
            <a:endParaRPr lang="en-US"/>
          </a:p>
        </p:txBody>
      </p:sp>
      <p:sp>
        <p:nvSpPr>
          <p:cNvPr id="4" name="Text 2"/>
          <p:cNvSpPr/>
          <p:nvPr/>
        </p:nvSpPr>
        <p:spPr>
          <a:xfrm>
            <a:off x="548640" y="365760"/>
            <a:ext cx="4023360" cy="411480"/>
          </a:xfrm>
          <a:prstGeom prst="rect">
            <a:avLst/>
          </a:prstGeom>
          <a:noFill/>
          <a:ln/>
        </p:spPr>
        <p:txBody>
          <a:bodyPr wrap="square" rtlCol="0" anchor="ctr"/>
          <a:lstStyle/>
          <a:p>
            <a:pPr marL="0" indent="0" algn="ctr">
              <a:buNone/>
            </a:pPr>
            <a:r>
              <a:rPr lang="en-US" sz="1100" b="1" kern="0" spc="200">
                <a:solidFill>
                  <a:srgbClr val="0B2545"/>
                </a:solidFill>
                <a:latin typeface="Calibri" pitchFamily="34" charset="0"/>
                <a:ea typeface="Calibri" pitchFamily="34" charset="-122"/>
                <a:cs typeface="Calibri" pitchFamily="34" charset="-120"/>
              </a:rPr>
              <a:t>SECTION 5 — SWITCH STATEMENTS</a:t>
            </a:r>
            <a:endParaRPr lang="en-US" sz="1100"/>
          </a:p>
        </p:txBody>
      </p:sp>
      <p:sp>
        <p:nvSpPr>
          <p:cNvPr id="5" name="Shape 3"/>
          <p:cNvSpPr/>
          <p:nvPr/>
        </p:nvSpPr>
        <p:spPr>
          <a:xfrm>
            <a:off x="9418320" y="365760"/>
            <a:ext cx="2194560" cy="411480"/>
          </a:xfrm>
          <a:prstGeom prst="rect">
            <a:avLst/>
          </a:prstGeom>
          <a:solidFill>
            <a:srgbClr val="ECFDF5"/>
          </a:solidFill>
          <a:ln w="9525">
            <a:solidFill>
              <a:srgbClr val="10B981"/>
            </a:solidFill>
            <a:prstDash val="solid"/>
          </a:ln>
        </p:spPr>
        <p:txBody>
          <a:bodyPr/>
          <a:lstStyle/>
          <a:p>
            <a:endParaRPr lang="en-US"/>
          </a:p>
        </p:txBody>
      </p:sp>
      <p:sp>
        <p:nvSpPr>
          <p:cNvPr id="6" name="Text 4"/>
          <p:cNvSpPr/>
          <p:nvPr/>
        </p:nvSpPr>
        <p:spPr>
          <a:xfrm>
            <a:off x="9418320" y="365760"/>
            <a:ext cx="2194560" cy="411480"/>
          </a:xfrm>
          <a:prstGeom prst="rect">
            <a:avLst/>
          </a:prstGeom>
          <a:noFill/>
          <a:ln/>
        </p:spPr>
        <p:txBody>
          <a:bodyPr wrap="square" rtlCol="0" anchor="ctr"/>
          <a:lstStyle/>
          <a:p>
            <a:pPr marL="0" indent="0" algn="ctr">
              <a:buNone/>
            </a:pPr>
            <a:r>
              <a:rPr lang="en-US" sz="1100" b="1" kern="0" spc="200">
                <a:solidFill>
                  <a:srgbClr val="10B981"/>
                </a:solidFill>
                <a:latin typeface="Calibri" pitchFamily="34" charset="0"/>
                <a:ea typeface="Calibri" pitchFamily="34" charset="-122"/>
                <a:cs typeface="Calibri" pitchFamily="34" charset="-120"/>
              </a:rPr>
              <a:t>Q13  ·  ANSWER</a:t>
            </a:r>
            <a:endParaRPr lang="en-US" sz="1100"/>
          </a:p>
        </p:txBody>
      </p:sp>
      <p:sp>
        <p:nvSpPr>
          <p:cNvPr id="7" name="Text 5"/>
          <p:cNvSpPr/>
          <p:nvPr/>
        </p:nvSpPr>
        <p:spPr>
          <a:xfrm>
            <a:off x="548640" y="1005840"/>
            <a:ext cx="11064240" cy="640080"/>
          </a:xfrm>
          <a:prstGeom prst="rect">
            <a:avLst/>
          </a:prstGeom>
          <a:noFill/>
          <a:ln/>
        </p:spPr>
        <p:txBody>
          <a:bodyPr wrap="square" rtlCol="0" anchor="t"/>
          <a:lstStyle/>
          <a:p>
            <a:pPr marL="0" indent="0">
              <a:buNone/>
            </a:pPr>
            <a:r>
              <a:rPr lang="en-US" sz="1500" i="1">
                <a:solidFill>
                  <a:srgbClr val="6B7280"/>
                </a:solidFill>
                <a:latin typeface="Calibri" pitchFamily="34" charset="0"/>
                <a:ea typeface="Calibri" pitchFamily="34" charset="-122"/>
                <a:cs typeface="Calibri" pitchFamily="34" charset="-120"/>
              </a:rPr>
              <a:t>Which keyword is used to exit a case block in a C# switch?</a:t>
            </a:r>
            <a:endParaRPr lang="en-US" sz="1500"/>
          </a:p>
        </p:txBody>
      </p:sp>
      <p:sp>
        <p:nvSpPr>
          <p:cNvPr id="8" name="Shape 6"/>
          <p:cNvSpPr/>
          <p:nvPr/>
        </p:nvSpPr>
        <p:spPr>
          <a:xfrm>
            <a:off x="548640" y="1783080"/>
            <a:ext cx="11064240" cy="0"/>
          </a:xfrm>
          <a:prstGeom prst="line">
            <a:avLst/>
          </a:prstGeom>
          <a:noFill/>
          <a:ln w="12700">
            <a:solidFill>
              <a:srgbClr val="E5E7EB"/>
            </a:solidFill>
            <a:prstDash val="solid"/>
          </a:ln>
        </p:spPr>
        <p:txBody>
          <a:bodyPr/>
          <a:lstStyle/>
          <a:p>
            <a:endParaRPr lang="en-US"/>
          </a:p>
        </p:txBody>
      </p:sp>
      <p:sp>
        <p:nvSpPr>
          <p:cNvPr id="9" name="Shape 7"/>
          <p:cNvSpPr/>
          <p:nvPr/>
        </p:nvSpPr>
        <p:spPr>
          <a:xfrm>
            <a:off x="548640" y="1965960"/>
            <a:ext cx="11064240" cy="640080"/>
          </a:xfrm>
          <a:prstGeom prst="rect">
            <a:avLst/>
          </a:prstGeom>
          <a:solidFill>
            <a:srgbClr val="ECFDF5"/>
          </a:solidFill>
          <a:ln w="12700">
            <a:solidFill>
              <a:srgbClr val="10B981"/>
            </a:solidFill>
            <a:prstDash val="solid"/>
          </a:ln>
        </p:spPr>
        <p:txBody>
          <a:bodyPr/>
          <a:lstStyle/>
          <a:p>
            <a:endParaRPr lang="en-US"/>
          </a:p>
        </p:txBody>
      </p:sp>
      <p:sp>
        <p:nvSpPr>
          <p:cNvPr id="10" name="Text 8"/>
          <p:cNvSpPr/>
          <p:nvPr/>
        </p:nvSpPr>
        <p:spPr>
          <a:xfrm>
            <a:off x="777240" y="1965960"/>
            <a:ext cx="10607040" cy="640080"/>
          </a:xfrm>
          <a:prstGeom prst="rect">
            <a:avLst/>
          </a:prstGeom>
          <a:noFill/>
          <a:ln/>
        </p:spPr>
        <p:txBody>
          <a:bodyPr wrap="square" rtlCol="0" anchor="ctr"/>
          <a:lstStyle/>
          <a:p>
            <a:pPr marL="0" indent="0">
              <a:buNone/>
            </a:pPr>
            <a:r>
              <a:rPr lang="en-US" sz="1800" b="1">
                <a:solidFill>
                  <a:srgbClr val="065F46"/>
                </a:solidFill>
                <a:latin typeface="Calibri" pitchFamily="34" charset="0"/>
                <a:ea typeface="Calibri" pitchFamily="34" charset="-122"/>
                <a:cs typeface="Calibri" pitchFamily="34" charset="-120"/>
              </a:rPr>
              <a:t>Correct answer: C — the break keyword.</a:t>
            </a:r>
            <a:endParaRPr lang="en-US" sz="1800"/>
          </a:p>
        </p:txBody>
      </p:sp>
      <p:sp>
        <p:nvSpPr>
          <p:cNvPr id="11" name="Text 9"/>
          <p:cNvSpPr/>
          <p:nvPr/>
        </p:nvSpPr>
        <p:spPr>
          <a:xfrm>
            <a:off x="548640" y="2788920"/>
            <a:ext cx="11064240" cy="320040"/>
          </a:xfrm>
          <a:prstGeom prst="rect">
            <a:avLst/>
          </a:prstGeom>
          <a:noFill/>
          <a:ln/>
        </p:spPr>
        <p:txBody>
          <a:bodyPr wrap="square" rtlCol="0" anchor="ctr"/>
          <a:lstStyle/>
          <a:p>
            <a:pPr marL="0" indent="0">
              <a:buNone/>
            </a:pPr>
            <a:r>
              <a:rPr lang="en-US" sz="1200" b="1" kern="0" spc="300">
                <a:solidFill>
                  <a:srgbClr val="F59E0B"/>
                </a:solidFill>
                <a:latin typeface="Calibri" pitchFamily="34" charset="0"/>
                <a:ea typeface="Calibri" pitchFamily="34" charset="-122"/>
                <a:cs typeface="Calibri" pitchFamily="34" charset="-120"/>
              </a:rPr>
              <a:t>Explanation</a:t>
            </a:r>
            <a:endParaRPr lang="en-US" sz="1200"/>
          </a:p>
        </p:txBody>
      </p:sp>
      <p:sp>
        <p:nvSpPr>
          <p:cNvPr id="12" name="Text 10"/>
          <p:cNvSpPr/>
          <p:nvPr/>
        </p:nvSpPr>
        <p:spPr>
          <a:xfrm>
            <a:off x="548640" y="3154680"/>
            <a:ext cx="11064240" cy="2788920"/>
          </a:xfrm>
          <a:prstGeom prst="rect">
            <a:avLst/>
          </a:prstGeom>
          <a:noFill/>
          <a:ln/>
        </p:spPr>
        <p:txBody>
          <a:bodyPr wrap="square" rtlCol="0" anchor="t"/>
          <a:lstStyle/>
          <a:p>
            <a:pPr marL="0" indent="0">
              <a:buNone/>
            </a:pPr>
            <a:r>
              <a:rPr lang="en-US" sz="1600">
                <a:solidFill>
                  <a:srgbClr val="13315C"/>
                </a:solidFill>
                <a:latin typeface="Calibri" pitchFamily="34" charset="0"/>
                <a:ea typeface="Calibri" pitchFamily="34" charset="-122"/>
                <a:cs typeface="Calibri" pitchFamily="34" charset="-120"/>
              </a:rPr>
              <a:t>C# uses break to terminate a case and jump past the switch. While return also exits the case (and the whole method), break is the standard control-flow keyword designed for switch and loops. exit and end are not C# keywords.</a:t>
            </a:r>
            <a:endParaRPr lang="en-US" sz="1600"/>
          </a:p>
        </p:txBody>
      </p:sp>
      <p:sp>
        <p:nvSpPr>
          <p:cNvPr id="13" name="Shape 11"/>
          <p:cNvSpPr/>
          <p:nvPr/>
        </p:nvSpPr>
        <p:spPr>
          <a:xfrm>
            <a:off x="548640" y="6492240"/>
            <a:ext cx="11064240" cy="0"/>
          </a:xfrm>
          <a:prstGeom prst="line">
            <a:avLst/>
          </a:prstGeom>
          <a:noFill/>
          <a:ln w="9525">
            <a:solidFill>
              <a:srgbClr val="E5E7EB"/>
            </a:solidFill>
            <a:prstDash val="solid"/>
          </a:ln>
        </p:spPr>
        <p:txBody>
          <a:bodyPr/>
          <a:lstStyle/>
          <a:p>
            <a:endParaRPr lang="en-US"/>
          </a:p>
        </p:txBody>
      </p:sp>
      <p:sp>
        <p:nvSpPr>
          <p:cNvPr id="14" name="Text 12"/>
          <p:cNvSpPr/>
          <p:nvPr/>
        </p:nvSpPr>
        <p:spPr>
          <a:xfrm>
            <a:off x="548640" y="6537960"/>
            <a:ext cx="5486400" cy="274320"/>
          </a:xfrm>
          <a:prstGeom prst="rect">
            <a:avLst/>
          </a:prstGeom>
          <a:noFill/>
          <a:ln/>
        </p:spPr>
        <p:txBody>
          <a:bodyPr wrap="square" rtlCol="0" anchor="ctr"/>
          <a:lstStyle/>
          <a:p>
            <a:pPr marL="0" indent="0">
              <a:buNone/>
            </a:pPr>
            <a:r>
              <a:rPr lang="en-US" sz="1000">
                <a:solidFill>
                  <a:srgbClr val="6B7280"/>
                </a:solidFill>
                <a:latin typeface="Calibri" pitchFamily="34" charset="0"/>
                <a:ea typeface="Calibri" pitchFamily="34" charset="-122"/>
                <a:cs typeface="Calibri" pitchFamily="34" charset="-120"/>
              </a:rPr>
              <a:t>C# Concepts Quiz</a:t>
            </a:r>
            <a:endParaRPr lang="en-US" sz="1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F59E0B"/>
          </a:solidFill>
          <a:ln w="12700">
            <a:solidFill>
              <a:srgbClr val="F59E0B"/>
            </a:solidFill>
            <a:prstDash val="solid"/>
          </a:ln>
        </p:spPr>
        <p:txBody>
          <a:bodyPr/>
          <a:lstStyle/>
          <a:p>
            <a:endParaRPr lang="en-US"/>
          </a:p>
        </p:txBody>
      </p:sp>
      <p:sp>
        <p:nvSpPr>
          <p:cNvPr id="3" name="Shape 1"/>
          <p:cNvSpPr/>
          <p:nvPr/>
        </p:nvSpPr>
        <p:spPr>
          <a:xfrm>
            <a:off x="548640" y="365760"/>
            <a:ext cx="4023360" cy="411480"/>
          </a:xfrm>
          <a:prstGeom prst="rect">
            <a:avLst/>
          </a:prstGeom>
          <a:solidFill>
            <a:srgbClr val="FFF7E6"/>
          </a:solidFill>
          <a:ln w="9525">
            <a:solidFill>
              <a:srgbClr val="F59E0B"/>
            </a:solidFill>
            <a:prstDash val="solid"/>
          </a:ln>
        </p:spPr>
        <p:txBody>
          <a:bodyPr/>
          <a:lstStyle/>
          <a:p>
            <a:endParaRPr lang="en-US"/>
          </a:p>
        </p:txBody>
      </p:sp>
      <p:sp>
        <p:nvSpPr>
          <p:cNvPr id="4" name="Text 2"/>
          <p:cNvSpPr/>
          <p:nvPr/>
        </p:nvSpPr>
        <p:spPr>
          <a:xfrm>
            <a:off x="548640" y="365760"/>
            <a:ext cx="4023360" cy="411480"/>
          </a:xfrm>
          <a:prstGeom prst="rect">
            <a:avLst/>
          </a:prstGeom>
          <a:noFill/>
          <a:ln/>
        </p:spPr>
        <p:txBody>
          <a:bodyPr wrap="square" rtlCol="0" anchor="ctr"/>
          <a:lstStyle/>
          <a:p>
            <a:pPr marL="0" indent="0" algn="ctr">
              <a:buNone/>
            </a:pPr>
            <a:r>
              <a:rPr lang="en-US" sz="1100" b="1" kern="0" spc="200">
                <a:solidFill>
                  <a:srgbClr val="0B2545"/>
                </a:solidFill>
                <a:latin typeface="Calibri" pitchFamily="34" charset="0"/>
                <a:ea typeface="Calibri" pitchFamily="34" charset="-122"/>
                <a:cs typeface="Calibri" pitchFamily="34" charset="-120"/>
              </a:rPr>
              <a:t>SECTION 5 — SWITCH STATEMENTS</a:t>
            </a:r>
            <a:endParaRPr lang="en-US" sz="1100"/>
          </a:p>
        </p:txBody>
      </p:sp>
      <p:sp>
        <p:nvSpPr>
          <p:cNvPr id="5" name="Shape 3"/>
          <p:cNvSpPr/>
          <p:nvPr/>
        </p:nvSpPr>
        <p:spPr>
          <a:xfrm>
            <a:off x="9418320" y="365760"/>
            <a:ext cx="2194560" cy="411480"/>
          </a:xfrm>
          <a:prstGeom prst="rect">
            <a:avLst/>
          </a:prstGeom>
          <a:solidFill>
            <a:srgbClr val="EEF2FF"/>
          </a:solidFill>
          <a:ln w="9525">
            <a:solidFill>
              <a:srgbClr val="0B2545"/>
            </a:solidFill>
            <a:prstDash val="solid"/>
          </a:ln>
        </p:spPr>
        <p:txBody>
          <a:bodyPr/>
          <a:lstStyle/>
          <a:p>
            <a:endParaRPr lang="en-US"/>
          </a:p>
        </p:txBody>
      </p:sp>
      <p:sp>
        <p:nvSpPr>
          <p:cNvPr id="6" name="Text 4"/>
          <p:cNvSpPr/>
          <p:nvPr/>
        </p:nvSpPr>
        <p:spPr>
          <a:xfrm>
            <a:off x="9418320" y="365760"/>
            <a:ext cx="2194560" cy="411480"/>
          </a:xfrm>
          <a:prstGeom prst="rect">
            <a:avLst/>
          </a:prstGeom>
          <a:noFill/>
          <a:ln/>
        </p:spPr>
        <p:txBody>
          <a:bodyPr wrap="square" rtlCol="0" anchor="ctr"/>
          <a:lstStyle/>
          <a:p>
            <a:pPr marL="0" indent="0" algn="ctr">
              <a:buNone/>
            </a:pPr>
            <a:r>
              <a:rPr lang="en-US" sz="1100" b="1" kern="0" spc="200">
                <a:solidFill>
                  <a:srgbClr val="0B2545"/>
                </a:solidFill>
                <a:latin typeface="Calibri" pitchFamily="34" charset="0"/>
                <a:ea typeface="Calibri" pitchFamily="34" charset="-122"/>
                <a:cs typeface="Calibri" pitchFamily="34" charset="-120"/>
              </a:rPr>
              <a:t>Q14  ·  QUESTION</a:t>
            </a:r>
            <a:endParaRPr lang="en-US" sz="1100"/>
          </a:p>
        </p:txBody>
      </p:sp>
      <p:sp>
        <p:nvSpPr>
          <p:cNvPr id="7" name="Text 5"/>
          <p:cNvSpPr/>
          <p:nvPr/>
        </p:nvSpPr>
        <p:spPr>
          <a:xfrm>
            <a:off x="548640" y="1005840"/>
            <a:ext cx="11064240" cy="320040"/>
          </a:xfrm>
          <a:prstGeom prst="rect">
            <a:avLst/>
          </a:prstGeom>
          <a:noFill/>
          <a:ln/>
        </p:spPr>
        <p:txBody>
          <a:bodyPr wrap="square" rtlCol="0" anchor="ctr"/>
          <a:lstStyle/>
          <a:p>
            <a:pPr marL="0" indent="0">
              <a:buNone/>
            </a:pPr>
            <a:r>
              <a:rPr lang="en-US" sz="1200" b="1" kern="0" spc="300">
                <a:solidFill>
                  <a:srgbClr val="F59E0B"/>
                </a:solidFill>
                <a:latin typeface="Calibri" pitchFamily="34" charset="0"/>
                <a:ea typeface="Calibri" pitchFamily="34" charset="-122"/>
                <a:cs typeface="Calibri" pitchFamily="34" charset="-120"/>
              </a:rPr>
              <a:t>MULTIPLE CHOICE</a:t>
            </a:r>
            <a:endParaRPr lang="en-US" sz="1200"/>
          </a:p>
        </p:txBody>
      </p:sp>
      <p:sp>
        <p:nvSpPr>
          <p:cNvPr id="8" name="Text 6"/>
          <p:cNvSpPr/>
          <p:nvPr/>
        </p:nvSpPr>
        <p:spPr>
          <a:xfrm>
            <a:off x="548640" y="1371600"/>
            <a:ext cx="11064240" cy="1097280"/>
          </a:xfrm>
          <a:prstGeom prst="rect">
            <a:avLst/>
          </a:prstGeom>
          <a:noFill/>
          <a:ln/>
        </p:spPr>
        <p:txBody>
          <a:bodyPr wrap="square" rtlCol="0" anchor="t"/>
          <a:lstStyle/>
          <a:p>
            <a:pPr marL="0" indent="0">
              <a:buNone/>
            </a:pPr>
            <a:r>
              <a:rPr lang="en-US" sz="2600" b="1">
                <a:solidFill>
                  <a:srgbClr val="0B2545"/>
                </a:solidFill>
                <a:latin typeface="Calibri" pitchFamily="34" charset="0"/>
                <a:ea typeface="Calibri" pitchFamily="34" charset="-122"/>
                <a:cs typeface="Calibri" pitchFamily="34" charset="-120"/>
              </a:rPr>
              <a:t>What happens if you omit break between two non-empty case labels in C#?</a:t>
            </a:r>
            <a:endParaRPr lang="en-US" sz="2600"/>
          </a:p>
        </p:txBody>
      </p:sp>
      <p:sp>
        <p:nvSpPr>
          <p:cNvPr id="9" name="Shape 7"/>
          <p:cNvSpPr/>
          <p:nvPr/>
        </p:nvSpPr>
        <p:spPr>
          <a:xfrm>
            <a:off x="548640" y="2560320"/>
            <a:ext cx="457200" cy="457200"/>
          </a:xfrm>
          <a:prstGeom prst="ellipse">
            <a:avLst/>
          </a:prstGeom>
          <a:solidFill>
            <a:srgbClr val="EEF2FF"/>
          </a:solidFill>
          <a:ln w="12700">
            <a:solidFill>
              <a:srgbClr val="0B2545"/>
            </a:solidFill>
            <a:prstDash val="solid"/>
          </a:ln>
        </p:spPr>
        <p:txBody>
          <a:bodyPr/>
          <a:lstStyle/>
          <a:p>
            <a:endParaRPr lang="en-US"/>
          </a:p>
        </p:txBody>
      </p:sp>
      <p:sp>
        <p:nvSpPr>
          <p:cNvPr id="10" name="Text 8"/>
          <p:cNvSpPr/>
          <p:nvPr/>
        </p:nvSpPr>
        <p:spPr>
          <a:xfrm>
            <a:off x="548640" y="2560320"/>
            <a:ext cx="457200" cy="457200"/>
          </a:xfrm>
          <a:prstGeom prst="rect">
            <a:avLst/>
          </a:prstGeom>
          <a:noFill/>
          <a:ln/>
        </p:spPr>
        <p:txBody>
          <a:bodyPr wrap="square" lIns="0" tIns="0" rIns="0" bIns="0" rtlCol="0" anchor="ctr"/>
          <a:lstStyle/>
          <a:p>
            <a:pPr marL="0" indent="0" algn="ctr">
              <a:buNone/>
            </a:pPr>
            <a:r>
              <a:rPr lang="en-US" sz="1400" b="1">
                <a:solidFill>
                  <a:srgbClr val="0B2545"/>
                </a:solidFill>
                <a:latin typeface="Calibri" pitchFamily="34" charset="0"/>
                <a:ea typeface="Calibri" pitchFamily="34" charset="-122"/>
                <a:cs typeface="Calibri" pitchFamily="34" charset="-120"/>
              </a:rPr>
              <a:t>A</a:t>
            </a:r>
            <a:endParaRPr lang="en-US" sz="1400"/>
          </a:p>
        </p:txBody>
      </p:sp>
      <p:sp>
        <p:nvSpPr>
          <p:cNvPr id="11" name="Text 9"/>
          <p:cNvSpPr/>
          <p:nvPr/>
        </p:nvSpPr>
        <p:spPr>
          <a:xfrm>
            <a:off x="1143000" y="2578608"/>
            <a:ext cx="10469880" cy="457200"/>
          </a:xfrm>
          <a:prstGeom prst="rect">
            <a:avLst/>
          </a:prstGeom>
          <a:noFill/>
          <a:ln/>
        </p:spPr>
        <p:txBody>
          <a:bodyPr wrap="square" lIns="0" tIns="0" rIns="0" bIns="0" rtlCol="0" anchor="ctr"/>
          <a:lstStyle/>
          <a:p>
            <a:pPr marL="0" indent="0">
              <a:buNone/>
            </a:pPr>
            <a:r>
              <a:rPr lang="en-US" sz="1600" dirty="0">
                <a:solidFill>
                  <a:srgbClr val="1F2937"/>
                </a:solidFill>
                <a:latin typeface="Calibri" pitchFamily="34" charset="0"/>
                <a:ea typeface="Calibri" pitchFamily="34" charset="-122"/>
                <a:cs typeface="Calibri" pitchFamily="34" charset="-120"/>
              </a:rPr>
              <a:t>Implicit fall-through to the next case</a:t>
            </a:r>
            <a:endParaRPr lang="en-US" sz="1600" dirty="0"/>
          </a:p>
        </p:txBody>
      </p:sp>
      <p:sp>
        <p:nvSpPr>
          <p:cNvPr id="12" name="Shape 10"/>
          <p:cNvSpPr/>
          <p:nvPr/>
        </p:nvSpPr>
        <p:spPr>
          <a:xfrm>
            <a:off x="548640" y="3154680"/>
            <a:ext cx="457200" cy="457200"/>
          </a:xfrm>
          <a:prstGeom prst="ellipse">
            <a:avLst/>
          </a:prstGeom>
          <a:solidFill>
            <a:srgbClr val="EEF2FF"/>
          </a:solidFill>
          <a:ln w="12700">
            <a:solidFill>
              <a:srgbClr val="0B2545"/>
            </a:solidFill>
            <a:prstDash val="solid"/>
          </a:ln>
        </p:spPr>
        <p:txBody>
          <a:bodyPr/>
          <a:lstStyle/>
          <a:p>
            <a:endParaRPr lang="en-US"/>
          </a:p>
        </p:txBody>
      </p:sp>
      <p:sp>
        <p:nvSpPr>
          <p:cNvPr id="13" name="Text 11"/>
          <p:cNvSpPr/>
          <p:nvPr/>
        </p:nvSpPr>
        <p:spPr>
          <a:xfrm>
            <a:off x="548640" y="3154680"/>
            <a:ext cx="457200" cy="457200"/>
          </a:xfrm>
          <a:prstGeom prst="rect">
            <a:avLst/>
          </a:prstGeom>
          <a:noFill/>
          <a:ln/>
        </p:spPr>
        <p:txBody>
          <a:bodyPr wrap="square" lIns="0" tIns="0" rIns="0" bIns="0" rtlCol="0" anchor="ctr"/>
          <a:lstStyle/>
          <a:p>
            <a:pPr marL="0" indent="0" algn="ctr">
              <a:buNone/>
            </a:pPr>
            <a:r>
              <a:rPr lang="en-US" sz="1400" b="1">
                <a:solidFill>
                  <a:srgbClr val="0B2545"/>
                </a:solidFill>
                <a:latin typeface="Calibri" pitchFamily="34" charset="0"/>
                <a:ea typeface="Calibri" pitchFamily="34" charset="-122"/>
                <a:cs typeface="Calibri" pitchFamily="34" charset="-120"/>
              </a:rPr>
              <a:t>B</a:t>
            </a:r>
            <a:endParaRPr lang="en-US" sz="1400"/>
          </a:p>
        </p:txBody>
      </p:sp>
      <p:sp>
        <p:nvSpPr>
          <p:cNvPr id="14" name="Text 12"/>
          <p:cNvSpPr/>
          <p:nvPr/>
        </p:nvSpPr>
        <p:spPr>
          <a:xfrm>
            <a:off x="1143000" y="3172968"/>
            <a:ext cx="10469880" cy="457200"/>
          </a:xfrm>
          <a:prstGeom prst="rect">
            <a:avLst/>
          </a:prstGeom>
          <a:noFill/>
          <a:ln/>
        </p:spPr>
        <p:txBody>
          <a:bodyPr wrap="square" lIns="0" tIns="0" rIns="0" bIns="0" rtlCol="0" anchor="ctr"/>
          <a:lstStyle/>
          <a:p>
            <a:pPr marL="0" indent="0">
              <a:buNone/>
            </a:pPr>
            <a:r>
              <a:rPr lang="en-US" sz="1600">
                <a:solidFill>
                  <a:srgbClr val="1F2937"/>
                </a:solidFill>
                <a:latin typeface="Calibri" pitchFamily="34" charset="0"/>
                <a:ea typeface="Calibri" pitchFamily="34" charset="-122"/>
                <a:cs typeface="Calibri" pitchFamily="34" charset="-120"/>
              </a:rPr>
              <a:t>Compile error (CS0163)</a:t>
            </a:r>
            <a:endParaRPr lang="en-US" sz="1600"/>
          </a:p>
        </p:txBody>
      </p:sp>
      <p:sp>
        <p:nvSpPr>
          <p:cNvPr id="15" name="Shape 13"/>
          <p:cNvSpPr/>
          <p:nvPr/>
        </p:nvSpPr>
        <p:spPr>
          <a:xfrm>
            <a:off x="548640" y="3749040"/>
            <a:ext cx="457200" cy="457200"/>
          </a:xfrm>
          <a:prstGeom prst="ellipse">
            <a:avLst/>
          </a:prstGeom>
          <a:solidFill>
            <a:srgbClr val="EEF2FF"/>
          </a:solidFill>
          <a:ln w="12700">
            <a:solidFill>
              <a:srgbClr val="0B2545"/>
            </a:solidFill>
            <a:prstDash val="solid"/>
          </a:ln>
        </p:spPr>
        <p:txBody>
          <a:bodyPr/>
          <a:lstStyle/>
          <a:p>
            <a:endParaRPr lang="en-US"/>
          </a:p>
        </p:txBody>
      </p:sp>
      <p:sp>
        <p:nvSpPr>
          <p:cNvPr id="16" name="Text 14"/>
          <p:cNvSpPr/>
          <p:nvPr/>
        </p:nvSpPr>
        <p:spPr>
          <a:xfrm>
            <a:off x="548640" y="3749040"/>
            <a:ext cx="457200" cy="457200"/>
          </a:xfrm>
          <a:prstGeom prst="rect">
            <a:avLst/>
          </a:prstGeom>
          <a:noFill/>
          <a:ln/>
        </p:spPr>
        <p:txBody>
          <a:bodyPr wrap="square" lIns="0" tIns="0" rIns="0" bIns="0" rtlCol="0" anchor="ctr"/>
          <a:lstStyle/>
          <a:p>
            <a:pPr marL="0" indent="0" algn="ctr">
              <a:buNone/>
            </a:pPr>
            <a:r>
              <a:rPr lang="en-US" sz="1400" b="1">
                <a:solidFill>
                  <a:srgbClr val="0B2545"/>
                </a:solidFill>
                <a:latin typeface="Calibri" pitchFamily="34" charset="0"/>
                <a:ea typeface="Calibri" pitchFamily="34" charset="-122"/>
                <a:cs typeface="Calibri" pitchFamily="34" charset="-120"/>
              </a:rPr>
              <a:t>C</a:t>
            </a:r>
            <a:endParaRPr lang="en-US" sz="1400"/>
          </a:p>
        </p:txBody>
      </p:sp>
      <p:sp>
        <p:nvSpPr>
          <p:cNvPr id="17" name="Text 15"/>
          <p:cNvSpPr/>
          <p:nvPr/>
        </p:nvSpPr>
        <p:spPr>
          <a:xfrm>
            <a:off x="1143000" y="3767328"/>
            <a:ext cx="10469880" cy="457200"/>
          </a:xfrm>
          <a:prstGeom prst="rect">
            <a:avLst/>
          </a:prstGeom>
          <a:noFill/>
          <a:ln/>
        </p:spPr>
        <p:txBody>
          <a:bodyPr wrap="square" lIns="0" tIns="0" rIns="0" bIns="0" rtlCol="0" anchor="ctr"/>
          <a:lstStyle/>
          <a:p>
            <a:pPr marL="0" indent="0">
              <a:buNone/>
            </a:pPr>
            <a:r>
              <a:rPr lang="en-US" sz="1600" dirty="0">
                <a:solidFill>
                  <a:srgbClr val="1F2937"/>
                </a:solidFill>
                <a:latin typeface="Calibri" pitchFamily="34" charset="0"/>
                <a:ea typeface="Calibri" pitchFamily="34" charset="-122"/>
                <a:cs typeface="Calibri" pitchFamily="34" charset="-120"/>
              </a:rPr>
              <a:t>Default branch runs</a:t>
            </a:r>
            <a:endParaRPr lang="en-US" sz="1600" dirty="0"/>
          </a:p>
        </p:txBody>
      </p:sp>
      <p:sp>
        <p:nvSpPr>
          <p:cNvPr id="18" name="Shape 16"/>
          <p:cNvSpPr/>
          <p:nvPr/>
        </p:nvSpPr>
        <p:spPr>
          <a:xfrm>
            <a:off x="548640" y="4343400"/>
            <a:ext cx="457200" cy="457200"/>
          </a:xfrm>
          <a:prstGeom prst="ellipse">
            <a:avLst/>
          </a:prstGeom>
          <a:solidFill>
            <a:srgbClr val="EEF2FF"/>
          </a:solidFill>
          <a:ln w="12700">
            <a:solidFill>
              <a:srgbClr val="0B2545"/>
            </a:solidFill>
            <a:prstDash val="solid"/>
          </a:ln>
        </p:spPr>
        <p:txBody>
          <a:bodyPr/>
          <a:lstStyle/>
          <a:p>
            <a:endParaRPr lang="en-US"/>
          </a:p>
        </p:txBody>
      </p:sp>
      <p:sp>
        <p:nvSpPr>
          <p:cNvPr id="19" name="Text 17"/>
          <p:cNvSpPr/>
          <p:nvPr/>
        </p:nvSpPr>
        <p:spPr>
          <a:xfrm>
            <a:off x="548640" y="4343400"/>
            <a:ext cx="457200" cy="457200"/>
          </a:xfrm>
          <a:prstGeom prst="rect">
            <a:avLst/>
          </a:prstGeom>
          <a:noFill/>
          <a:ln/>
        </p:spPr>
        <p:txBody>
          <a:bodyPr wrap="square" lIns="0" tIns="0" rIns="0" bIns="0" rtlCol="0" anchor="ctr"/>
          <a:lstStyle/>
          <a:p>
            <a:pPr marL="0" indent="0" algn="ctr">
              <a:buNone/>
            </a:pPr>
            <a:r>
              <a:rPr lang="en-US" sz="1400" b="1">
                <a:solidFill>
                  <a:srgbClr val="0B2545"/>
                </a:solidFill>
                <a:latin typeface="Calibri" pitchFamily="34" charset="0"/>
                <a:ea typeface="Calibri" pitchFamily="34" charset="-122"/>
                <a:cs typeface="Calibri" pitchFamily="34" charset="-120"/>
              </a:rPr>
              <a:t>D</a:t>
            </a:r>
            <a:endParaRPr lang="en-US" sz="1400"/>
          </a:p>
        </p:txBody>
      </p:sp>
      <p:sp>
        <p:nvSpPr>
          <p:cNvPr id="20" name="Text 18"/>
          <p:cNvSpPr/>
          <p:nvPr/>
        </p:nvSpPr>
        <p:spPr>
          <a:xfrm>
            <a:off x="1143000" y="4361688"/>
            <a:ext cx="10469880" cy="457200"/>
          </a:xfrm>
          <a:prstGeom prst="rect">
            <a:avLst/>
          </a:prstGeom>
          <a:noFill/>
          <a:ln/>
        </p:spPr>
        <p:txBody>
          <a:bodyPr wrap="square" lIns="0" tIns="0" rIns="0" bIns="0" rtlCol="0" anchor="ctr"/>
          <a:lstStyle/>
          <a:p>
            <a:pPr marL="0" indent="0">
              <a:buNone/>
            </a:pPr>
            <a:r>
              <a:rPr lang="en-US" sz="1600">
                <a:solidFill>
                  <a:srgbClr val="1F2937"/>
                </a:solidFill>
                <a:latin typeface="Calibri" pitchFamily="34" charset="0"/>
                <a:ea typeface="Calibri" pitchFamily="34" charset="-122"/>
                <a:cs typeface="Calibri" pitchFamily="34" charset="-120"/>
              </a:rPr>
              <a:t>Only the first case runs</a:t>
            </a:r>
            <a:endParaRPr lang="en-US" sz="1600"/>
          </a:p>
        </p:txBody>
      </p:sp>
      <p:sp>
        <p:nvSpPr>
          <p:cNvPr id="21" name="Shape 19"/>
          <p:cNvSpPr/>
          <p:nvPr/>
        </p:nvSpPr>
        <p:spPr>
          <a:xfrm>
            <a:off x="548640" y="6492240"/>
            <a:ext cx="11064240" cy="0"/>
          </a:xfrm>
          <a:prstGeom prst="line">
            <a:avLst/>
          </a:prstGeom>
          <a:noFill/>
          <a:ln w="9525">
            <a:solidFill>
              <a:srgbClr val="E5E7EB"/>
            </a:solidFill>
            <a:prstDash val="solid"/>
          </a:ln>
        </p:spPr>
        <p:txBody>
          <a:bodyPr/>
          <a:lstStyle/>
          <a:p>
            <a:endParaRPr lang="en-US"/>
          </a:p>
        </p:txBody>
      </p:sp>
      <p:sp>
        <p:nvSpPr>
          <p:cNvPr id="22" name="Text 20"/>
          <p:cNvSpPr/>
          <p:nvPr/>
        </p:nvSpPr>
        <p:spPr>
          <a:xfrm>
            <a:off x="548640" y="6537960"/>
            <a:ext cx="5486400" cy="274320"/>
          </a:xfrm>
          <a:prstGeom prst="rect">
            <a:avLst/>
          </a:prstGeom>
          <a:noFill/>
          <a:ln/>
        </p:spPr>
        <p:txBody>
          <a:bodyPr wrap="square" rtlCol="0" anchor="ctr"/>
          <a:lstStyle/>
          <a:p>
            <a:pPr marL="0" indent="0">
              <a:buNone/>
            </a:pPr>
            <a:r>
              <a:rPr lang="en-US" sz="1000">
                <a:solidFill>
                  <a:srgbClr val="6B7280"/>
                </a:solidFill>
                <a:latin typeface="Calibri" pitchFamily="34" charset="0"/>
                <a:ea typeface="Calibri" pitchFamily="34" charset="-122"/>
                <a:cs typeface="Calibri" pitchFamily="34" charset="-120"/>
              </a:rPr>
              <a:t>C# Concepts Quiz</a:t>
            </a:r>
            <a:endParaRPr lang="en-US" sz="1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F59E0B"/>
          </a:solidFill>
          <a:ln w="12700">
            <a:solidFill>
              <a:srgbClr val="F59E0B"/>
            </a:solidFill>
            <a:prstDash val="solid"/>
          </a:ln>
        </p:spPr>
        <p:txBody>
          <a:bodyPr/>
          <a:lstStyle/>
          <a:p>
            <a:endParaRPr lang="en-US"/>
          </a:p>
        </p:txBody>
      </p:sp>
      <p:sp>
        <p:nvSpPr>
          <p:cNvPr id="3" name="Shape 1"/>
          <p:cNvSpPr/>
          <p:nvPr/>
        </p:nvSpPr>
        <p:spPr>
          <a:xfrm>
            <a:off x="548640" y="365760"/>
            <a:ext cx="4023360" cy="411480"/>
          </a:xfrm>
          <a:prstGeom prst="rect">
            <a:avLst/>
          </a:prstGeom>
          <a:solidFill>
            <a:srgbClr val="FFF7E6"/>
          </a:solidFill>
          <a:ln w="9525">
            <a:solidFill>
              <a:srgbClr val="F59E0B"/>
            </a:solidFill>
            <a:prstDash val="solid"/>
          </a:ln>
        </p:spPr>
        <p:txBody>
          <a:bodyPr/>
          <a:lstStyle/>
          <a:p>
            <a:endParaRPr lang="en-US"/>
          </a:p>
        </p:txBody>
      </p:sp>
      <p:sp>
        <p:nvSpPr>
          <p:cNvPr id="4" name="Text 2"/>
          <p:cNvSpPr/>
          <p:nvPr/>
        </p:nvSpPr>
        <p:spPr>
          <a:xfrm>
            <a:off x="548640" y="365760"/>
            <a:ext cx="4023360" cy="411480"/>
          </a:xfrm>
          <a:prstGeom prst="rect">
            <a:avLst/>
          </a:prstGeom>
          <a:noFill/>
          <a:ln/>
        </p:spPr>
        <p:txBody>
          <a:bodyPr wrap="square" rtlCol="0" anchor="ctr"/>
          <a:lstStyle/>
          <a:p>
            <a:pPr marL="0" indent="0" algn="ctr">
              <a:buNone/>
            </a:pPr>
            <a:r>
              <a:rPr lang="en-US" sz="1100" b="1" kern="0" spc="200">
                <a:solidFill>
                  <a:srgbClr val="0B2545"/>
                </a:solidFill>
                <a:latin typeface="Calibri" pitchFamily="34" charset="0"/>
                <a:ea typeface="Calibri" pitchFamily="34" charset="-122"/>
                <a:cs typeface="Calibri" pitchFamily="34" charset="-120"/>
              </a:rPr>
              <a:t>SECTION 5 — SWITCH STATEMENTS</a:t>
            </a:r>
            <a:endParaRPr lang="en-US" sz="1100"/>
          </a:p>
        </p:txBody>
      </p:sp>
      <p:sp>
        <p:nvSpPr>
          <p:cNvPr id="5" name="Shape 3"/>
          <p:cNvSpPr/>
          <p:nvPr/>
        </p:nvSpPr>
        <p:spPr>
          <a:xfrm>
            <a:off x="9418320" y="365760"/>
            <a:ext cx="2194560" cy="411480"/>
          </a:xfrm>
          <a:prstGeom prst="rect">
            <a:avLst/>
          </a:prstGeom>
          <a:solidFill>
            <a:srgbClr val="ECFDF5"/>
          </a:solidFill>
          <a:ln w="9525">
            <a:solidFill>
              <a:srgbClr val="10B981"/>
            </a:solidFill>
            <a:prstDash val="solid"/>
          </a:ln>
        </p:spPr>
        <p:txBody>
          <a:bodyPr/>
          <a:lstStyle/>
          <a:p>
            <a:endParaRPr lang="en-US"/>
          </a:p>
        </p:txBody>
      </p:sp>
      <p:sp>
        <p:nvSpPr>
          <p:cNvPr id="6" name="Text 4"/>
          <p:cNvSpPr/>
          <p:nvPr/>
        </p:nvSpPr>
        <p:spPr>
          <a:xfrm>
            <a:off x="9418320" y="365760"/>
            <a:ext cx="2194560" cy="411480"/>
          </a:xfrm>
          <a:prstGeom prst="rect">
            <a:avLst/>
          </a:prstGeom>
          <a:noFill/>
          <a:ln/>
        </p:spPr>
        <p:txBody>
          <a:bodyPr wrap="square" rtlCol="0" anchor="ctr"/>
          <a:lstStyle/>
          <a:p>
            <a:pPr marL="0" indent="0" algn="ctr">
              <a:buNone/>
            </a:pPr>
            <a:r>
              <a:rPr lang="en-US" sz="1100" b="1" kern="0" spc="200">
                <a:solidFill>
                  <a:srgbClr val="10B981"/>
                </a:solidFill>
                <a:latin typeface="Calibri" pitchFamily="34" charset="0"/>
                <a:ea typeface="Calibri" pitchFamily="34" charset="-122"/>
                <a:cs typeface="Calibri" pitchFamily="34" charset="-120"/>
              </a:rPr>
              <a:t>Q14  ·  ANSWER</a:t>
            </a:r>
            <a:endParaRPr lang="en-US" sz="1100"/>
          </a:p>
        </p:txBody>
      </p:sp>
      <p:sp>
        <p:nvSpPr>
          <p:cNvPr id="7" name="Text 5"/>
          <p:cNvSpPr/>
          <p:nvPr/>
        </p:nvSpPr>
        <p:spPr>
          <a:xfrm>
            <a:off x="548640" y="1005840"/>
            <a:ext cx="11064240" cy="640080"/>
          </a:xfrm>
          <a:prstGeom prst="rect">
            <a:avLst/>
          </a:prstGeom>
          <a:noFill/>
          <a:ln/>
        </p:spPr>
        <p:txBody>
          <a:bodyPr wrap="square" rtlCol="0" anchor="t"/>
          <a:lstStyle/>
          <a:p>
            <a:pPr marL="0" indent="0">
              <a:buNone/>
            </a:pPr>
            <a:r>
              <a:rPr lang="en-US" sz="1500" i="1">
                <a:solidFill>
                  <a:srgbClr val="6B7280"/>
                </a:solidFill>
                <a:latin typeface="Calibri" pitchFamily="34" charset="0"/>
                <a:ea typeface="Calibri" pitchFamily="34" charset="-122"/>
                <a:cs typeface="Calibri" pitchFamily="34" charset="-120"/>
              </a:rPr>
              <a:t>What happens if you omit break between two non-empty case labels in C#?</a:t>
            </a:r>
            <a:endParaRPr lang="en-US" sz="1500"/>
          </a:p>
        </p:txBody>
      </p:sp>
      <p:sp>
        <p:nvSpPr>
          <p:cNvPr id="8" name="Shape 6"/>
          <p:cNvSpPr/>
          <p:nvPr/>
        </p:nvSpPr>
        <p:spPr>
          <a:xfrm>
            <a:off x="548640" y="1783080"/>
            <a:ext cx="11064240" cy="0"/>
          </a:xfrm>
          <a:prstGeom prst="line">
            <a:avLst/>
          </a:prstGeom>
          <a:noFill/>
          <a:ln w="12700">
            <a:solidFill>
              <a:srgbClr val="E5E7EB"/>
            </a:solidFill>
            <a:prstDash val="solid"/>
          </a:ln>
        </p:spPr>
        <p:txBody>
          <a:bodyPr/>
          <a:lstStyle/>
          <a:p>
            <a:endParaRPr lang="en-US"/>
          </a:p>
        </p:txBody>
      </p:sp>
      <p:sp>
        <p:nvSpPr>
          <p:cNvPr id="9" name="Shape 7"/>
          <p:cNvSpPr/>
          <p:nvPr/>
        </p:nvSpPr>
        <p:spPr>
          <a:xfrm>
            <a:off x="548640" y="1965960"/>
            <a:ext cx="11064240" cy="640080"/>
          </a:xfrm>
          <a:prstGeom prst="rect">
            <a:avLst/>
          </a:prstGeom>
          <a:solidFill>
            <a:srgbClr val="ECFDF5"/>
          </a:solidFill>
          <a:ln w="12700">
            <a:solidFill>
              <a:srgbClr val="10B981"/>
            </a:solidFill>
            <a:prstDash val="solid"/>
          </a:ln>
        </p:spPr>
        <p:txBody>
          <a:bodyPr/>
          <a:lstStyle/>
          <a:p>
            <a:endParaRPr lang="en-US"/>
          </a:p>
        </p:txBody>
      </p:sp>
      <p:sp>
        <p:nvSpPr>
          <p:cNvPr id="10" name="Text 8"/>
          <p:cNvSpPr/>
          <p:nvPr/>
        </p:nvSpPr>
        <p:spPr>
          <a:xfrm>
            <a:off x="777240" y="1965960"/>
            <a:ext cx="10607040" cy="640080"/>
          </a:xfrm>
          <a:prstGeom prst="rect">
            <a:avLst/>
          </a:prstGeom>
          <a:noFill/>
          <a:ln/>
        </p:spPr>
        <p:txBody>
          <a:bodyPr wrap="square" rtlCol="0" anchor="ctr"/>
          <a:lstStyle/>
          <a:p>
            <a:pPr marL="0" indent="0">
              <a:buNone/>
            </a:pPr>
            <a:r>
              <a:rPr lang="en-US" sz="1800" b="1">
                <a:solidFill>
                  <a:srgbClr val="065F46"/>
                </a:solidFill>
                <a:latin typeface="Calibri" pitchFamily="34" charset="0"/>
                <a:ea typeface="Calibri" pitchFamily="34" charset="-122"/>
                <a:cs typeface="Calibri" pitchFamily="34" charset="-120"/>
              </a:rPr>
              <a:t>Correct answer: B — the compiler reports error CS0163.</a:t>
            </a:r>
            <a:endParaRPr lang="en-US" sz="1800"/>
          </a:p>
        </p:txBody>
      </p:sp>
      <p:sp>
        <p:nvSpPr>
          <p:cNvPr id="11" name="Text 9"/>
          <p:cNvSpPr/>
          <p:nvPr/>
        </p:nvSpPr>
        <p:spPr>
          <a:xfrm>
            <a:off x="548640" y="2788920"/>
            <a:ext cx="11064240" cy="320040"/>
          </a:xfrm>
          <a:prstGeom prst="rect">
            <a:avLst/>
          </a:prstGeom>
          <a:noFill/>
          <a:ln/>
        </p:spPr>
        <p:txBody>
          <a:bodyPr wrap="square" rtlCol="0" anchor="ctr"/>
          <a:lstStyle/>
          <a:p>
            <a:pPr marL="0" indent="0">
              <a:buNone/>
            </a:pPr>
            <a:r>
              <a:rPr lang="en-US" sz="1200" b="1" kern="0" spc="300">
                <a:solidFill>
                  <a:srgbClr val="F59E0B"/>
                </a:solidFill>
                <a:latin typeface="Calibri" pitchFamily="34" charset="0"/>
                <a:ea typeface="Calibri" pitchFamily="34" charset="-122"/>
                <a:cs typeface="Calibri" pitchFamily="34" charset="-120"/>
              </a:rPr>
              <a:t>Explanation</a:t>
            </a:r>
            <a:endParaRPr lang="en-US" sz="1200"/>
          </a:p>
        </p:txBody>
      </p:sp>
      <p:sp>
        <p:nvSpPr>
          <p:cNvPr id="12" name="Text 10"/>
          <p:cNvSpPr/>
          <p:nvPr/>
        </p:nvSpPr>
        <p:spPr>
          <a:xfrm>
            <a:off x="548640" y="3154680"/>
            <a:ext cx="11064240" cy="2788920"/>
          </a:xfrm>
          <a:prstGeom prst="rect">
            <a:avLst/>
          </a:prstGeom>
          <a:noFill/>
          <a:ln/>
        </p:spPr>
        <p:txBody>
          <a:bodyPr wrap="square" rtlCol="0" anchor="t"/>
          <a:lstStyle/>
          <a:p>
            <a:pPr marL="0" indent="0">
              <a:buNone/>
            </a:pPr>
            <a:r>
              <a:rPr lang="en-US" sz="1600">
                <a:solidFill>
                  <a:srgbClr val="13315C"/>
                </a:solidFill>
                <a:latin typeface="Calibri" pitchFamily="34" charset="0"/>
                <a:ea typeface="Calibri" pitchFamily="34" charset="-122"/>
                <a:cs typeface="Calibri" pitchFamily="34" charset="-120"/>
              </a:rPr>
              <a:t>Unlike C or Java, C# does not allow implicit fall-through. Every non-empty case must end with break, return, goto, throw, or another terminator. Stacking case labels with no statements between them is allowed (that is not fall-through).</a:t>
            </a:r>
            <a:endParaRPr lang="en-US" sz="1600"/>
          </a:p>
        </p:txBody>
      </p:sp>
      <p:sp>
        <p:nvSpPr>
          <p:cNvPr id="13" name="Shape 11"/>
          <p:cNvSpPr/>
          <p:nvPr/>
        </p:nvSpPr>
        <p:spPr>
          <a:xfrm>
            <a:off x="548640" y="6492240"/>
            <a:ext cx="11064240" cy="0"/>
          </a:xfrm>
          <a:prstGeom prst="line">
            <a:avLst/>
          </a:prstGeom>
          <a:noFill/>
          <a:ln w="9525">
            <a:solidFill>
              <a:srgbClr val="E5E7EB"/>
            </a:solidFill>
            <a:prstDash val="solid"/>
          </a:ln>
        </p:spPr>
        <p:txBody>
          <a:bodyPr/>
          <a:lstStyle/>
          <a:p>
            <a:endParaRPr lang="en-US"/>
          </a:p>
        </p:txBody>
      </p:sp>
      <p:sp>
        <p:nvSpPr>
          <p:cNvPr id="14" name="Text 12"/>
          <p:cNvSpPr/>
          <p:nvPr/>
        </p:nvSpPr>
        <p:spPr>
          <a:xfrm>
            <a:off x="548640" y="6537960"/>
            <a:ext cx="5486400" cy="274320"/>
          </a:xfrm>
          <a:prstGeom prst="rect">
            <a:avLst/>
          </a:prstGeom>
          <a:noFill/>
          <a:ln/>
        </p:spPr>
        <p:txBody>
          <a:bodyPr wrap="square" rtlCol="0" anchor="ctr"/>
          <a:lstStyle/>
          <a:p>
            <a:pPr marL="0" indent="0">
              <a:buNone/>
            </a:pPr>
            <a:r>
              <a:rPr lang="en-US" sz="1000">
                <a:solidFill>
                  <a:srgbClr val="6B7280"/>
                </a:solidFill>
                <a:latin typeface="Calibri" pitchFamily="34" charset="0"/>
                <a:ea typeface="Calibri" pitchFamily="34" charset="-122"/>
                <a:cs typeface="Calibri" pitchFamily="34" charset="-120"/>
              </a:rPr>
              <a:t>C# Concepts Quiz</a:t>
            </a:r>
            <a:endParaRPr lang="en-US" sz="1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F59E0B"/>
          </a:solidFill>
          <a:ln w="12700">
            <a:solidFill>
              <a:srgbClr val="F59E0B"/>
            </a:solidFill>
            <a:prstDash val="solid"/>
          </a:ln>
        </p:spPr>
        <p:txBody>
          <a:bodyPr/>
          <a:lstStyle/>
          <a:p>
            <a:endParaRPr lang="en-US"/>
          </a:p>
        </p:txBody>
      </p:sp>
      <p:sp>
        <p:nvSpPr>
          <p:cNvPr id="3" name="Shape 1"/>
          <p:cNvSpPr/>
          <p:nvPr/>
        </p:nvSpPr>
        <p:spPr>
          <a:xfrm>
            <a:off x="548640" y="365760"/>
            <a:ext cx="4023360" cy="411480"/>
          </a:xfrm>
          <a:prstGeom prst="rect">
            <a:avLst/>
          </a:prstGeom>
          <a:solidFill>
            <a:srgbClr val="FFF7E6"/>
          </a:solidFill>
          <a:ln w="9525">
            <a:solidFill>
              <a:srgbClr val="F59E0B"/>
            </a:solidFill>
            <a:prstDash val="solid"/>
          </a:ln>
        </p:spPr>
        <p:txBody>
          <a:bodyPr/>
          <a:lstStyle/>
          <a:p>
            <a:endParaRPr lang="en-US"/>
          </a:p>
        </p:txBody>
      </p:sp>
      <p:sp>
        <p:nvSpPr>
          <p:cNvPr id="4" name="Text 2"/>
          <p:cNvSpPr/>
          <p:nvPr/>
        </p:nvSpPr>
        <p:spPr>
          <a:xfrm>
            <a:off x="548640" y="365760"/>
            <a:ext cx="4023360" cy="411480"/>
          </a:xfrm>
          <a:prstGeom prst="rect">
            <a:avLst/>
          </a:prstGeom>
          <a:noFill/>
          <a:ln/>
        </p:spPr>
        <p:txBody>
          <a:bodyPr wrap="square" rtlCol="0" anchor="ctr"/>
          <a:lstStyle/>
          <a:p>
            <a:pPr marL="0" indent="0" algn="ctr">
              <a:buNone/>
            </a:pPr>
            <a:r>
              <a:rPr lang="en-US" sz="1100" b="1" kern="0" spc="200">
                <a:solidFill>
                  <a:srgbClr val="0B2545"/>
                </a:solidFill>
                <a:latin typeface="Calibri" pitchFamily="34" charset="0"/>
                <a:ea typeface="Calibri" pitchFamily="34" charset="-122"/>
                <a:cs typeface="Calibri" pitchFamily="34" charset="-120"/>
              </a:rPr>
              <a:t>SECTION 6 — WHILE LOOPS</a:t>
            </a:r>
            <a:endParaRPr lang="en-US" sz="1100"/>
          </a:p>
        </p:txBody>
      </p:sp>
      <p:sp>
        <p:nvSpPr>
          <p:cNvPr id="5" name="Shape 3"/>
          <p:cNvSpPr/>
          <p:nvPr/>
        </p:nvSpPr>
        <p:spPr>
          <a:xfrm>
            <a:off x="9418320" y="365760"/>
            <a:ext cx="2194560" cy="411480"/>
          </a:xfrm>
          <a:prstGeom prst="rect">
            <a:avLst/>
          </a:prstGeom>
          <a:solidFill>
            <a:srgbClr val="EEF2FF"/>
          </a:solidFill>
          <a:ln w="9525">
            <a:solidFill>
              <a:srgbClr val="0B2545"/>
            </a:solidFill>
            <a:prstDash val="solid"/>
          </a:ln>
        </p:spPr>
        <p:txBody>
          <a:bodyPr/>
          <a:lstStyle/>
          <a:p>
            <a:endParaRPr lang="en-US"/>
          </a:p>
        </p:txBody>
      </p:sp>
      <p:sp>
        <p:nvSpPr>
          <p:cNvPr id="6" name="Text 4"/>
          <p:cNvSpPr/>
          <p:nvPr/>
        </p:nvSpPr>
        <p:spPr>
          <a:xfrm>
            <a:off x="9418320" y="365760"/>
            <a:ext cx="2194560" cy="411480"/>
          </a:xfrm>
          <a:prstGeom prst="rect">
            <a:avLst/>
          </a:prstGeom>
          <a:noFill/>
          <a:ln/>
        </p:spPr>
        <p:txBody>
          <a:bodyPr wrap="square" rtlCol="0" anchor="ctr"/>
          <a:lstStyle/>
          <a:p>
            <a:pPr marL="0" indent="0" algn="ctr">
              <a:buNone/>
            </a:pPr>
            <a:r>
              <a:rPr lang="en-US" sz="1100" b="1" kern="0" spc="200">
                <a:solidFill>
                  <a:srgbClr val="0B2545"/>
                </a:solidFill>
                <a:latin typeface="Calibri" pitchFamily="34" charset="0"/>
                <a:ea typeface="Calibri" pitchFamily="34" charset="-122"/>
                <a:cs typeface="Calibri" pitchFamily="34" charset="-120"/>
              </a:rPr>
              <a:t>Q15  ·  QUESTION</a:t>
            </a:r>
            <a:endParaRPr lang="en-US" sz="1100"/>
          </a:p>
        </p:txBody>
      </p:sp>
      <p:sp>
        <p:nvSpPr>
          <p:cNvPr id="7" name="Text 5"/>
          <p:cNvSpPr/>
          <p:nvPr/>
        </p:nvSpPr>
        <p:spPr>
          <a:xfrm>
            <a:off x="548640" y="1005840"/>
            <a:ext cx="11064240" cy="320040"/>
          </a:xfrm>
          <a:prstGeom prst="rect">
            <a:avLst/>
          </a:prstGeom>
          <a:noFill/>
          <a:ln/>
        </p:spPr>
        <p:txBody>
          <a:bodyPr wrap="square" rtlCol="0" anchor="ctr"/>
          <a:lstStyle/>
          <a:p>
            <a:pPr marL="0" indent="0">
              <a:buNone/>
            </a:pPr>
            <a:r>
              <a:rPr lang="en-US" sz="1200" b="1" kern="0" spc="300">
                <a:solidFill>
                  <a:srgbClr val="F59E0B"/>
                </a:solidFill>
                <a:latin typeface="Calibri" pitchFamily="34" charset="0"/>
                <a:ea typeface="Calibri" pitchFamily="34" charset="-122"/>
                <a:cs typeface="Calibri" pitchFamily="34" charset="-120"/>
              </a:rPr>
              <a:t>MULTIPLE CHOICE</a:t>
            </a:r>
            <a:endParaRPr lang="en-US" sz="1200"/>
          </a:p>
        </p:txBody>
      </p:sp>
      <p:sp>
        <p:nvSpPr>
          <p:cNvPr id="8" name="Text 6"/>
          <p:cNvSpPr/>
          <p:nvPr/>
        </p:nvSpPr>
        <p:spPr>
          <a:xfrm>
            <a:off x="548640" y="1371600"/>
            <a:ext cx="11064240" cy="1097280"/>
          </a:xfrm>
          <a:prstGeom prst="rect">
            <a:avLst/>
          </a:prstGeom>
          <a:noFill/>
          <a:ln/>
        </p:spPr>
        <p:txBody>
          <a:bodyPr wrap="square" rtlCol="0" anchor="t"/>
          <a:lstStyle/>
          <a:p>
            <a:pPr marL="0" indent="0">
              <a:buNone/>
            </a:pPr>
            <a:r>
              <a:rPr lang="en-US" sz="2600" b="1">
                <a:solidFill>
                  <a:srgbClr val="0B2545"/>
                </a:solidFill>
                <a:latin typeface="Calibri" pitchFamily="34" charset="0"/>
                <a:ea typeface="Calibri" pitchFamily="34" charset="-122"/>
                <a:cs typeface="Calibri" pitchFamily="34" charset="-120"/>
              </a:rPr>
              <a:t>When does a while loop evaluate its condition?</a:t>
            </a:r>
            <a:endParaRPr lang="en-US" sz="2600"/>
          </a:p>
        </p:txBody>
      </p:sp>
      <p:sp>
        <p:nvSpPr>
          <p:cNvPr id="9" name="Shape 7"/>
          <p:cNvSpPr/>
          <p:nvPr/>
        </p:nvSpPr>
        <p:spPr>
          <a:xfrm>
            <a:off x="548640" y="2560320"/>
            <a:ext cx="457200" cy="457200"/>
          </a:xfrm>
          <a:prstGeom prst="ellipse">
            <a:avLst/>
          </a:prstGeom>
          <a:solidFill>
            <a:srgbClr val="EEF2FF"/>
          </a:solidFill>
          <a:ln w="12700">
            <a:solidFill>
              <a:srgbClr val="0B2545"/>
            </a:solidFill>
            <a:prstDash val="solid"/>
          </a:ln>
        </p:spPr>
        <p:txBody>
          <a:bodyPr/>
          <a:lstStyle/>
          <a:p>
            <a:endParaRPr lang="en-US"/>
          </a:p>
        </p:txBody>
      </p:sp>
      <p:sp>
        <p:nvSpPr>
          <p:cNvPr id="10" name="Text 8"/>
          <p:cNvSpPr/>
          <p:nvPr/>
        </p:nvSpPr>
        <p:spPr>
          <a:xfrm>
            <a:off x="548640" y="2560320"/>
            <a:ext cx="457200" cy="457200"/>
          </a:xfrm>
          <a:prstGeom prst="rect">
            <a:avLst/>
          </a:prstGeom>
          <a:noFill/>
          <a:ln/>
        </p:spPr>
        <p:txBody>
          <a:bodyPr wrap="square" lIns="0" tIns="0" rIns="0" bIns="0" rtlCol="0" anchor="ctr"/>
          <a:lstStyle/>
          <a:p>
            <a:pPr marL="0" indent="0" algn="ctr">
              <a:buNone/>
            </a:pPr>
            <a:r>
              <a:rPr lang="en-US" sz="1400" b="1">
                <a:solidFill>
                  <a:srgbClr val="0B2545"/>
                </a:solidFill>
                <a:latin typeface="Calibri" pitchFamily="34" charset="0"/>
                <a:ea typeface="Calibri" pitchFamily="34" charset="-122"/>
                <a:cs typeface="Calibri" pitchFamily="34" charset="-120"/>
              </a:rPr>
              <a:t>A</a:t>
            </a:r>
            <a:endParaRPr lang="en-US" sz="1400"/>
          </a:p>
        </p:txBody>
      </p:sp>
      <p:sp>
        <p:nvSpPr>
          <p:cNvPr id="11" name="Text 9"/>
          <p:cNvSpPr/>
          <p:nvPr/>
        </p:nvSpPr>
        <p:spPr>
          <a:xfrm>
            <a:off x="1143000" y="2578608"/>
            <a:ext cx="10469880" cy="457200"/>
          </a:xfrm>
          <a:prstGeom prst="rect">
            <a:avLst/>
          </a:prstGeom>
          <a:noFill/>
          <a:ln/>
        </p:spPr>
        <p:txBody>
          <a:bodyPr wrap="square" lIns="0" tIns="0" rIns="0" bIns="0" rtlCol="0" anchor="ctr"/>
          <a:lstStyle/>
          <a:p>
            <a:pPr marL="0" indent="0">
              <a:buNone/>
            </a:pPr>
            <a:r>
              <a:rPr lang="en-US" sz="1600">
                <a:solidFill>
                  <a:srgbClr val="1F2937"/>
                </a:solidFill>
                <a:latin typeface="Calibri" pitchFamily="34" charset="0"/>
                <a:ea typeface="Calibri" pitchFamily="34" charset="-122"/>
                <a:cs typeface="Calibri" pitchFamily="34" charset="-120"/>
              </a:rPr>
              <a:t>After running the body</a:t>
            </a:r>
            <a:endParaRPr lang="en-US" sz="1600"/>
          </a:p>
        </p:txBody>
      </p:sp>
      <p:sp>
        <p:nvSpPr>
          <p:cNvPr id="12" name="Shape 10"/>
          <p:cNvSpPr/>
          <p:nvPr/>
        </p:nvSpPr>
        <p:spPr>
          <a:xfrm>
            <a:off x="548640" y="3154680"/>
            <a:ext cx="457200" cy="457200"/>
          </a:xfrm>
          <a:prstGeom prst="ellipse">
            <a:avLst/>
          </a:prstGeom>
          <a:solidFill>
            <a:srgbClr val="EEF2FF"/>
          </a:solidFill>
          <a:ln w="12700">
            <a:solidFill>
              <a:srgbClr val="0B2545"/>
            </a:solidFill>
            <a:prstDash val="solid"/>
          </a:ln>
        </p:spPr>
        <p:txBody>
          <a:bodyPr/>
          <a:lstStyle/>
          <a:p>
            <a:endParaRPr lang="en-US"/>
          </a:p>
        </p:txBody>
      </p:sp>
      <p:sp>
        <p:nvSpPr>
          <p:cNvPr id="13" name="Text 11"/>
          <p:cNvSpPr/>
          <p:nvPr/>
        </p:nvSpPr>
        <p:spPr>
          <a:xfrm>
            <a:off x="548640" y="3154680"/>
            <a:ext cx="457200" cy="457200"/>
          </a:xfrm>
          <a:prstGeom prst="rect">
            <a:avLst/>
          </a:prstGeom>
          <a:noFill/>
          <a:ln/>
        </p:spPr>
        <p:txBody>
          <a:bodyPr wrap="square" lIns="0" tIns="0" rIns="0" bIns="0" rtlCol="0" anchor="ctr"/>
          <a:lstStyle/>
          <a:p>
            <a:pPr marL="0" indent="0" algn="ctr">
              <a:buNone/>
            </a:pPr>
            <a:r>
              <a:rPr lang="en-US" sz="1400" b="1">
                <a:solidFill>
                  <a:srgbClr val="0B2545"/>
                </a:solidFill>
                <a:latin typeface="Calibri" pitchFamily="34" charset="0"/>
                <a:ea typeface="Calibri" pitchFamily="34" charset="-122"/>
                <a:cs typeface="Calibri" pitchFamily="34" charset="-120"/>
              </a:rPr>
              <a:t>B</a:t>
            </a:r>
            <a:endParaRPr lang="en-US" sz="1400"/>
          </a:p>
        </p:txBody>
      </p:sp>
      <p:sp>
        <p:nvSpPr>
          <p:cNvPr id="14" name="Text 12"/>
          <p:cNvSpPr/>
          <p:nvPr/>
        </p:nvSpPr>
        <p:spPr>
          <a:xfrm>
            <a:off x="1143000" y="3172968"/>
            <a:ext cx="10469880" cy="457200"/>
          </a:xfrm>
          <a:prstGeom prst="rect">
            <a:avLst/>
          </a:prstGeom>
          <a:noFill/>
          <a:ln/>
        </p:spPr>
        <p:txBody>
          <a:bodyPr wrap="square" lIns="0" tIns="0" rIns="0" bIns="0" rtlCol="0" anchor="ctr"/>
          <a:lstStyle/>
          <a:p>
            <a:pPr marL="0" indent="0">
              <a:buNone/>
            </a:pPr>
            <a:r>
              <a:rPr lang="en-US" sz="1600">
                <a:solidFill>
                  <a:srgbClr val="1F2937"/>
                </a:solidFill>
                <a:latin typeface="Calibri" pitchFamily="34" charset="0"/>
                <a:ea typeface="Calibri" pitchFamily="34" charset="-122"/>
                <a:cs typeface="Calibri" pitchFamily="34" charset="-120"/>
              </a:rPr>
              <a:t>Before running the body</a:t>
            </a:r>
            <a:endParaRPr lang="en-US" sz="1600"/>
          </a:p>
        </p:txBody>
      </p:sp>
      <p:sp>
        <p:nvSpPr>
          <p:cNvPr id="15" name="Shape 13"/>
          <p:cNvSpPr/>
          <p:nvPr/>
        </p:nvSpPr>
        <p:spPr>
          <a:xfrm>
            <a:off x="548640" y="3749040"/>
            <a:ext cx="457200" cy="457200"/>
          </a:xfrm>
          <a:prstGeom prst="ellipse">
            <a:avLst/>
          </a:prstGeom>
          <a:solidFill>
            <a:srgbClr val="EEF2FF"/>
          </a:solidFill>
          <a:ln w="12700">
            <a:solidFill>
              <a:srgbClr val="0B2545"/>
            </a:solidFill>
            <a:prstDash val="solid"/>
          </a:ln>
        </p:spPr>
        <p:txBody>
          <a:bodyPr/>
          <a:lstStyle/>
          <a:p>
            <a:endParaRPr lang="en-US"/>
          </a:p>
        </p:txBody>
      </p:sp>
      <p:sp>
        <p:nvSpPr>
          <p:cNvPr id="16" name="Text 14"/>
          <p:cNvSpPr/>
          <p:nvPr/>
        </p:nvSpPr>
        <p:spPr>
          <a:xfrm>
            <a:off x="548640" y="3749040"/>
            <a:ext cx="457200" cy="457200"/>
          </a:xfrm>
          <a:prstGeom prst="rect">
            <a:avLst/>
          </a:prstGeom>
          <a:noFill/>
          <a:ln/>
        </p:spPr>
        <p:txBody>
          <a:bodyPr wrap="square" lIns="0" tIns="0" rIns="0" bIns="0" rtlCol="0" anchor="ctr"/>
          <a:lstStyle/>
          <a:p>
            <a:pPr marL="0" indent="0" algn="ctr">
              <a:buNone/>
            </a:pPr>
            <a:r>
              <a:rPr lang="en-US" sz="1400" b="1">
                <a:solidFill>
                  <a:srgbClr val="0B2545"/>
                </a:solidFill>
                <a:latin typeface="Calibri" pitchFamily="34" charset="0"/>
                <a:ea typeface="Calibri" pitchFamily="34" charset="-122"/>
                <a:cs typeface="Calibri" pitchFamily="34" charset="-120"/>
              </a:rPr>
              <a:t>C</a:t>
            </a:r>
            <a:endParaRPr lang="en-US" sz="1400"/>
          </a:p>
        </p:txBody>
      </p:sp>
      <p:sp>
        <p:nvSpPr>
          <p:cNvPr id="17" name="Text 15"/>
          <p:cNvSpPr/>
          <p:nvPr/>
        </p:nvSpPr>
        <p:spPr>
          <a:xfrm>
            <a:off x="1143000" y="3767328"/>
            <a:ext cx="10469880" cy="457200"/>
          </a:xfrm>
          <a:prstGeom prst="rect">
            <a:avLst/>
          </a:prstGeom>
          <a:noFill/>
          <a:ln/>
        </p:spPr>
        <p:txBody>
          <a:bodyPr wrap="square" lIns="0" tIns="0" rIns="0" bIns="0" rtlCol="0" anchor="ctr"/>
          <a:lstStyle/>
          <a:p>
            <a:pPr marL="0" indent="0">
              <a:buNone/>
            </a:pPr>
            <a:r>
              <a:rPr lang="en-US" sz="1600">
                <a:solidFill>
                  <a:srgbClr val="1F2937"/>
                </a:solidFill>
                <a:latin typeface="Calibri" pitchFamily="34" charset="0"/>
                <a:ea typeface="Calibri" pitchFamily="34" charset="-122"/>
                <a:cs typeface="Calibri" pitchFamily="34" charset="-120"/>
              </a:rPr>
              <a:t>Never — it loops forever</a:t>
            </a:r>
            <a:endParaRPr lang="en-US" sz="1600"/>
          </a:p>
        </p:txBody>
      </p:sp>
      <p:sp>
        <p:nvSpPr>
          <p:cNvPr id="18" name="Shape 16"/>
          <p:cNvSpPr/>
          <p:nvPr/>
        </p:nvSpPr>
        <p:spPr>
          <a:xfrm>
            <a:off x="548640" y="4343400"/>
            <a:ext cx="457200" cy="457200"/>
          </a:xfrm>
          <a:prstGeom prst="ellipse">
            <a:avLst/>
          </a:prstGeom>
          <a:solidFill>
            <a:srgbClr val="EEF2FF"/>
          </a:solidFill>
          <a:ln w="12700">
            <a:solidFill>
              <a:srgbClr val="0B2545"/>
            </a:solidFill>
            <a:prstDash val="solid"/>
          </a:ln>
        </p:spPr>
        <p:txBody>
          <a:bodyPr/>
          <a:lstStyle/>
          <a:p>
            <a:endParaRPr lang="en-US"/>
          </a:p>
        </p:txBody>
      </p:sp>
      <p:sp>
        <p:nvSpPr>
          <p:cNvPr id="19" name="Text 17"/>
          <p:cNvSpPr/>
          <p:nvPr/>
        </p:nvSpPr>
        <p:spPr>
          <a:xfrm>
            <a:off x="548640" y="4343400"/>
            <a:ext cx="457200" cy="457200"/>
          </a:xfrm>
          <a:prstGeom prst="rect">
            <a:avLst/>
          </a:prstGeom>
          <a:noFill/>
          <a:ln/>
        </p:spPr>
        <p:txBody>
          <a:bodyPr wrap="square" lIns="0" tIns="0" rIns="0" bIns="0" rtlCol="0" anchor="ctr"/>
          <a:lstStyle/>
          <a:p>
            <a:pPr marL="0" indent="0" algn="ctr">
              <a:buNone/>
            </a:pPr>
            <a:r>
              <a:rPr lang="en-US" sz="1400" b="1">
                <a:solidFill>
                  <a:srgbClr val="0B2545"/>
                </a:solidFill>
                <a:latin typeface="Calibri" pitchFamily="34" charset="0"/>
                <a:ea typeface="Calibri" pitchFamily="34" charset="-122"/>
                <a:cs typeface="Calibri" pitchFamily="34" charset="-120"/>
              </a:rPr>
              <a:t>D</a:t>
            </a:r>
            <a:endParaRPr lang="en-US" sz="1400"/>
          </a:p>
        </p:txBody>
      </p:sp>
      <p:sp>
        <p:nvSpPr>
          <p:cNvPr id="20" name="Text 18"/>
          <p:cNvSpPr/>
          <p:nvPr/>
        </p:nvSpPr>
        <p:spPr>
          <a:xfrm>
            <a:off x="1143000" y="4361688"/>
            <a:ext cx="10469880" cy="457200"/>
          </a:xfrm>
          <a:prstGeom prst="rect">
            <a:avLst/>
          </a:prstGeom>
          <a:noFill/>
          <a:ln/>
        </p:spPr>
        <p:txBody>
          <a:bodyPr wrap="square" lIns="0" tIns="0" rIns="0" bIns="0" rtlCol="0" anchor="ctr"/>
          <a:lstStyle/>
          <a:p>
            <a:pPr marL="0" indent="0">
              <a:buNone/>
            </a:pPr>
            <a:r>
              <a:rPr lang="en-US" sz="1600">
                <a:solidFill>
                  <a:srgbClr val="1F2937"/>
                </a:solidFill>
                <a:latin typeface="Calibri" pitchFamily="34" charset="0"/>
                <a:ea typeface="Calibri" pitchFamily="34" charset="-122"/>
                <a:cs typeface="Calibri" pitchFamily="34" charset="-120"/>
              </a:rPr>
              <a:t>Both before and after</a:t>
            </a:r>
            <a:endParaRPr lang="en-US" sz="1600"/>
          </a:p>
        </p:txBody>
      </p:sp>
      <p:sp>
        <p:nvSpPr>
          <p:cNvPr id="21" name="Shape 19"/>
          <p:cNvSpPr/>
          <p:nvPr/>
        </p:nvSpPr>
        <p:spPr>
          <a:xfrm>
            <a:off x="548640" y="6492240"/>
            <a:ext cx="11064240" cy="0"/>
          </a:xfrm>
          <a:prstGeom prst="line">
            <a:avLst/>
          </a:prstGeom>
          <a:noFill/>
          <a:ln w="9525">
            <a:solidFill>
              <a:srgbClr val="E5E7EB"/>
            </a:solidFill>
            <a:prstDash val="solid"/>
          </a:ln>
        </p:spPr>
        <p:txBody>
          <a:bodyPr/>
          <a:lstStyle/>
          <a:p>
            <a:endParaRPr lang="en-US"/>
          </a:p>
        </p:txBody>
      </p:sp>
      <p:sp>
        <p:nvSpPr>
          <p:cNvPr id="22" name="Text 20"/>
          <p:cNvSpPr/>
          <p:nvPr/>
        </p:nvSpPr>
        <p:spPr>
          <a:xfrm>
            <a:off x="548640" y="6537960"/>
            <a:ext cx="5486400" cy="274320"/>
          </a:xfrm>
          <a:prstGeom prst="rect">
            <a:avLst/>
          </a:prstGeom>
          <a:noFill/>
          <a:ln/>
        </p:spPr>
        <p:txBody>
          <a:bodyPr wrap="square" rtlCol="0" anchor="ctr"/>
          <a:lstStyle/>
          <a:p>
            <a:pPr marL="0" indent="0">
              <a:buNone/>
            </a:pPr>
            <a:r>
              <a:rPr lang="en-US" sz="1000">
                <a:solidFill>
                  <a:srgbClr val="6B7280"/>
                </a:solidFill>
                <a:latin typeface="Calibri" pitchFamily="34" charset="0"/>
                <a:ea typeface="Calibri" pitchFamily="34" charset="-122"/>
                <a:cs typeface="Calibri" pitchFamily="34" charset="-120"/>
              </a:rPr>
              <a:t>C# Concepts Quiz</a:t>
            </a:r>
            <a:endParaRPr lang="en-US" sz="10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F59E0B"/>
          </a:solidFill>
          <a:ln w="12700">
            <a:solidFill>
              <a:srgbClr val="F59E0B"/>
            </a:solidFill>
            <a:prstDash val="solid"/>
          </a:ln>
        </p:spPr>
        <p:txBody>
          <a:bodyPr/>
          <a:lstStyle/>
          <a:p>
            <a:endParaRPr lang="en-US"/>
          </a:p>
        </p:txBody>
      </p:sp>
      <p:sp>
        <p:nvSpPr>
          <p:cNvPr id="3" name="Shape 1"/>
          <p:cNvSpPr/>
          <p:nvPr/>
        </p:nvSpPr>
        <p:spPr>
          <a:xfrm>
            <a:off x="548640" y="365760"/>
            <a:ext cx="4023360" cy="411480"/>
          </a:xfrm>
          <a:prstGeom prst="rect">
            <a:avLst/>
          </a:prstGeom>
          <a:solidFill>
            <a:srgbClr val="FFF7E6"/>
          </a:solidFill>
          <a:ln w="9525">
            <a:solidFill>
              <a:srgbClr val="F59E0B"/>
            </a:solidFill>
            <a:prstDash val="solid"/>
          </a:ln>
        </p:spPr>
        <p:txBody>
          <a:bodyPr/>
          <a:lstStyle/>
          <a:p>
            <a:endParaRPr lang="en-US"/>
          </a:p>
        </p:txBody>
      </p:sp>
      <p:sp>
        <p:nvSpPr>
          <p:cNvPr id="4" name="Text 2"/>
          <p:cNvSpPr/>
          <p:nvPr/>
        </p:nvSpPr>
        <p:spPr>
          <a:xfrm>
            <a:off x="548640" y="365760"/>
            <a:ext cx="4023360" cy="411480"/>
          </a:xfrm>
          <a:prstGeom prst="rect">
            <a:avLst/>
          </a:prstGeom>
          <a:noFill/>
          <a:ln/>
        </p:spPr>
        <p:txBody>
          <a:bodyPr wrap="square" rtlCol="0" anchor="ctr"/>
          <a:lstStyle/>
          <a:p>
            <a:pPr marL="0" indent="0" algn="ctr">
              <a:buNone/>
            </a:pPr>
            <a:r>
              <a:rPr lang="en-US" sz="1100" b="1" kern="0" spc="200">
                <a:solidFill>
                  <a:srgbClr val="0B2545"/>
                </a:solidFill>
                <a:latin typeface="Calibri" pitchFamily="34" charset="0"/>
                <a:ea typeface="Calibri" pitchFamily="34" charset="-122"/>
                <a:cs typeface="Calibri" pitchFamily="34" charset="-120"/>
              </a:rPr>
              <a:t>SECTION 6 — WHILE LOOPS</a:t>
            </a:r>
            <a:endParaRPr lang="en-US" sz="1100"/>
          </a:p>
        </p:txBody>
      </p:sp>
      <p:sp>
        <p:nvSpPr>
          <p:cNvPr id="5" name="Shape 3"/>
          <p:cNvSpPr/>
          <p:nvPr/>
        </p:nvSpPr>
        <p:spPr>
          <a:xfrm>
            <a:off x="9418320" y="365760"/>
            <a:ext cx="2194560" cy="411480"/>
          </a:xfrm>
          <a:prstGeom prst="rect">
            <a:avLst/>
          </a:prstGeom>
          <a:solidFill>
            <a:srgbClr val="ECFDF5"/>
          </a:solidFill>
          <a:ln w="9525">
            <a:solidFill>
              <a:srgbClr val="10B981"/>
            </a:solidFill>
            <a:prstDash val="solid"/>
          </a:ln>
        </p:spPr>
        <p:txBody>
          <a:bodyPr/>
          <a:lstStyle/>
          <a:p>
            <a:endParaRPr lang="en-US"/>
          </a:p>
        </p:txBody>
      </p:sp>
      <p:sp>
        <p:nvSpPr>
          <p:cNvPr id="6" name="Text 4"/>
          <p:cNvSpPr/>
          <p:nvPr/>
        </p:nvSpPr>
        <p:spPr>
          <a:xfrm>
            <a:off x="9418320" y="365760"/>
            <a:ext cx="2194560" cy="411480"/>
          </a:xfrm>
          <a:prstGeom prst="rect">
            <a:avLst/>
          </a:prstGeom>
          <a:noFill/>
          <a:ln/>
        </p:spPr>
        <p:txBody>
          <a:bodyPr wrap="square" rtlCol="0" anchor="ctr"/>
          <a:lstStyle/>
          <a:p>
            <a:pPr marL="0" indent="0" algn="ctr">
              <a:buNone/>
            </a:pPr>
            <a:r>
              <a:rPr lang="en-US" sz="1100" b="1" kern="0" spc="200">
                <a:solidFill>
                  <a:srgbClr val="10B981"/>
                </a:solidFill>
                <a:latin typeface="Calibri" pitchFamily="34" charset="0"/>
                <a:ea typeface="Calibri" pitchFamily="34" charset="-122"/>
                <a:cs typeface="Calibri" pitchFamily="34" charset="-120"/>
              </a:rPr>
              <a:t>Q15  ·  ANSWER</a:t>
            </a:r>
            <a:endParaRPr lang="en-US" sz="1100"/>
          </a:p>
        </p:txBody>
      </p:sp>
      <p:sp>
        <p:nvSpPr>
          <p:cNvPr id="7" name="Text 5"/>
          <p:cNvSpPr/>
          <p:nvPr/>
        </p:nvSpPr>
        <p:spPr>
          <a:xfrm>
            <a:off x="548640" y="1005840"/>
            <a:ext cx="11064240" cy="640080"/>
          </a:xfrm>
          <a:prstGeom prst="rect">
            <a:avLst/>
          </a:prstGeom>
          <a:noFill/>
          <a:ln/>
        </p:spPr>
        <p:txBody>
          <a:bodyPr wrap="square" rtlCol="0" anchor="t"/>
          <a:lstStyle/>
          <a:p>
            <a:pPr marL="0" indent="0">
              <a:buNone/>
            </a:pPr>
            <a:r>
              <a:rPr lang="en-US" sz="1500" i="1">
                <a:solidFill>
                  <a:srgbClr val="6B7280"/>
                </a:solidFill>
                <a:latin typeface="Calibri" pitchFamily="34" charset="0"/>
                <a:ea typeface="Calibri" pitchFamily="34" charset="-122"/>
                <a:cs typeface="Calibri" pitchFamily="34" charset="-120"/>
              </a:rPr>
              <a:t>When does a while loop evaluate its condition?</a:t>
            </a:r>
            <a:endParaRPr lang="en-US" sz="1500"/>
          </a:p>
        </p:txBody>
      </p:sp>
      <p:sp>
        <p:nvSpPr>
          <p:cNvPr id="8" name="Shape 6"/>
          <p:cNvSpPr/>
          <p:nvPr/>
        </p:nvSpPr>
        <p:spPr>
          <a:xfrm>
            <a:off x="548640" y="1783080"/>
            <a:ext cx="11064240" cy="0"/>
          </a:xfrm>
          <a:prstGeom prst="line">
            <a:avLst/>
          </a:prstGeom>
          <a:noFill/>
          <a:ln w="12700">
            <a:solidFill>
              <a:srgbClr val="E5E7EB"/>
            </a:solidFill>
            <a:prstDash val="solid"/>
          </a:ln>
        </p:spPr>
        <p:txBody>
          <a:bodyPr/>
          <a:lstStyle/>
          <a:p>
            <a:endParaRPr lang="en-US"/>
          </a:p>
        </p:txBody>
      </p:sp>
      <p:sp>
        <p:nvSpPr>
          <p:cNvPr id="9" name="Shape 7"/>
          <p:cNvSpPr/>
          <p:nvPr/>
        </p:nvSpPr>
        <p:spPr>
          <a:xfrm>
            <a:off x="548640" y="1965960"/>
            <a:ext cx="11064240" cy="640080"/>
          </a:xfrm>
          <a:prstGeom prst="rect">
            <a:avLst/>
          </a:prstGeom>
          <a:solidFill>
            <a:srgbClr val="ECFDF5"/>
          </a:solidFill>
          <a:ln w="12700">
            <a:solidFill>
              <a:srgbClr val="10B981"/>
            </a:solidFill>
            <a:prstDash val="solid"/>
          </a:ln>
        </p:spPr>
        <p:txBody>
          <a:bodyPr/>
          <a:lstStyle/>
          <a:p>
            <a:endParaRPr lang="en-US"/>
          </a:p>
        </p:txBody>
      </p:sp>
      <p:sp>
        <p:nvSpPr>
          <p:cNvPr id="10" name="Text 8"/>
          <p:cNvSpPr/>
          <p:nvPr/>
        </p:nvSpPr>
        <p:spPr>
          <a:xfrm>
            <a:off x="777240" y="1965960"/>
            <a:ext cx="10607040" cy="640080"/>
          </a:xfrm>
          <a:prstGeom prst="rect">
            <a:avLst/>
          </a:prstGeom>
          <a:noFill/>
          <a:ln/>
        </p:spPr>
        <p:txBody>
          <a:bodyPr wrap="square" rtlCol="0" anchor="ctr"/>
          <a:lstStyle/>
          <a:p>
            <a:pPr marL="0" indent="0">
              <a:buNone/>
            </a:pPr>
            <a:r>
              <a:rPr lang="en-US" sz="1800" b="1">
                <a:solidFill>
                  <a:srgbClr val="065F46"/>
                </a:solidFill>
                <a:latin typeface="Calibri" pitchFamily="34" charset="0"/>
                <a:ea typeface="Calibri" pitchFamily="34" charset="-122"/>
                <a:cs typeface="Calibri" pitchFamily="34" charset="-120"/>
              </a:rPr>
              <a:t>Correct answer: B — before each iteration of the body.</a:t>
            </a:r>
            <a:endParaRPr lang="en-US" sz="1800"/>
          </a:p>
        </p:txBody>
      </p:sp>
      <p:sp>
        <p:nvSpPr>
          <p:cNvPr id="11" name="Text 9"/>
          <p:cNvSpPr/>
          <p:nvPr/>
        </p:nvSpPr>
        <p:spPr>
          <a:xfrm>
            <a:off x="548640" y="2788920"/>
            <a:ext cx="11064240" cy="320040"/>
          </a:xfrm>
          <a:prstGeom prst="rect">
            <a:avLst/>
          </a:prstGeom>
          <a:noFill/>
          <a:ln/>
        </p:spPr>
        <p:txBody>
          <a:bodyPr wrap="square" rtlCol="0" anchor="ctr"/>
          <a:lstStyle/>
          <a:p>
            <a:pPr marL="0" indent="0">
              <a:buNone/>
            </a:pPr>
            <a:r>
              <a:rPr lang="en-US" sz="1200" b="1" kern="0" spc="300">
                <a:solidFill>
                  <a:srgbClr val="F59E0B"/>
                </a:solidFill>
                <a:latin typeface="Calibri" pitchFamily="34" charset="0"/>
                <a:ea typeface="Calibri" pitchFamily="34" charset="-122"/>
                <a:cs typeface="Calibri" pitchFamily="34" charset="-120"/>
              </a:rPr>
              <a:t>Explanation</a:t>
            </a:r>
            <a:endParaRPr lang="en-US" sz="1200"/>
          </a:p>
        </p:txBody>
      </p:sp>
      <p:sp>
        <p:nvSpPr>
          <p:cNvPr id="12" name="Text 10"/>
          <p:cNvSpPr/>
          <p:nvPr/>
        </p:nvSpPr>
        <p:spPr>
          <a:xfrm>
            <a:off x="548640" y="3154680"/>
            <a:ext cx="11064240" cy="2788920"/>
          </a:xfrm>
          <a:prstGeom prst="rect">
            <a:avLst/>
          </a:prstGeom>
          <a:noFill/>
          <a:ln/>
        </p:spPr>
        <p:txBody>
          <a:bodyPr wrap="square" rtlCol="0" anchor="t"/>
          <a:lstStyle/>
          <a:p>
            <a:pPr marL="0" indent="0">
              <a:buNone/>
            </a:pPr>
            <a:r>
              <a:rPr lang="en-US" sz="1600">
                <a:solidFill>
                  <a:srgbClr val="13315C"/>
                </a:solidFill>
                <a:latin typeface="Calibri" pitchFamily="34" charset="0"/>
                <a:ea typeface="Calibri" pitchFamily="34" charset="-122"/>
                <a:cs typeface="Calibri" pitchFamily="34" charset="-120"/>
              </a:rPr>
              <a:t>while is a pre-test loop: the condition is checked first, and the body runs only when the condition is true. If the condition is false on entry, the body never executes. This is the key difference from do-while.</a:t>
            </a:r>
            <a:endParaRPr lang="en-US" sz="1600"/>
          </a:p>
        </p:txBody>
      </p:sp>
      <p:sp>
        <p:nvSpPr>
          <p:cNvPr id="13" name="Shape 11"/>
          <p:cNvSpPr/>
          <p:nvPr/>
        </p:nvSpPr>
        <p:spPr>
          <a:xfrm>
            <a:off x="548640" y="6492240"/>
            <a:ext cx="11064240" cy="0"/>
          </a:xfrm>
          <a:prstGeom prst="line">
            <a:avLst/>
          </a:prstGeom>
          <a:noFill/>
          <a:ln w="9525">
            <a:solidFill>
              <a:srgbClr val="E5E7EB"/>
            </a:solidFill>
            <a:prstDash val="solid"/>
          </a:ln>
        </p:spPr>
        <p:txBody>
          <a:bodyPr/>
          <a:lstStyle/>
          <a:p>
            <a:endParaRPr lang="en-US"/>
          </a:p>
        </p:txBody>
      </p:sp>
      <p:sp>
        <p:nvSpPr>
          <p:cNvPr id="14" name="Text 12"/>
          <p:cNvSpPr/>
          <p:nvPr/>
        </p:nvSpPr>
        <p:spPr>
          <a:xfrm>
            <a:off x="548640" y="6537960"/>
            <a:ext cx="5486400" cy="274320"/>
          </a:xfrm>
          <a:prstGeom prst="rect">
            <a:avLst/>
          </a:prstGeom>
          <a:noFill/>
          <a:ln/>
        </p:spPr>
        <p:txBody>
          <a:bodyPr wrap="square" rtlCol="0" anchor="ctr"/>
          <a:lstStyle/>
          <a:p>
            <a:pPr marL="0" indent="0">
              <a:buNone/>
            </a:pPr>
            <a:r>
              <a:rPr lang="en-US" sz="1000">
                <a:solidFill>
                  <a:srgbClr val="6B7280"/>
                </a:solidFill>
                <a:latin typeface="Calibri" pitchFamily="34" charset="0"/>
                <a:ea typeface="Calibri" pitchFamily="34" charset="-122"/>
                <a:cs typeface="Calibri" pitchFamily="34" charset="-120"/>
              </a:rPr>
              <a:t>C# Concepts Quiz</a:t>
            </a:r>
            <a:endParaRPr lang="en-US" sz="10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F59E0B"/>
          </a:solidFill>
          <a:ln w="12700">
            <a:solidFill>
              <a:srgbClr val="F59E0B"/>
            </a:solidFill>
            <a:prstDash val="solid"/>
          </a:ln>
        </p:spPr>
        <p:txBody>
          <a:bodyPr/>
          <a:lstStyle/>
          <a:p>
            <a:endParaRPr lang="en-US"/>
          </a:p>
        </p:txBody>
      </p:sp>
      <p:sp>
        <p:nvSpPr>
          <p:cNvPr id="3" name="Shape 1"/>
          <p:cNvSpPr/>
          <p:nvPr/>
        </p:nvSpPr>
        <p:spPr>
          <a:xfrm>
            <a:off x="548640" y="365760"/>
            <a:ext cx="4023360" cy="411480"/>
          </a:xfrm>
          <a:prstGeom prst="rect">
            <a:avLst/>
          </a:prstGeom>
          <a:solidFill>
            <a:srgbClr val="FFF7E6"/>
          </a:solidFill>
          <a:ln w="9525">
            <a:solidFill>
              <a:srgbClr val="F59E0B"/>
            </a:solidFill>
            <a:prstDash val="solid"/>
          </a:ln>
        </p:spPr>
        <p:txBody>
          <a:bodyPr/>
          <a:lstStyle/>
          <a:p>
            <a:endParaRPr lang="en-US"/>
          </a:p>
        </p:txBody>
      </p:sp>
      <p:sp>
        <p:nvSpPr>
          <p:cNvPr id="4" name="Text 2"/>
          <p:cNvSpPr/>
          <p:nvPr/>
        </p:nvSpPr>
        <p:spPr>
          <a:xfrm>
            <a:off x="548640" y="365760"/>
            <a:ext cx="4023360" cy="411480"/>
          </a:xfrm>
          <a:prstGeom prst="rect">
            <a:avLst/>
          </a:prstGeom>
          <a:noFill/>
          <a:ln/>
        </p:spPr>
        <p:txBody>
          <a:bodyPr wrap="square" rtlCol="0" anchor="ctr"/>
          <a:lstStyle/>
          <a:p>
            <a:pPr marL="0" indent="0" algn="ctr">
              <a:buNone/>
            </a:pPr>
            <a:r>
              <a:rPr lang="en-US" sz="1100" b="1" kern="0" spc="200">
                <a:solidFill>
                  <a:srgbClr val="0B2545"/>
                </a:solidFill>
                <a:latin typeface="Calibri" pitchFamily="34" charset="0"/>
                <a:ea typeface="Calibri" pitchFamily="34" charset="-122"/>
                <a:cs typeface="Calibri" pitchFamily="34" charset="-120"/>
              </a:rPr>
              <a:t>SECTION 6 — WHILE LOOPS</a:t>
            </a:r>
            <a:endParaRPr lang="en-US" sz="1100"/>
          </a:p>
        </p:txBody>
      </p:sp>
      <p:sp>
        <p:nvSpPr>
          <p:cNvPr id="5" name="Shape 3"/>
          <p:cNvSpPr/>
          <p:nvPr/>
        </p:nvSpPr>
        <p:spPr>
          <a:xfrm>
            <a:off x="9418320" y="365760"/>
            <a:ext cx="2194560" cy="411480"/>
          </a:xfrm>
          <a:prstGeom prst="rect">
            <a:avLst/>
          </a:prstGeom>
          <a:solidFill>
            <a:srgbClr val="EEF2FF"/>
          </a:solidFill>
          <a:ln w="9525">
            <a:solidFill>
              <a:srgbClr val="0B2545"/>
            </a:solidFill>
            <a:prstDash val="solid"/>
          </a:ln>
        </p:spPr>
        <p:txBody>
          <a:bodyPr/>
          <a:lstStyle/>
          <a:p>
            <a:endParaRPr lang="en-US"/>
          </a:p>
        </p:txBody>
      </p:sp>
      <p:sp>
        <p:nvSpPr>
          <p:cNvPr id="6" name="Text 4"/>
          <p:cNvSpPr/>
          <p:nvPr/>
        </p:nvSpPr>
        <p:spPr>
          <a:xfrm>
            <a:off x="9418320" y="365760"/>
            <a:ext cx="2194560" cy="411480"/>
          </a:xfrm>
          <a:prstGeom prst="rect">
            <a:avLst/>
          </a:prstGeom>
          <a:noFill/>
          <a:ln/>
        </p:spPr>
        <p:txBody>
          <a:bodyPr wrap="square" rtlCol="0" anchor="ctr"/>
          <a:lstStyle/>
          <a:p>
            <a:pPr marL="0" indent="0" algn="ctr">
              <a:buNone/>
            </a:pPr>
            <a:r>
              <a:rPr lang="en-US" sz="1100" b="1" kern="0" spc="200">
                <a:solidFill>
                  <a:srgbClr val="0B2545"/>
                </a:solidFill>
                <a:latin typeface="Calibri" pitchFamily="34" charset="0"/>
                <a:ea typeface="Calibri" pitchFamily="34" charset="-122"/>
                <a:cs typeface="Calibri" pitchFamily="34" charset="-120"/>
              </a:rPr>
              <a:t>Q16  ·  QUESTION</a:t>
            </a:r>
            <a:endParaRPr lang="en-US" sz="1100"/>
          </a:p>
        </p:txBody>
      </p:sp>
      <p:sp>
        <p:nvSpPr>
          <p:cNvPr id="7" name="Text 5"/>
          <p:cNvSpPr/>
          <p:nvPr/>
        </p:nvSpPr>
        <p:spPr>
          <a:xfrm>
            <a:off x="548640" y="1005840"/>
            <a:ext cx="11064240" cy="320040"/>
          </a:xfrm>
          <a:prstGeom prst="rect">
            <a:avLst/>
          </a:prstGeom>
          <a:noFill/>
          <a:ln/>
        </p:spPr>
        <p:txBody>
          <a:bodyPr wrap="square" rtlCol="0" anchor="ctr"/>
          <a:lstStyle/>
          <a:p>
            <a:pPr marL="0" indent="0">
              <a:buNone/>
            </a:pPr>
            <a:r>
              <a:rPr lang="en-US" sz="1200" b="1" kern="0" spc="300">
                <a:solidFill>
                  <a:srgbClr val="F59E0B"/>
                </a:solidFill>
                <a:latin typeface="Calibri" pitchFamily="34" charset="0"/>
                <a:ea typeface="Calibri" pitchFamily="34" charset="-122"/>
                <a:cs typeface="Calibri" pitchFamily="34" charset="-120"/>
              </a:rPr>
              <a:t>MULTIPLE CHOICE</a:t>
            </a:r>
            <a:endParaRPr lang="en-US" sz="1200"/>
          </a:p>
        </p:txBody>
      </p:sp>
      <p:sp>
        <p:nvSpPr>
          <p:cNvPr id="8" name="Text 6"/>
          <p:cNvSpPr/>
          <p:nvPr/>
        </p:nvSpPr>
        <p:spPr>
          <a:xfrm>
            <a:off x="548640" y="1371600"/>
            <a:ext cx="11064240" cy="1097280"/>
          </a:xfrm>
          <a:prstGeom prst="rect">
            <a:avLst/>
          </a:prstGeom>
          <a:noFill/>
          <a:ln/>
        </p:spPr>
        <p:txBody>
          <a:bodyPr wrap="square" rtlCol="0" anchor="t"/>
          <a:lstStyle/>
          <a:p>
            <a:pPr marL="0" indent="0">
              <a:buNone/>
            </a:pPr>
            <a:r>
              <a:rPr lang="en-US" sz="2600" b="1" dirty="0">
                <a:solidFill>
                  <a:srgbClr val="0B2545"/>
                </a:solidFill>
                <a:latin typeface="Calibri" pitchFamily="34" charset="0"/>
                <a:ea typeface="Calibri" pitchFamily="34" charset="-122"/>
                <a:cs typeface="Calibri" pitchFamily="34" charset="-120"/>
              </a:rPr>
              <a:t>What does this print?  int n = 0; </a:t>
            </a:r>
          </a:p>
          <a:p>
            <a:pPr marL="0" indent="0">
              <a:buNone/>
            </a:pPr>
            <a:r>
              <a:rPr lang="en-US" sz="2600" b="1" dirty="0">
                <a:solidFill>
                  <a:srgbClr val="0B2545"/>
                </a:solidFill>
                <a:latin typeface="Calibri" pitchFamily="34" charset="0"/>
                <a:ea typeface="Calibri" pitchFamily="34" charset="-122"/>
                <a:cs typeface="Calibri" pitchFamily="34" charset="-120"/>
              </a:rPr>
              <a:t>			     while (n++ &lt; 3)</a:t>
            </a:r>
          </a:p>
          <a:p>
            <a:pPr marL="0" indent="0">
              <a:buNone/>
            </a:pPr>
            <a:r>
              <a:rPr lang="en-US" sz="2600" b="1" dirty="0">
                <a:solidFill>
                  <a:srgbClr val="0B2545"/>
                </a:solidFill>
                <a:latin typeface="Calibri" pitchFamily="34" charset="0"/>
                <a:ea typeface="Calibri" pitchFamily="34" charset="-122"/>
                <a:cs typeface="Calibri" pitchFamily="34" charset="-120"/>
              </a:rPr>
              <a:t>			    {		</a:t>
            </a:r>
          </a:p>
          <a:p>
            <a:pPr marL="0" indent="0">
              <a:buNone/>
            </a:pPr>
            <a:r>
              <a:rPr lang="en-US" sz="2600" b="1" dirty="0">
                <a:solidFill>
                  <a:srgbClr val="0B2545"/>
                </a:solidFill>
                <a:latin typeface="Calibri" pitchFamily="34" charset="0"/>
                <a:ea typeface="Calibri" pitchFamily="34" charset="-122"/>
                <a:cs typeface="Calibri" pitchFamily="34" charset="-120"/>
              </a:rPr>
              <a:t>				 </a:t>
            </a:r>
            <a:r>
              <a:rPr lang="en-US" sz="2600" b="1" dirty="0" err="1">
                <a:solidFill>
                  <a:srgbClr val="0B2545"/>
                </a:solidFill>
                <a:latin typeface="Calibri" pitchFamily="34" charset="0"/>
                <a:ea typeface="Calibri" pitchFamily="34" charset="-122"/>
                <a:cs typeface="Calibri" pitchFamily="34" charset="-120"/>
              </a:rPr>
              <a:t>Console.Write</a:t>
            </a:r>
            <a:r>
              <a:rPr lang="en-US" sz="2600" b="1" dirty="0">
                <a:solidFill>
                  <a:srgbClr val="0B2545"/>
                </a:solidFill>
                <a:latin typeface="Calibri" pitchFamily="34" charset="0"/>
                <a:ea typeface="Calibri" pitchFamily="34" charset="-122"/>
                <a:cs typeface="Calibri" pitchFamily="34" charset="-120"/>
              </a:rPr>
              <a:t>(n);</a:t>
            </a:r>
          </a:p>
          <a:p>
            <a:pPr marL="0" indent="0">
              <a:buNone/>
            </a:pPr>
            <a:r>
              <a:rPr lang="en-US" sz="2600" b="1" dirty="0">
                <a:solidFill>
                  <a:srgbClr val="0B2545"/>
                </a:solidFill>
                <a:latin typeface="Calibri" pitchFamily="34" charset="0"/>
                <a:ea typeface="Calibri" pitchFamily="34" charset="-122"/>
                <a:cs typeface="Calibri" pitchFamily="34" charset="-120"/>
              </a:rPr>
              <a:t>			    }</a:t>
            </a:r>
            <a:endParaRPr lang="en-US" sz="2600" dirty="0"/>
          </a:p>
        </p:txBody>
      </p:sp>
      <p:sp>
        <p:nvSpPr>
          <p:cNvPr id="9" name="Shape 7"/>
          <p:cNvSpPr/>
          <p:nvPr/>
        </p:nvSpPr>
        <p:spPr>
          <a:xfrm>
            <a:off x="548640" y="2560320"/>
            <a:ext cx="457200" cy="457200"/>
          </a:xfrm>
          <a:prstGeom prst="ellipse">
            <a:avLst/>
          </a:prstGeom>
          <a:solidFill>
            <a:srgbClr val="EEF2FF"/>
          </a:solidFill>
          <a:ln w="12700">
            <a:solidFill>
              <a:srgbClr val="0B2545"/>
            </a:solidFill>
            <a:prstDash val="solid"/>
          </a:ln>
        </p:spPr>
        <p:txBody>
          <a:bodyPr/>
          <a:lstStyle/>
          <a:p>
            <a:endParaRPr lang="en-US"/>
          </a:p>
        </p:txBody>
      </p:sp>
      <p:sp>
        <p:nvSpPr>
          <p:cNvPr id="10" name="Text 8"/>
          <p:cNvSpPr/>
          <p:nvPr/>
        </p:nvSpPr>
        <p:spPr>
          <a:xfrm>
            <a:off x="548640" y="2560320"/>
            <a:ext cx="457200" cy="457200"/>
          </a:xfrm>
          <a:prstGeom prst="rect">
            <a:avLst/>
          </a:prstGeom>
          <a:noFill/>
          <a:ln/>
        </p:spPr>
        <p:txBody>
          <a:bodyPr wrap="square" lIns="0" tIns="0" rIns="0" bIns="0" rtlCol="0" anchor="ctr"/>
          <a:lstStyle/>
          <a:p>
            <a:pPr marL="0" indent="0" algn="ctr">
              <a:buNone/>
            </a:pPr>
            <a:r>
              <a:rPr lang="en-US" sz="1400" b="1">
                <a:solidFill>
                  <a:srgbClr val="0B2545"/>
                </a:solidFill>
                <a:latin typeface="Calibri" pitchFamily="34" charset="0"/>
                <a:ea typeface="Calibri" pitchFamily="34" charset="-122"/>
                <a:cs typeface="Calibri" pitchFamily="34" charset="-120"/>
              </a:rPr>
              <a:t>A</a:t>
            </a:r>
            <a:endParaRPr lang="en-US" sz="1400"/>
          </a:p>
        </p:txBody>
      </p:sp>
      <p:sp>
        <p:nvSpPr>
          <p:cNvPr id="11" name="Text 9"/>
          <p:cNvSpPr/>
          <p:nvPr/>
        </p:nvSpPr>
        <p:spPr>
          <a:xfrm>
            <a:off x="1143000" y="2578608"/>
            <a:ext cx="10469880" cy="457200"/>
          </a:xfrm>
          <a:prstGeom prst="rect">
            <a:avLst/>
          </a:prstGeom>
          <a:noFill/>
          <a:ln/>
        </p:spPr>
        <p:txBody>
          <a:bodyPr wrap="square" lIns="0" tIns="0" rIns="0" bIns="0" rtlCol="0" anchor="ctr"/>
          <a:lstStyle/>
          <a:p>
            <a:pPr marL="0" indent="0">
              <a:buNone/>
            </a:pPr>
            <a:r>
              <a:rPr lang="en-US" sz="1600">
                <a:solidFill>
                  <a:srgbClr val="1F2937"/>
                </a:solidFill>
                <a:latin typeface="Calibri" pitchFamily="34" charset="0"/>
                <a:ea typeface="Calibri" pitchFamily="34" charset="-122"/>
                <a:cs typeface="Calibri" pitchFamily="34" charset="-120"/>
              </a:rPr>
              <a:t>012</a:t>
            </a:r>
            <a:endParaRPr lang="en-US" sz="1600"/>
          </a:p>
        </p:txBody>
      </p:sp>
      <p:sp>
        <p:nvSpPr>
          <p:cNvPr id="12" name="Shape 10"/>
          <p:cNvSpPr/>
          <p:nvPr/>
        </p:nvSpPr>
        <p:spPr>
          <a:xfrm>
            <a:off x="548640" y="3154680"/>
            <a:ext cx="457200" cy="457200"/>
          </a:xfrm>
          <a:prstGeom prst="ellipse">
            <a:avLst/>
          </a:prstGeom>
          <a:solidFill>
            <a:srgbClr val="EEF2FF"/>
          </a:solidFill>
          <a:ln w="12700">
            <a:solidFill>
              <a:srgbClr val="0B2545"/>
            </a:solidFill>
            <a:prstDash val="solid"/>
          </a:ln>
        </p:spPr>
        <p:txBody>
          <a:bodyPr/>
          <a:lstStyle/>
          <a:p>
            <a:endParaRPr lang="en-US"/>
          </a:p>
        </p:txBody>
      </p:sp>
      <p:sp>
        <p:nvSpPr>
          <p:cNvPr id="13" name="Text 11"/>
          <p:cNvSpPr/>
          <p:nvPr/>
        </p:nvSpPr>
        <p:spPr>
          <a:xfrm>
            <a:off x="548640" y="3154680"/>
            <a:ext cx="457200" cy="457200"/>
          </a:xfrm>
          <a:prstGeom prst="rect">
            <a:avLst/>
          </a:prstGeom>
          <a:noFill/>
          <a:ln/>
        </p:spPr>
        <p:txBody>
          <a:bodyPr wrap="square" lIns="0" tIns="0" rIns="0" bIns="0" rtlCol="0" anchor="ctr"/>
          <a:lstStyle/>
          <a:p>
            <a:pPr marL="0" indent="0" algn="ctr">
              <a:buNone/>
            </a:pPr>
            <a:r>
              <a:rPr lang="en-US" sz="1400" b="1">
                <a:solidFill>
                  <a:srgbClr val="0B2545"/>
                </a:solidFill>
                <a:latin typeface="Calibri" pitchFamily="34" charset="0"/>
                <a:ea typeface="Calibri" pitchFamily="34" charset="-122"/>
                <a:cs typeface="Calibri" pitchFamily="34" charset="-120"/>
              </a:rPr>
              <a:t>B</a:t>
            </a:r>
            <a:endParaRPr lang="en-US" sz="1400"/>
          </a:p>
        </p:txBody>
      </p:sp>
      <p:sp>
        <p:nvSpPr>
          <p:cNvPr id="14" name="Text 12"/>
          <p:cNvSpPr/>
          <p:nvPr/>
        </p:nvSpPr>
        <p:spPr>
          <a:xfrm>
            <a:off x="1143000" y="3172968"/>
            <a:ext cx="10469880" cy="457200"/>
          </a:xfrm>
          <a:prstGeom prst="rect">
            <a:avLst/>
          </a:prstGeom>
          <a:noFill/>
          <a:ln/>
        </p:spPr>
        <p:txBody>
          <a:bodyPr wrap="square" lIns="0" tIns="0" rIns="0" bIns="0" rtlCol="0" anchor="ctr"/>
          <a:lstStyle/>
          <a:p>
            <a:pPr marL="0" indent="0">
              <a:buNone/>
            </a:pPr>
            <a:r>
              <a:rPr lang="en-US" sz="1600">
                <a:solidFill>
                  <a:srgbClr val="1F2937"/>
                </a:solidFill>
                <a:latin typeface="Calibri" pitchFamily="34" charset="0"/>
                <a:ea typeface="Calibri" pitchFamily="34" charset="-122"/>
                <a:cs typeface="Calibri" pitchFamily="34" charset="-120"/>
              </a:rPr>
              <a:t>123</a:t>
            </a:r>
            <a:endParaRPr lang="en-US" sz="1600"/>
          </a:p>
        </p:txBody>
      </p:sp>
      <p:sp>
        <p:nvSpPr>
          <p:cNvPr id="15" name="Shape 13"/>
          <p:cNvSpPr/>
          <p:nvPr/>
        </p:nvSpPr>
        <p:spPr>
          <a:xfrm>
            <a:off x="548640" y="3749040"/>
            <a:ext cx="457200" cy="457200"/>
          </a:xfrm>
          <a:prstGeom prst="ellipse">
            <a:avLst/>
          </a:prstGeom>
          <a:solidFill>
            <a:srgbClr val="EEF2FF"/>
          </a:solidFill>
          <a:ln w="12700">
            <a:solidFill>
              <a:srgbClr val="0B2545"/>
            </a:solidFill>
            <a:prstDash val="solid"/>
          </a:ln>
        </p:spPr>
        <p:txBody>
          <a:bodyPr/>
          <a:lstStyle/>
          <a:p>
            <a:endParaRPr lang="en-US"/>
          </a:p>
        </p:txBody>
      </p:sp>
      <p:sp>
        <p:nvSpPr>
          <p:cNvPr id="16" name="Text 14"/>
          <p:cNvSpPr/>
          <p:nvPr/>
        </p:nvSpPr>
        <p:spPr>
          <a:xfrm>
            <a:off x="548640" y="3749040"/>
            <a:ext cx="457200" cy="457200"/>
          </a:xfrm>
          <a:prstGeom prst="rect">
            <a:avLst/>
          </a:prstGeom>
          <a:noFill/>
          <a:ln/>
        </p:spPr>
        <p:txBody>
          <a:bodyPr wrap="square" lIns="0" tIns="0" rIns="0" bIns="0" rtlCol="0" anchor="ctr"/>
          <a:lstStyle/>
          <a:p>
            <a:pPr marL="0" indent="0" algn="ctr">
              <a:buNone/>
            </a:pPr>
            <a:r>
              <a:rPr lang="en-US" sz="1400" b="1">
                <a:solidFill>
                  <a:srgbClr val="0B2545"/>
                </a:solidFill>
                <a:latin typeface="Calibri" pitchFamily="34" charset="0"/>
                <a:ea typeface="Calibri" pitchFamily="34" charset="-122"/>
                <a:cs typeface="Calibri" pitchFamily="34" charset="-120"/>
              </a:rPr>
              <a:t>C</a:t>
            </a:r>
            <a:endParaRPr lang="en-US" sz="1400"/>
          </a:p>
        </p:txBody>
      </p:sp>
      <p:sp>
        <p:nvSpPr>
          <p:cNvPr id="17" name="Text 15"/>
          <p:cNvSpPr/>
          <p:nvPr/>
        </p:nvSpPr>
        <p:spPr>
          <a:xfrm>
            <a:off x="1143000" y="3767328"/>
            <a:ext cx="10469880" cy="457200"/>
          </a:xfrm>
          <a:prstGeom prst="rect">
            <a:avLst/>
          </a:prstGeom>
          <a:noFill/>
          <a:ln/>
        </p:spPr>
        <p:txBody>
          <a:bodyPr wrap="square" lIns="0" tIns="0" rIns="0" bIns="0" rtlCol="0" anchor="ctr"/>
          <a:lstStyle/>
          <a:p>
            <a:pPr marL="0" indent="0">
              <a:buNone/>
            </a:pPr>
            <a:r>
              <a:rPr lang="en-US" sz="1600">
                <a:solidFill>
                  <a:srgbClr val="1F2937"/>
                </a:solidFill>
                <a:latin typeface="Calibri" pitchFamily="34" charset="0"/>
                <a:ea typeface="Calibri" pitchFamily="34" charset="-122"/>
                <a:cs typeface="Calibri" pitchFamily="34" charset="-120"/>
              </a:rPr>
              <a:t>0123</a:t>
            </a:r>
            <a:endParaRPr lang="en-US" sz="1600"/>
          </a:p>
        </p:txBody>
      </p:sp>
      <p:sp>
        <p:nvSpPr>
          <p:cNvPr id="18" name="Shape 16"/>
          <p:cNvSpPr/>
          <p:nvPr/>
        </p:nvSpPr>
        <p:spPr>
          <a:xfrm>
            <a:off x="548640" y="4343400"/>
            <a:ext cx="457200" cy="457200"/>
          </a:xfrm>
          <a:prstGeom prst="ellipse">
            <a:avLst/>
          </a:prstGeom>
          <a:solidFill>
            <a:srgbClr val="EEF2FF"/>
          </a:solidFill>
          <a:ln w="12700">
            <a:solidFill>
              <a:srgbClr val="0B2545"/>
            </a:solidFill>
            <a:prstDash val="solid"/>
          </a:ln>
        </p:spPr>
        <p:txBody>
          <a:bodyPr/>
          <a:lstStyle/>
          <a:p>
            <a:endParaRPr lang="en-US"/>
          </a:p>
        </p:txBody>
      </p:sp>
      <p:sp>
        <p:nvSpPr>
          <p:cNvPr id="19" name="Text 17"/>
          <p:cNvSpPr/>
          <p:nvPr/>
        </p:nvSpPr>
        <p:spPr>
          <a:xfrm>
            <a:off x="548640" y="4343400"/>
            <a:ext cx="457200" cy="457200"/>
          </a:xfrm>
          <a:prstGeom prst="rect">
            <a:avLst/>
          </a:prstGeom>
          <a:noFill/>
          <a:ln/>
        </p:spPr>
        <p:txBody>
          <a:bodyPr wrap="square" lIns="0" tIns="0" rIns="0" bIns="0" rtlCol="0" anchor="ctr"/>
          <a:lstStyle/>
          <a:p>
            <a:pPr marL="0" indent="0" algn="ctr">
              <a:buNone/>
            </a:pPr>
            <a:r>
              <a:rPr lang="en-US" sz="1400" b="1">
                <a:solidFill>
                  <a:srgbClr val="0B2545"/>
                </a:solidFill>
                <a:latin typeface="Calibri" pitchFamily="34" charset="0"/>
                <a:ea typeface="Calibri" pitchFamily="34" charset="-122"/>
                <a:cs typeface="Calibri" pitchFamily="34" charset="-120"/>
              </a:rPr>
              <a:t>D</a:t>
            </a:r>
            <a:endParaRPr lang="en-US" sz="1400"/>
          </a:p>
        </p:txBody>
      </p:sp>
      <p:sp>
        <p:nvSpPr>
          <p:cNvPr id="20" name="Text 18"/>
          <p:cNvSpPr/>
          <p:nvPr/>
        </p:nvSpPr>
        <p:spPr>
          <a:xfrm>
            <a:off x="1143000" y="4348480"/>
            <a:ext cx="10469880" cy="457200"/>
          </a:xfrm>
          <a:prstGeom prst="rect">
            <a:avLst/>
          </a:prstGeom>
          <a:noFill/>
          <a:ln/>
        </p:spPr>
        <p:txBody>
          <a:bodyPr wrap="square" lIns="0" tIns="0" rIns="0" bIns="0" rtlCol="0" anchor="ctr"/>
          <a:lstStyle/>
          <a:p>
            <a:pPr marL="0" indent="0">
              <a:buNone/>
            </a:pPr>
            <a:r>
              <a:rPr lang="en-US" sz="1600">
                <a:solidFill>
                  <a:srgbClr val="1F2937"/>
                </a:solidFill>
                <a:latin typeface="Calibri" pitchFamily="34" charset="0"/>
                <a:ea typeface="Calibri" pitchFamily="34" charset="-122"/>
                <a:cs typeface="Calibri" pitchFamily="34" charset="-120"/>
              </a:rPr>
              <a:t>1234</a:t>
            </a:r>
            <a:endParaRPr lang="en-US" sz="1600"/>
          </a:p>
        </p:txBody>
      </p:sp>
      <p:sp>
        <p:nvSpPr>
          <p:cNvPr id="21" name="Shape 19"/>
          <p:cNvSpPr/>
          <p:nvPr/>
        </p:nvSpPr>
        <p:spPr>
          <a:xfrm>
            <a:off x="548640" y="6492240"/>
            <a:ext cx="11064240" cy="0"/>
          </a:xfrm>
          <a:prstGeom prst="line">
            <a:avLst/>
          </a:prstGeom>
          <a:noFill/>
          <a:ln w="9525">
            <a:solidFill>
              <a:srgbClr val="E5E7EB"/>
            </a:solidFill>
            <a:prstDash val="solid"/>
          </a:ln>
        </p:spPr>
        <p:txBody>
          <a:bodyPr/>
          <a:lstStyle/>
          <a:p>
            <a:endParaRPr lang="en-US"/>
          </a:p>
        </p:txBody>
      </p:sp>
      <p:sp>
        <p:nvSpPr>
          <p:cNvPr id="22" name="Text 20"/>
          <p:cNvSpPr/>
          <p:nvPr/>
        </p:nvSpPr>
        <p:spPr>
          <a:xfrm>
            <a:off x="548640" y="6537960"/>
            <a:ext cx="5486400" cy="274320"/>
          </a:xfrm>
          <a:prstGeom prst="rect">
            <a:avLst/>
          </a:prstGeom>
          <a:noFill/>
          <a:ln/>
        </p:spPr>
        <p:txBody>
          <a:bodyPr wrap="square" rtlCol="0" anchor="ctr"/>
          <a:lstStyle/>
          <a:p>
            <a:pPr marL="0" indent="0">
              <a:buNone/>
            </a:pPr>
            <a:r>
              <a:rPr lang="en-US" sz="1000">
                <a:solidFill>
                  <a:srgbClr val="6B7280"/>
                </a:solidFill>
                <a:latin typeface="Calibri" pitchFamily="34" charset="0"/>
                <a:ea typeface="Calibri" pitchFamily="34" charset="-122"/>
                <a:cs typeface="Calibri" pitchFamily="34" charset="-120"/>
              </a:rPr>
              <a:t>C# Concepts Quiz</a:t>
            </a:r>
            <a:endParaRPr lang="en-US" sz="10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F59E0B"/>
          </a:solidFill>
          <a:ln w="12700">
            <a:solidFill>
              <a:srgbClr val="F59E0B"/>
            </a:solidFill>
            <a:prstDash val="solid"/>
          </a:ln>
        </p:spPr>
        <p:txBody>
          <a:bodyPr/>
          <a:lstStyle/>
          <a:p>
            <a:endParaRPr lang="en-US"/>
          </a:p>
        </p:txBody>
      </p:sp>
      <p:sp>
        <p:nvSpPr>
          <p:cNvPr id="3" name="Shape 1"/>
          <p:cNvSpPr/>
          <p:nvPr/>
        </p:nvSpPr>
        <p:spPr>
          <a:xfrm>
            <a:off x="548640" y="365760"/>
            <a:ext cx="4023360" cy="411480"/>
          </a:xfrm>
          <a:prstGeom prst="rect">
            <a:avLst/>
          </a:prstGeom>
          <a:solidFill>
            <a:srgbClr val="FFF7E6"/>
          </a:solidFill>
          <a:ln w="9525">
            <a:solidFill>
              <a:srgbClr val="F59E0B"/>
            </a:solidFill>
            <a:prstDash val="solid"/>
          </a:ln>
        </p:spPr>
        <p:txBody>
          <a:bodyPr/>
          <a:lstStyle/>
          <a:p>
            <a:endParaRPr lang="en-US"/>
          </a:p>
        </p:txBody>
      </p:sp>
      <p:sp>
        <p:nvSpPr>
          <p:cNvPr id="4" name="Text 2"/>
          <p:cNvSpPr/>
          <p:nvPr/>
        </p:nvSpPr>
        <p:spPr>
          <a:xfrm>
            <a:off x="548640" y="365760"/>
            <a:ext cx="4023360" cy="411480"/>
          </a:xfrm>
          <a:prstGeom prst="rect">
            <a:avLst/>
          </a:prstGeom>
          <a:noFill/>
          <a:ln/>
        </p:spPr>
        <p:txBody>
          <a:bodyPr wrap="square" rtlCol="0" anchor="ctr"/>
          <a:lstStyle/>
          <a:p>
            <a:pPr marL="0" indent="0" algn="ctr">
              <a:buNone/>
            </a:pPr>
            <a:r>
              <a:rPr lang="en-US" sz="1100" b="1" kern="0" spc="200">
                <a:solidFill>
                  <a:srgbClr val="0B2545"/>
                </a:solidFill>
                <a:latin typeface="Calibri" pitchFamily="34" charset="0"/>
                <a:ea typeface="Calibri" pitchFamily="34" charset="-122"/>
                <a:cs typeface="Calibri" pitchFamily="34" charset="-120"/>
              </a:rPr>
              <a:t>SECTION 6 — WHILE LOOPS</a:t>
            </a:r>
            <a:endParaRPr lang="en-US" sz="1100"/>
          </a:p>
        </p:txBody>
      </p:sp>
      <p:sp>
        <p:nvSpPr>
          <p:cNvPr id="5" name="Shape 3"/>
          <p:cNvSpPr/>
          <p:nvPr/>
        </p:nvSpPr>
        <p:spPr>
          <a:xfrm>
            <a:off x="9418320" y="365760"/>
            <a:ext cx="2194560" cy="411480"/>
          </a:xfrm>
          <a:prstGeom prst="rect">
            <a:avLst/>
          </a:prstGeom>
          <a:solidFill>
            <a:srgbClr val="ECFDF5"/>
          </a:solidFill>
          <a:ln w="9525">
            <a:solidFill>
              <a:srgbClr val="10B981"/>
            </a:solidFill>
            <a:prstDash val="solid"/>
          </a:ln>
        </p:spPr>
        <p:txBody>
          <a:bodyPr/>
          <a:lstStyle/>
          <a:p>
            <a:endParaRPr lang="en-US"/>
          </a:p>
        </p:txBody>
      </p:sp>
      <p:sp>
        <p:nvSpPr>
          <p:cNvPr id="6" name="Text 4"/>
          <p:cNvSpPr/>
          <p:nvPr/>
        </p:nvSpPr>
        <p:spPr>
          <a:xfrm>
            <a:off x="9418320" y="365760"/>
            <a:ext cx="2194560" cy="411480"/>
          </a:xfrm>
          <a:prstGeom prst="rect">
            <a:avLst/>
          </a:prstGeom>
          <a:noFill/>
          <a:ln/>
        </p:spPr>
        <p:txBody>
          <a:bodyPr wrap="square" rtlCol="0" anchor="ctr"/>
          <a:lstStyle/>
          <a:p>
            <a:pPr marL="0" indent="0" algn="ctr">
              <a:buNone/>
            </a:pPr>
            <a:r>
              <a:rPr lang="en-US" sz="1100" b="1" kern="0" spc="200">
                <a:solidFill>
                  <a:srgbClr val="10B981"/>
                </a:solidFill>
                <a:latin typeface="Calibri" pitchFamily="34" charset="0"/>
                <a:ea typeface="Calibri" pitchFamily="34" charset="-122"/>
                <a:cs typeface="Calibri" pitchFamily="34" charset="-120"/>
              </a:rPr>
              <a:t>Q16  ·  ANSWER</a:t>
            </a:r>
            <a:endParaRPr lang="en-US" sz="1100"/>
          </a:p>
        </p:txBody>
      </p:sp>
      <p:sp>
        <p:nvSpPr>
          <p:cNvPr id="7" name="Text 5"/>
          <p:cNvSpPr/>
          <p:nvPr/>
        </p:nvSpPr>
        <p:spPr>
          <a:xfrm>
            <a:off x="548640" y="1005840"/>
            <a:ext cx="11064240" cy="640080"/>
          </a:xfrm>
          <a:prstGeom prst="rect">
            <a:avLst/>
          </a:prstGeom>
          <a:noFill/>
          <a:ln/>
        </p:spPr>
        <p:txBody>
          <a:bodyPr wrap="square" rtlCol="0" anchor="t"/>
          <a:lstStyle/>
          <a:p>
            <a:pPr marL="0" indent="0">
              <a:buNone/>
            </a:pPr>
            <a:r>
              <a:rPr lang="en-US" sz="1500" i="1">
                <a:solidFill>
                  <a:srgbClr val="6B7280"/>
                </a:solidFill>
                <a:latin typeface="Calibri" pitchFamily="34" charset="0"/>
                <a:ea typeface="Calibri" pitchFamily="34" charset="-122"/>
                <a:cs typeface="Calibri" pitchFamily="34" charset="-120"/>
              </a:rPr>
              <a:t>What does this print?  int n = 0; while (n++ &lt; 3) Console.Write(n);</a:t>
            </a:r>
            <a:endParaRPr lang="en-US" sz="1500"/>
          </a:p>
        </p:txBody>
      </p:sp>
      <p:sp>
        <p:nvSpPr>
          <p:cNvPr id="8" name="Shape 6"/>
          <p:cNvSpPr/>
          <p:nvPr/>
        </p:nvSpPr>
        <p:spPr>
          <a:xfrm>
            <a:off x="548640" y="1783080"/>
            <a:ext cx="11064240" cy="0"/>
          </a:xfrm>
          <a:prstGeom prst="line">
            <a:avLst/>
          </a:prstGeom>
          <a:noFill/>
          <a:ln w="12700">
            <a:solidFill>
              <a:srgbClr val="E5E7EB"/>
            </a:solidFill>
            <a:prstDash val="solid"/>
          </a:ln>
        </p:spPr>
        <p:txBody>
          <a:bodyPr/>
          <a:lstStyle/>
          <a:p>
            <a:endParaRPr lang="en-US"/>
          </a:p>
        </p:txBody>
      </p:sp>
      <p:sp>
        <p:nvSpPr>
          <p:cNvPr id="9" name="Shape 7"/>
          <p:cNvSpPr/>
          <p:nvPr/>
        </p:nvSpPr>
        <p:spPr>
          <a:xfrm>
            <a:off x="548640" y="1965960"/>
            <a:ext cx="11064240" cy="640080"/>
          </a:xfrm>
          <a:prstGeom prst="rect">
            <a:avLst/>
          </a:prstGeom>
          <a:solidFill>
            <a:srgbClr val="ECFDF5"/>
          </a:solidFill>
          <a:ln w="12700">
            <a:solidFill>
              <a:srgbClr val="10B981"/>
            </a:solidFill>
            <a:prstDash val="solid"/>
          </a:ln>
        </p:spPr>
        <p:txBody>
          <a:bodyPr/>
          <a:lstStyle/>
          <a:p>
            <a:endParaRPr lang="en-US"/>
          </a:p>
        </p:txBody>
      </p:sp>
      <p:sp>
        <p:nvSpPr>
          <p:cNvPr id="10" name="Text 8"/>
          <p:cNvSpPr/>
          <p:nvPr/>
        </p:nvSpPr>
        <p:spPr>
          <a:xfrm>
            <a:off x="777240" y="1965960"/>
            <a:ext cx="10607040" cy="640080"/>
          </a:xfrm>
          <a:prstGeom prst="rect">
            <a:avLst/>
          </a:prstGeom>
          <a:noFill/>
          <a:ln/>
        </p:spPr>
        <p:txBody>
          <a:bodyPr wrap="square" rtlCol="0" anchor="ctr"/>
          <a:lstStyle/>
          <a:p>
            <a:pPr marL="0" indent="0">
              <a:buNone/>
            </a:pPr>
            <a:r>
              <a:rPr lang="en-US" sz="1800" b="1">
                <a:solidFill>
                  <a:srgbClr val="065F46"/>
                </a:solidFill>
                <a:latin typeface="Calibri" pitchFamily="34" charset="0"/>
                <a:ea typeface="Calibri" pitchFamily="34" charset="-122"/>
                <a:cs typeface="Calibri" pitchFamily="34" charset="-120"/>
              </a:rPr>
              <a:t>Correct answer: B — the output is 123.</a:t>
            </a:r>
            <a:endParaRPr lang="en-US" sz="1800"/>
          </a:p>
        </p:txBody>
      </p:sp>
      <p:sp>
        <p:nvSpPr>
          <p:cNvPr id="11" name="Text 9"/>
          <p:cNvSpPr/>
          <p:nvPr/>
        </p:nvSpPr>
        <p:spPr>
          <a:xfrm>
            <a:off x="548640" y="2788920"/>
            <a:ext cx="11064240" cy="320040"/>
          </a:xfrm>
          <a:prstGeom prst="rect">
            <a:avLst/>
          </a:prstGeom>
          <a:noFill/>
          <a:ln/>
        </p:spPr>
        <p:txBody>
          <a:bodyPr wrap="square" rtlCol="0" anchor="ctr"/>
          <a:lstStyle/>
          <a:p>
            <a:pPr marL="0" indent="0">
              <a:buNone/>
            </a:pPr>
            <a:r>
              <a:rPr lang="en-US" sz="1200" b="1" kern="0" spc="300">
                <a:solidFill>
                  <a:srgbClr val="F59E0B"/>
                </a:solidFill>
                <a:latin typeface="Calibri" pitchFamily="34" charset="0"/>
                <a:ea typeface="Calibri" pitchFamily="34" charset="-122"/>
                <a:cs typeface="Calibri" pitchFamily="34" charset="-120"/>
              </a:rPr>
              <a:t>Explanation</a:t>
            </a:r>
            <a:endParaRPr lang="en-US" sz="1200"/>
          </a:p>
        </p:txBody>
      </p:sp>
      <p:sp>
        <p:nvSpPr>
          <p:cNvPr id="12" name="Text 10"/>
          <p:cNvSpPr/>
          <p:nvPr/>
        </p:nvSpPr>
        <p:spPr>
          <a:xfrm>
            <a:off x="548640" y="3154680"/>
            <a:ext cx="11064240" cy="2788920"/>
          </a:xfrm>
          <a:prstGeom prst="rect">
            <a:avLst/>
          </a:prstGeom>
          <a:noFill/>
          <a:ln/>
        </p:spPr>
        <p:txBody>
          <a:bodyPr wrap="square" rtlCol="0" anchor="t"/>
          <a:lstStyle/>
          <a:p>
            <a:pPr marL="0" indent="0">
              <a:buNone/>
            </a:pPr>
            <a:r>
              <a:rPr lang="en-US" sz="1600" dirty="0">
                <a:solidFill>
                  <a:srgbClr val="13315C"/>
                </a:solidFill>
                <a:latin typeface="Calibri" pitchFamily="34" charset="0"/>
                <a:ea typeface="Calibri" pitchFamily="34" charset="-122"/>
                <a:cs typeface="Calibri" pitchFamily="34" charset="-120"/>
              </a:rPr>
              <a:t>n++ returns the current value of n (0, 1, 2) for the comparison, then increments. Inside the body n has already been incremented, so </a:t>
            </a:r>
            <a:r>
              <a:rPr lang="en-US" sz="1600" dirty="0" err="1">
                <a:solidFill>
                  <a:srgbClr val="13315C"/>
                </a:solidFill>
                <a:latin typeface="Calibri" pitchFamily="34" charset="0"/>
                <a:ea typeface="Calibri" pitchFamily="34" charset="-122"/>
                <a:cs typeface="Calibri" pitchFamily="34" charset="-120"/>
              </a:rPr>
              <a:t>Console.Write</a:t>
            </a:r>
            <a:r>
              <a:rPr lang="en-US" sz="1600" dirty="0">
                <a:solidFill>
                  <a:srgbClr val="13315C"/>
                </a:solidFill>
                <a:latin typeface="Calibri" pitchFamily="34" charset="0"/>
                <a:ea typeface="Calibri" pitchFamily="34" charset="-122"/>
                <a:cs typeface="Calibri" pitchFamily="34" charset="-120"/>
              </a:rPr>
              <a:t> prints 1, 2, and 3 before the condition fails at n = 3.</a:t>
            </a:r>
            <a:endParaRPr lang="en-US" sz="1600" dirty="0"/>
          </a:p>
        </p:txBody>
      </p:sp>
      <p:sp>
        <p:nvSpPr>
          <p:cNvPr id="13" name="Shape 11"/>
          <p:cNvSpPr/>
          <p:nvPr/>
        </p:nvSpPr>
        <p:spPr>
          <a:xfrm>
            <a:off x="548640" y="6492240"/>
            <a:ext cx="11064240" cy="0"/>
          </a:xfrm>
          <a:prstGeom prst="line">
            <a:avLst/>
          </a:prstGeom>
          <a:noFill/>
          <a:ln w="9525">
            <a:solidFill>
              <a:srgbClr val="E5E7EB"/>
            </a:solidFill>
            <a:prstDash val="solid"/>
          </a:ln>
        </p:spPr>
        <p:txBody>
          <a:bodyPr/>
          <a:lstStyle/>
          <a:p>
            <a:endParaRPr lang="en-US"/>
          </a:p>
        </p:txBody>
      </p:sp>
      <p:sp>
        <p:nvSpPr>
          <p:cNvPr id="14" name="Text 12"/>
          <p:cNvSpPr/>
          <p:nvPr/>
        </p:nvSpPr>
        <p:spPr>
          <a:xfrm>
            <a:off x="548640" y="6537960"/>
            <a:ext cx="5486400" cy="274320"/>
          </a:xfrm>
          <a:prstGeom prst="rect">
            <a:avLst/>
          </a:prstGeom>
          <a:noFill/>
          <a:ln/>
        </p:spPr>
        <p:txBody>
          <a:bodyPr wrap="square" rtlCol="0" anchor="ctr"/>
          <a:lstStyle/>
          <a:p>
            <a:pPr marL="0" indent="0">
              <a:buNone/>
            </a:pPr>
            <a:r>
              <a:rPr lang="en-US" sz="1000">
                <a:solidFill>
                  <a:srgbClr val="6B7280"/>
                </a:solidFill>
                <a:latin typeface="Calibri" pitchFamily="34" charset="0"/>
                <a:ea typeface="Calibri" pitchFamily="34" charset="-122"/>
                <a:cs typeface="Calibri" pitchFamily="34" charset="-120"/>
              </a:rPr>
              <a:t>C# Concepts Quiz</a:t>
            </a:r>
            <a:endParaRPr lang="en-US" sz="10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F59E0B"/>
          </a:solidFill>
          <a:ln w="12700">
            <a:solidFill>
              <a:srgbClr val="F59E0B"/>
            </a:solidFill>
            <a:prstDash val="solid"/>
          </a:ln>
        </p:spPr>
        <p:txBody>
          <a:bodyPr/>
          <a:lstStyle/>
          <a:p>
            <a:endParaRPr lang="en-US"/>
          </a:p>
        </p:txBody>
      </p:sp>
      <p:sp>
        <p:nvSpPr>
          <p:cNvPr id="3" name="Shape 1"/>
          <p:cNvSpPr/>
          <p:nvPr/>
        </p:nvSpPr>
        <p:spPr>
          <a:xfrm>
            <a:off x="548640" y="365760"/>
            <a:ext cx="4023360" cy="411480"/>
          </a:xfrm>
          <a:prstGeom prst="rect">
            <a:avLst/>
          </a:prstGeom>
          <a:solidFill>
            <a:srgbClr val="FFF7E6"/>
          </a:solidFill>
          <a:ln w="9525">
            <a:solidFill>
              <a:srgbClr val="F59E0B"/>
            </a:solidFill>
            <a:prstDash val="solid"/>
          </a:ln>
        </p:spPr>
        <p:txBody>
          <a:bodyPr/>
          <a:lstStyle/>
          <a:p>
            <a:endParaRPr lang="en-US"/>
          </a:p>
        </p:txBody>
      </p:sp>
      <p:sp>
        <p:nvSpPr>
          <p:cNvPr id="4" name="Text 2"/>
          <p:cNvSpPr/>
          <p:nvPr/>
        </p:nvSpPr>
        <p:spPr>
          <a:xfrm>
            <a:off x="548640" y="365760"/>
            <a:ext cx="4023360" cy="411480"/>
          </a:xfrm>
          <a:prstGeom prst="rect">
            <a:avLst/>
          </a:prstGeom>
          <a:noFill/>
          <a:ln/>
        </p:spPr>
        <p:txBody>
          <a:bodyPr wrap="square" rtlCol="0" anchor="ctr"/>
          <a:lstStyle/>
          <a:p>
            <a:pPr marL="0" indent="0" algn="ctr">
              <a:buNone/>
            </a:pPr>
            <a:r>
              <a:rPr lang="en-US" sz="1100" b="1" kern="0" spc="200">
                <a:solidFill>
                  <a:srgbClr val="0B2545"/>
                </a:solidFill>
                <a:latin typeface="Calibri" pitchFamily="34" charset="0"/>
                <a:ea typeface="Calibri" pitchFamily="34" charset="-122"/>
                <a:cs typeface="Calibri" pitchFamily="34" charset="-120"/>
              </a:rPr>
              <a:t>SECTION 7 — DO-WHILE LOOPS</a:t>
            </a:r>
            <a:endParaRPr lang="en-US" sz="1100"/>
          </a:p>
        </p:txBody>
      </p:sp>
      <p:sp>
        <p:nvSpPr>
          <p:cNvPr id="5" name="Shape 3"/>
          <p:cNvSpPr/>
          <p:nvPr/>
        </p:nvSpPr>
        <p:spPr>
          <a:xfrm>
            <a:off x="9418320" y="365760"/>
            <a:ext cx="2194560" cy="411480"/>
          </a:xfrm>
          <a:prstGeom prst="rect">
            <a:avLst/>
          </a:prstGeom>
          <a:solidFill>
            <a:srgbClr val="EEF2FF"/>
          </a:solidFill>
          <a:ln w="9525">
            <a:solidFill>
              <a:srgbClr val="0B2545"/>
            </a:solidFill>
            <a:prstDash val="solid"/>
          </a:ln>
        </p:spPr>
        <p:txBody>
          <a:bodyPr/>
          <a:lstStyle/>
          <a:p>
            <a:endParaRPr lang="en-US"/>
          </a:p>
        </p:txBody>
      </p:sp>
      <p:sp>
        <p:nvSpPr>
          <p:cNvPr id="6" name="Text 4"/>
          <p:cNvSpPr/>
          <p:nvPr/>
        </p:nvSpPr>
        <p:spPr>
          <a:xfrm>
            <a:off x="9418320" y="365760"/>
            <a:ext cx="2194560" cy="411480"/>
          </a:xfrm>
          <a:prstGeom prst="rect">
            <a:avLst/>
          </a:prstGeom>
          <a:noFill/>
          <a:ln/>
        </p:spPr>
        <p:txBody>
          <a:bodyPr wrap="square" rtlCol="0" anchor="ctr"/>
          <a:lstStyle/>
          <a:p>
            <a:pPr marL="0" indent="0" algn="ctr">
              <a:buNone/>
            </a:pPr>
            <a:r>
              <a:rPr lang="en-US" sz="1100" b="1" kern="0" spc="200">
                <a:solidFill>
                  <a:srgbClr val="0B2545"/>
                </a:solidFill>
                <a:latin typeface="Calibri" pitchFamily="34" charset="0"/>
                <a:ea typeface="Calibri" pitchFamily="34" charset="-122"/>
                <a:cs typeface="Calibri" pitchFamily="34" charset="-120"/>
              </a:rPr>
              <a:t>Q17  ·  QUESTION</a:t>
            </a:r>
            <a:endParaRPr lang="en-US" sz="1100"/>
          </a:p>
        </p:txBody>
      </p:sp>
      <p:sp>
        <p:nvSpPr>
          <p:cNvPr id="7" name="Text 5"/>
          <p:cNvSpPr/>
          <p:nvPr/>
        </p:nvSpPr>
        <p:spPr>
          <a:xfrm>
            <a:off x="548640" y="1005840"/>
            <a:ext cx="11064240" cy="320040"/>
          </a:xfrm>
          <a:prstGeom prst="rect">
            <a:avLst/>
          </a:prstGeom>
          <a:noFill/>
          <a:ln/>
        </p:spPr>
        <p:txBody>
          <a:bodyPr wrap="square" rtlCol="0" anchor="ctr"/>
          <a:lstStyle/>
          <a:p>
            <a:pPr marL="0" indent="0">
              <a:buNone/>
            </a:pPr>
            <a:r>
              <a:rPr lang="en-US" sz="1200" b="1" kern="0" spc="300">
                <a:solidFill>
                  <a:srgbClr val="F59E0B"/>
                </a:solidFill>
                <a:latin typeface="Calibri" pitchFamily="34" charset="0"/>
                <a:ea typeface="Calibri" pitchFamily="34" charset="-122"/>
                <a:cs typeface="Calibri" pitchFamily="34" charset="-120"/>
              </a:rPr>
              <a:t>MULTIPLE CHOICE</a:t>
            </a:r>
            <a:endParaRPr lang="en-US" sz="1200"/>
          </a:p>
        </p:txBody>
      </p:sp>
      <p:sp>
        <p:nvSpPr>
          <p:cNvPr id="8" name="Text 6"/>
          <p:cNvSpPr/>
          <p:nvPr/>
        </p:nvSpPr>
        <p:spPr>
          <a:xfrm>
            <a:off x="548640" y="1371600"/>
            <a:ext cx="11064240" cy="1097280"/>
          </a:xfrm>
          <a:prstGeom prst="rect">
            <a:avLst/>
          </a:prstGeom>
          <a:noFill/>
          <a:ln/>
        </p:spPr>
        <p:txBody>
          <a:bodyPr wrap="square" rtlCol="0" anchor="t"/>
          <a:lstStyle/>
          <a:p>
            <a:pPr marL="0" indent="0">
              <a:buNone/>
            </a:pPr>
            <a:r>
              <a:rPr lang="en-US" sz="2600" b="1">
                <a:solidFill>
                  <a:srgbClr val="0B2545"/>
                </a:solidFill>
                <a:latin typeface="Calibri" pitchFamily="34" charset="0"/>
                <a:ea typeface="Calibri" pitchFamily="34" charset="-122"/>
                <a:cs typeface="Calibri" pitchFamily="34" charset="-120"/>
              </a:rPr>
              <a:t>A do-while loop is guaranteed to execute its body at least how many times?</a:t>
            </a:r>
            <a:endParaRPr lang="en-US" sz="2600"/>
          </a:p>
        </p:txBody>
      </p:sp>
      <p:sp>
        <p:nvSpPr>
          <p:cNvPr id="9" name="Shape 7"/>
          <p:cNvSpPr/>
          <p:nvPr/>
        </p:nvSpPr>
        <p:spPr>
          <a:xfrm>
            <a:off x="548640" y="2560320"/>
            <a:ext cx="457200" cy="457200"/>
          </a:xfrm>
          <a:prstGeom prst="ellipse">
            <a:avLst/>
          </a:prstGeom>
          <a:solidFill>
            <a:srgbClr val="EEF2FF"/>
          </a:solidFill>
          <a:ln w="12700">
            <a:solidFill>
              <a:srgbClr val="0B2545"/>
            </a:solidFill>
            <a:prstDash val="solid"/>
          </a:ln>
        </p:spPr>
        <p:txBody>
          <a:bodyPr/>
          <a:lstStyle/>
          <a:p>
            <a:endParaRPr lang="en-US"/>
          </a:p>
        </p:txBody>
      </p:sp>
      <p:sp>
        <p:nvSpPr>
          <p:cNvPr id="10" name="Text 8"/>
          <p:cNvSpPr/>
          <p:nvPr/>
        </p:nvSpPr>
        <p:spPr>
          <a:xfrm>
            <a:off x="548640" y="2560320"/>
            <a:ext cx="457200" cy="457200"/>
          </a:xfrm>
          <a:prstGeom prst="rect">
            <a:avLst/>
          </a:prstGeom>
          <a:noFill/>
          <a:ln/>
        </p:spPr>
        <p:txBody>
          <a:bodyPr wrap="square" lIns="0" tIns="0" rIns="0" bIns="0" rtlCol="0" anchor="ctr"/>
          <a:lstStyle/>
          <a:p>
            <a:pPr marL="0" indent="0" algn="ctr">
              <a:buNone/>
            </a:pPr>
            <a:r>
              <a:rPr lang="en-US" sz="1400" b="1">
                <a:solidFill>
                  <a:srgbClr val="0B2545"/>
                </a:solidFill>
                <a:latin typeface="Calibri" pitchFamily="34" charset="0"/>
                <a:ea typeface="Calibri" pitchFamily="34" charset="-122"/>
                <a:cs typeface="Calibri" pitchFamily="34" charset="-120"/>
              </a:rPr>
              <a:t>A</a:t>
            </a:r>
            <a:endParaRPr lang="en-US" sz="1400"/>
          </a:p>
        </p:txBody>
      </p:sp>
      <p:sp>
        <p:nvSpPr>
          <p:cNvPr id="11" name="Text 9"/>
          <p:cNvSpPr/>
          <p:nvPr/>
        </p:nvSpPr>
        <p:spPr>
          <a:xfrm>
            <a:off x="1143000" y="2578608"/>
            <a:ext cx="10469880" cy="457200"/>
          </a:xfrm>
          <a:prstGeom prst="rect">
            <a:avLst/>
          </a:prstGeom>
          <a:noFill/>
          <a:ln/>
        </p:spPr>
        <p:txBody>
          <a:bodyPr wrap="square" lIns="0" tIns="0" rIns="0" bIns="0" rtlCol="0" anchor="ctr"/>
          <a:lstStyle/>
          <a:p>
            <a:pPr marL="0" indent="0">
              <a:buNone/>
            </a:pPr>
            <a:r>
              <a:rPr lang="en-US" sz="1600">
                <a:solidFill>
                  <a:srgbClr val="1F2937"/>
                </a:solidFill>
                <a:latin typeface="Calibri" pitchFamily="34" charset="0"/>
                <a:ea typeface="Calibri" pitchFamily="34" charset="-122"/>
                <a:cs typeface="Calibri" pitchFamily="34" charset="-120"/>
              </a:rPr>
              <a:t>0</a:t>
            </a:r>
            <a:endParaRPr lang="en-US" sz="1600"/>
          </a:p>
        </p:txBody>
      </p:sp>
      <p:sp>
        <p:nvSpPr>
          <p:cNvPr id="12" name="Shape 10"/>
          <p:cNvSpPr/>
          <p:nvPr/>
        </p:nvSpPr>
        <p:spPr>
          <a:xfrm>
            <a:off x="548640" y="3154680"/>
            <a:ext cx="457200" cy="457200"/>
          </a:xfrm>
          <a:prstGeom prst="ellipse">
            <a:avLst/>
          </a:prstGeom>
          <a:solidFill>
            <a:srgbClr val="EEF2FF"/>
          </a:solidFill>
          <a:ln w="12700">
            <a:solidFill>
              <a:srgbClr val="0B2545"/>
            </a:solidFill>
            <a:prstDash val="solid"/>
          </a:ln>
        </p:spPr>
        <p:txBody>
          <a:bodyPr/>
          <a:lstStyle/>
          <a:p>
            <a:endParaRPr lang="en-US"/>
          </a:p>
        </p:txBody>
      </p:sp>
      <p:sp>
        <p:nvSpPr>
          <p:cNvPr id="13" name="Text 11"/>
          <p:cNvSpPr/>
          <p:nvPr/>
        </p:nvSpPr>
        <p:spPr>
          <a:xfrm>
            <a:off x="548640" y="3154680"/>
            <a:ext cx="457200" cy="457200"/>
          </a:xfrm>
          <a:prstGeom prst="rect">
            <a:avLst/>
          </a:prstGeom>
          <a:noFill/>
          <a:ln/>
        </p:spPr>
        <p:txBody>
          <a:bodyPr wrap="square" lIns="0" tIns="0" rIns="0" bIns="0" rtlCol="0" anchor="ctr"/>
          <a:lstStyle/>
          <a:p>
            <a:pPr marL="0" indent="0" algn="ctr">
              <a:buNone/>
            </a:pPr>
            <a:r>
              <a:rPr lang="en-US" sz="1400" b="1">
                <a:solidFill>
                  <a:srgbClr val="0B2545"/>
                </a:solidFill>
                <a:latin typeface="Calibri" pitchFamily="34" charset="0"/>
                <a:ea typeface="Calibri" pitchFamily="34" charset="-122"/>
                <a:cs typeface="Calibri" pitchFamily="34" charset="-120"/>
              </a:rPr>
              <a:t>B</a:t>
            </a:r>
            <a:endParaRPr lang="en-US" sz="1400"/>
          </a:p>
        </p:txBody>
      </p:sp>
      <p:sp>
        <p:nvSpPr>
          <p:cNvPr id="14" name="Text 12"/>
          <p:cNvSpPr/>
          <p:nvPr/>
        </p:nvSpPr>
        <p:spPr>
          <a:xfrm>
            <a:off x="1143000" y="3172968"/>
            <a:ext cx="10469880" cy="457200"/>
          </a:xfrm>
          <a:prstGeom prst="rect">
            <a:avLst/>
          </a:prstGeom>
          <a:noFill/>
          <a:ln/>
        </p:spPr>
        <p:txBody>
          <a:bodyPr wrap="square" lIns="0" tIns="0" rIns="0" bIns="0" rtlCol="0" anchor="ctr"/>
          <a:lstStyle/>
          <a:p>
            <a:pPr marL="0" indent="0">
              <a:buNone/>
            </a:pPr>
            <a:r>
              <a:rPr lang="en-US" sz="1600">
                <a:solidFill>
                  <a:srgbClr val="1F2937"/>
                </a:solidFill>
                <a:latin typeface="Calibri" pitchFamily="34" charset="0"/>
                <a:ea typeface="Calibri" pitchFamily="34" charset="-122"/>
                <a:cs typeface="Calibri" pitchFamily="34" charset="-120"/>
              </a:rPr>
              <a:t>1</a:t>
            </a:r>
            <a:endParaRPr lang="en-US" sz="1600"/>
          </a:p>
        </p:txBody>
      </p:sp>
      <p:sp>
        <p:nvSpPr>
          <p:cNvPr id="15" name="Shape 13"/>
          <p:cNvSpPr/>
          <p:nvPr/>
        </p:nvSpPr>
        <p:spPr>
          <a:xfrm>
            <a:off x="548640" y="3749040"/>
            <a:ext cx="457200" cy="457200"/>
          </a:xfrm>
          <a:prstGeom prst="ellipse">
            <a:avLst/>
          </a:prstGeom>
          <a:solidFill>
            <a:srgbClr val="EEF2FF"/>
          </a:solidFill>
          <a:ln w="12700">
            <a:solidFill>
              <a:srgbClr val="0B2545"/>
            </a:solidFill>
            <a:prstDash val="solid"/>
          </a:ln>
        </p:spPr>
        <p:txBody>
          <a:bodyPr/>
          <a:lstStyle/>
          <a:p>
            <a:endParaRPr lang="en-US"/>
          </a:p>
        </p:txBody>
      </p:sp>
      <p:sp>
        <p:nvSpPr>
          <p:cNvPr id="16" name="Text 14"/>
          <p:cNvSpPr/>
          <p:nvPr/>
        </p:nvSpPr>
        <p:spPr>
          <a:xfrm>
            <a:off x="548640" y="3749040"/>
            <a:ext cx="457200" cy="457200"/>
          </a:xfrm>
          <a:prstGeom prst="rect">
            <a:avLst/>
          </a:prstGeom>
          <a:noFill/>
          <a:ln/>
        </p:spPr>
        <p:txBody>
          <a:bodyPr wrap="square" lIns="0" tIns="0" rIns="0" bIns="0" rtlCol="0" anchor="ctr"/>
          <a:lstStyle/>
          <a:p>
            <a:pPr marL="0" indent="0" algn="ctr">
              <a:buNone/>
            </a:pPr>
            <a:r>
              <a:rPr lang="en-US" sz="1400" b="1">
                <a:solidFill>
                  <a:srgbClr val="0B2545"/>
                </a:solidFill>
                <a:latin typeface="Calibri" pitchFamily="34" charset="0"/>
                <a:ea typeface="Calibri" pitchFamily="34" charset="-122"/>
                <a:cs typeface="Calibri" pitchFamily="34" charset="-120"/>
              </a:rPr>
              <a:t>C</a:t>
            </a:r>
            <a:endParaRPr lang="en-US" sz="1400"/>
          </a:p>
        </p:txBody>
      </p:sp>
      <p:sp>
        <p:nvSpPr>
          <p:cNvPr id="17" name="Text 15"/>
          <p:cNvSpPr/>
          <p:nvPr/>
        </p:nvSpPr>
        <p:spPr>
          <a:xfrm>
            <a:off x="1143000" y="3767328"/>
            <a:ext cx="10469880" cy="457200"/>
          </a:xfrm>
          <a:prstGeom prst="rect">
            <a:avLst/>
          </a:prstGeom>
          <a:noFill/>
          <a:ln/>
        </p:spPr>
        <p:txBody>
          <a:bodyPr wrap="square" lIns="0" tIns="0" rIns="0" bIns="0" rtlCol="0" anchor="ctr"/>
          <a:lstStyle/>
          <a:p>
            <a:pPr marL="0" indent="0">
              <a:buNone/>
            </a:pPr>
            <a:r>
              <a:rPr lang="en-US" sz="1600">
                <a:solidFill>
                  <a:srgbClr val="1F2937"/>
                </a:solidFill>
                <a:latin typeface="Calibri" pitchFamily="34" charset="0"/>
                <a:ea typeface="Calibri" pitchFamily="34" charset="-122"/>
                <a:cs typeface="Calibri" pitchFamily="34" charset="-120"/>
              </a:rPr>
              <a:t>2</a:t>
            </a:r>
            <a:endParaRPr lang="en-US" sz="1600"/>
          </a:p>
        </p:txBody>
      </p:sp>
      <p:sp>
        <p:nvSpPr>
          <p:cNvPr id="18" name="Shape 16"/>
          <p:cNvSpPr/>
          <p:nvPr/>
        </p:nvSpPr>
        <p:spPr>
          <a:xfrm>
            <a:off x="548640" y="4343400"/>
            <a:ext cx="457200" cy="457200"/>
          </a:xfrm>
          <a:prstGeom prst="ellipse">
            <a:avLst/>
          </a:prstGeom>
          <a:solidFill>
            <a:srgbClr val="EEF2FF"/>
          </a:solidFill>
          <a:ln w="12700">
            <a:solidFill>
              <a:srgbClr val="0B2545"/>
            </a:solidFill>
            <a:prstDash val="solid"/>
          </a:ln>
        </p:spPr>
        <p:txBody>
          <a:bodyPr/>
          <a:lstStyle/>
          <a:p>
            <a:endParaRPr lang="en-US"/>
          </a:p>
        </p:txBody>
      </p:sp>
      <p:sp>
        <p:nvSpPr>
          <p:cNvPr id="19" name="Text 17"/>
          <p:cNvSpPr/>
          <p:nvPr/>
        </p:nvSpPr>
        <p:spPr>
          <a:xfrm>
            <a:off x="548640" y="4343400"/>
            <a:ext cx="457200" cy="457200"/>
          </a:xfrm>
          <a:prstGeom prst="rect">
            <a:avLst/>
          </a:prstGeom>
          <a:noFill/>
          <a:ln/>
        </p:spPr>
        <p:txBody>
          <a:bodyPr wrap="square" lIns="0" tIns="0" rIns="0" bIns="0" rtlCol="0" anchor="ctr"/>
          <a:lstStyle/>
          <a:p>
            <a:pPr marL="0" indent="0" algn="ctr">
              <a:buNone/>
            </a:pPr>
            <a:r>
              <a:rPr lang="en-US" sz="1400" b="1">
                <a:solidFill>
                  <a:srgbClr val="0B2545"/>
                </a:solidFill>
                <a:latin typeface="Calibri" pitchFamily="34" charset="0"/>
                <a:ea typeface="Calibri" pitchFamily="34" charset="-122"/>
                <a:cs typeface="Calibri" pitchFamily="34" charset="-120"/>
              </a:rPr>
              <a:t>D</a:t>
            </a:r>
            <a:endParaRPr lang="en-US" sz="1400"/>
          </a:p>
        </p:txBody>
      </p:sp>
      <p:sp>
        <p:nvSpPr>
          <p:cNvPr id="20" name="Text 18"/>
          <p:cNvSpPr/>
          <p:nvPr/>
        </p:nvSpPr>
        <p:spPr>
          <a:xfrm>
            <a:off x="1143000" y="4361688"/>
            <a:ext cx="10469880" cy="457200"/>
          </a:xfrm>
          <a:prstGeom prst="rect">
            <a:avLst/>
          </a:prstGeom>
          <a:noFill/>
          <a:ln/>
        </p:spPr>
        <p:txBody>
          <a:bodyPr wrap="square" lIns="0" tIns="0" rIns="0" bIns="0" rtlCol="0" anchor="ctr"/>
          <a:lstStyle/>
          <a:p>
            <a:pPr marL="0" indent="0">
              <a:buNone/>
            </a:pPr>
            <a:r>
              <a:rPr lang="en-US" sz="1600">
                <a:solidFill>
                  <a:srgbClr val="1F2937"/>
                </a:solidFill>
                <a:latin typeface="Calibri" pitchFamily="34" charset="0"/>
                <a:ea typeface="Calibri" pitchFamily="34" charset="-122"/>
                <a:cs typeface="Calibri" pitchFamily="34" charset="-120"/>
              </a:rPr>
              <a:t>It depends on the condition</a:t>
            </a:r>
            <a:endParaRPr lang="en-US" sz="1600"/>
          </a:p>
        </p:txBody>
      </p:sp>
      <p:sp>
        <p:nvSpPr>
          <p:cNvPr id="21" name="Shape 19"/>
          <p:cNvSpPr/>
          <p:nvPr/>
        </p:nvSpPr>
        <p:spPr>
          <a:xfrm>
            <a:off x="548640" y="6492240"/>
            <a:ext cx="11064240" cy="0"/>
          </a:xfrm>
          <a:prstGeom prst="line">
            <a:avLst/>
          </a:prstGeom>
          <a:noFill/>
          <a:ln w="9525">
            <a:solidFill>
              <a:srgbClr val="E5E7EB"/>
            </a:solidFill>
            <a:prstDash val="solid"/>
          </a:ln>
        </p:spPr>
        <p:txBody>
          <a:bodyPr/>
          <a:lstStyle/>
          <a:p>
            <a:endParaRPr lang="en-US"/>
          </a:p>
        </p:txBody>
      </p:sp>
      <p:sp>
        <p:nvSpPr>
          <p:cNvPr id="22" name="Text 20"/>
          <p:cNvSpPr/>
          <p:nvPr/>
        </p:nvSpPr>
        <p:spPr>
          <a:xfrm>
            <a:off x="548640" y="6537960"/>
            <a:ext cx="5486400" cy="274320"/>
          </a:xfrm>
          <a:prstGeom prst="rect">
            <a:avLst/>
          </a:prstGeom>
          <a:noFill/>
          <a:ln/>
        </p:spPr>
        <p:txBody>
          <a:bodyPr wrap="square" rtlCol="0" anchor="ctr"/>
          <a:lstStyle/>
          <a:p>
            <a:pPr marL="0" indent="0">
              <a:buNone/>
            </a:pPr>
            <a:r>
              <a:rPr lang="en-US" sz="1000">
                <a:solidFill>
                  <a:srgbClr val="6B7280"/>
                </a:solidFill>
                <a:latin typeface="Calibri" pitchFamily="34" charset="0"/>
                <a:ea typeface="Calibri" pitchFamily="34" charset="-122"/>
                <a:cs typeface="Calibri" pitchFamily="34" charset="-120"/>
              </a:rPr>
              <a:t>C# Concepts Quiz</a:t>
            </a:r>
            <a:endParaRPr lang="en-US" sz="10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F59E0B"/>
          </a:solidFill>
          <a:ln w="12700">
            <a:solidFill>
              <a:srgbClr val="F59E0B"/>
            </a:solidFill>
            <a:prstDash val="solid"/>
          </a:ln>
        </p:spPr>
        <p:txBody>
          <a:bodyPr/>
          <a:lstStyle/>
          <a:p>
            <a:endParaRPr lang="en-US"/>
          </a:p>
        </p:txBody>
      </p:sp>
      <p:sp>
        <p:nvSpPr>
          <p:cNvPr id="3" name="Shape 1"/>
          <p:cNvSpPr/>
          <p:nvPr/>
        </p:nvSpPr>
        <p:spPr>
          <a:xfrm>
            <a:off x="548640" y="365760"/>
            <a:ext cx="4023360" cy="411480"/>
          </a:xfrm>
          <a:prstGeom prst="rect">
            <a:avLst/>
          </a:prstGeom>
          <a:solidFill>
            <a:srgbClr val="FFF7E6"/>
          </a:solidFill>
          <a:ln w="9525">
            <a:solidFill>
              <a:srgbClr val="F59E0B"/>
            </a:solidFill>
            <a:prstDash val="solid"/>
          </a:ln>
        </p:spPr>
        <p:txBody>
          <a:bodyPr/>
          <a:lstStyle/>
          <a:p>
            <a:endParaRPr lang="en-US"/>
          </a:p>
        </p:txBody>
      </p:sp>
      <p:sp>
        <p:nvSpPr>
          <p:cNvPr id="4" name="Text 2"/>
          <p:cNvSpPr/>
          <p:nvPr/>
        </p:nvSpPr>
        <p:spPr>
          <a:xfrm>
            <a:off x="548640" y="365760"/>
            <a:ext cx="4023360" cy="411480"/>
          </a:xfrm>
          <a:prstGeom prst="rect">
            <a:avLst/>
          </a:prstGeom>
          <a:noFill/>
          <a:ln/>
        </p:spPr>
        <p:txBody>
          <a:bodyPr wrap="square" rtlCol="0" anchor="ctr"/>
          <a:lstStyle/>
          <a:p>
            <a:pPr marL="0" indent="0" algn="ctr">
              <a:buNone/>
            </a:pPr>
            <a:r>
              <a:rPr lang="en-US" sz="1100" b="1" kern="0" spc="200">
                <a:solidFill>
                  <a:srgbClr val="0B2545"/>
                </a:solidFill>
                <a:latin typeface="Calibri" pitchFamily="34" charset="0"/>
                <a:ea typeface="Calibri" pitchFamily="34" charset="-122"/>
                <a:cs typeface="Calibri" pitchFamily="34" charset="-120"/>
              </a:rPr>
              <a:t>SECTION 7 — DO-WHILE LOOPS</a:t>
            </a:r>
            <a:endParaRPr lang="en-US" sz="1100"/>
          </a:p>
        </p:txBody>
      </p:sp>
      <p:sp>
        <p:nvSpPr>
          <p:cNvPr id="5" name="Shape 3"/>
          <p:cNvSpPr/>
          <p:nvPr/>
        </p:nvSpPr>
        <p:spPr>
          <a:xfrm>
            <a:off x="9418320" y="365760"/>
            <a:ext cx="2194560" cy="411480"/>
          </a:xfrm>
          <a:prstGeom prst="rect">
            <a:avLst/>
          </a:prstGeom>
          <a:solidFill>
            <a:srgbClr val="ECFDF5"/>
          </a:solidFill>
          <a:ln w="9525">
            <a:solidFill>
              <a:srgbClr val="10B981"/>
            </a:solidFill>
            <a:prstDash val="solid"/>
          </a:ln>
        </p:spPr>
        <p:txBody>
          <a:bodyPr/>
          <a:lstStyle/>
          <a:p>
            <a:endParaRPr lang="en-US"/>
          </a:p>
        </p:txBody>
      </p:sp>
      <p:sp>
        <p:nvSpPr>
          <p:cNvPr id="6" name="Text 4"/>
          <p:cNvSpPr/>
          <p:nvPr/>
        </p:nvSpPr>
        <p:spPr>
          <a:xfrm>
            <a:off x="9418320" y="365760"/>
            <a:ext cx="2194560" cy="411480"/>
          </a:xfrm>
          <a:prstGeom prst="rect">
            <a:avLst/>
          </a:prstGeom>
          <a:noFill/>
          <a:ln/>
        </p:spPr>
        <p:txBody>
          <a:bodyPr wrap="square" rtlCol="0" anchor="ctr"/>
          <a:lstStyle/>
          <a:p>
            <a:pPr marL="0" indent="0" algn="ctr">
              <a:buNone/>
            </a:pPr>
            <a:r>
              <a:rPr lang="en-US" sz="1100" b="1" kern="0" spc="200">
                <a:solidFill>
                  <a:srgbClr val="10B981"/>
                </a:solidFill>
                <a:latin typeface="Calibri" pitchFamily="34" charset="0"/>
                <a:ea typeface="Calibri" pitchFamily="34" charset="-122"/>
                <a:cs typeface="Calibri" pitchFamily="34" charset="-120"/>
              </a:rPr>
              <a:t>Q17  ·  ANSWER</a:t>
            </a:r>
            <a:endParaRPr lang="en-US" sz="1100"/>
          </a:p>
        </p:txBody>
      </p:sp>
      <p:sp>
        <p:nvSpPr>
          <p:cNvPr id="7" name="Text 5"/>
          <p:cNvSpPr/>
          <p:nvPr/>
        </p:nvSpPr>
        <p:spPr>
          <a:xfrm>
            <a:off x="548640" y="1005840"/>
            <a:ext cx="11064240" cy="640080"/>
          </a:xfrm>
          <a:prstGeom prst="rect">
            <a:avLst/>
          </a:prstGeom>
          <a:noFill/>
          <a:ln/>
        </p:spPr>
        <p:txBody>
          <a:bodyPr wrap="square" rtlCol="0" anchor="t"/>
          <a:lstStyle/>
          <a:p>
            <a:pPr marL="0" indent="0">
              <a:buNone/>
            </a:pPr>
            <a:r>
              <a:rPr lang="en-US" sz="1500" i="1">
                <a:solidFill>
                  <a:srgbClr val="6B7280"/>
                </a:solidFill>
                <a:latin typeface="Calibri" pitchFamily="34" charset="0"/>
                <a:ea typeface="Calibri" pitchFamily="34" charset="-122"/>
                <a:cs typeface="Calibri" pitchFamily="34" charset="-120"/>
              </a:rPr>
              <a:t>A do-while loop is guaranteed to execute its body at least how many times?</a:t>
            </a:r>
            <a:endParaRPr lang="en-US" sz="1500"/>
          </a:p>
        </p:txBody>
      </p:sp>
      <p:sp>
        <p:nvSpPr>
          <p:cNvPr id="8" name="Shape 6"/>
          <p:cNvSpPr/>
          <p:nvPr/>
        </p:nvSpPr>
        <p:spPr>
          <a:xfrm>
            <a:off x="548640" y="1783080"/>
            <a:ext cx="11064240" cy="0"/>
          </a:xfrm>
          <a:prstGeom prst="line">
            <a:avLst/>
          </a:prstGeom>
          <a:noFill/>
          <a:ln w="12700">
            <a:solidFill>
              <a:srgbClr val="E5E7EB"/>
            </a:solidFill>
            <a:prstDash val="solid"/>
          </a:ln>
        </p:spPr>
        <p:txBody>
          <a:bodyPr/>
          <a:lstStyle/>
          <a:p>
            <a:endParaRPr lang="en-US"/>
          </a:p>
        </p:txBody>
      </p:sp>
      <p:sp>
        <p:nvSpPr>
          <p:cNvPr id="9" name="Shape 7"/>
          <p:cNvSpPr/>
          <p:nvPr/>
        </p:nvSpPr>
        <p:spPr>
          <a:xfrm>
            <a:off x="548640" y="1965960"/>
            <a:ext cx="11064240" cy="640080"/>
          </a:xfrm>
          <a:prstGeom prst="rect">
            <a:avLst/>
          </a:prstGeom>
          <a:solidFill>
            <a:srgbClr val="ECFDF5"/>
          </a:solidFill>
          <a:ln w="12700">
            <a:solidFill>
              <a:srgbClr val="10B981"/>
            </a:solidFill>
            <a:prstDash val="solid"/>
          </a:ln>
        </p:spPr>
        <p:txBody>
          <a:bodyPr/>
          <a:lstStyle/>
          <a:p>
            <a:endParaRPr lang="en-US"/>
          </a:p>
        </p:txBody>
      </p:sp>
      <p:sp>
        <p:nvSpPr>
          <p:cNvPr id="10" name="Text 8"/>
          <p:cNvSpPr/>
          <p:nvPr/>
        </p:nvSpPr>
        <p:spPr>
          <a:xfrm>
            <a:off x="777240" y="1965960"/>
            <a:ext cx="10607040" cy="640080"/>
          </a:xfrm>
          <a:prstGeom prst="rect">
            <a:avLst/>
          </a:prstGeom>
          <a:noFill/>
          <a:ln/>
        </p:spPr>
        <p:txBody>
          <a:bodyPr wrap="square" rtlCol="0" anchor="ctr"/>
          <a:lstStyle/>
          <a:p>
            <a:pPr marL="0" indent="0">
              <a:buNone/>
            </a:pPr>
            <a:r>
              <a:rPr lang="en-US" sz="1800" b="1">
                <a:solidFill>
                  <a:srgbClr val="065F46"/>
                </a:solidFill>
                <a:latin typeface="Calibri" pitchFamily="34" charset="0"/>
                <a:ea typeface="Calibri" pitchFamily="34" charset="-122"/>
                <a:cs typeface="Calibri" pitchFamily="34" charset="-120"/>
              </a:rPr>
              <a:t>Correct answer: B — at least one time.</a:t>
            </a:r>
            <a:endParaRPr lang="en-US" sz="1800"/>
          </a:p>
        </p:txBody>
      </p:sp>
      <p:sp>
        <p:nvSpPr>
          <p:cNvPr id="11" name="Text 9"/>
          <p:cNvSpPr/>
          <p:nvPr/>
        </p:nvSpPr>
        <p:spPr>
          <a:xfrm>
            <a:off x="548640" y="2788920"/>
            <a:ext cx="11064240" cy="320040"/>
          </a:xfrm>
          <a:prstGeom prst="rect">
            <a:avLst/>
          </a:prstGeom>
          <a:noFill/>
          <a:ln/>
        </p:spPr>
        <p:txBody>
          <a:bodyPr wrap="square" rtlCol="0" anchor="ctr"/>
          <a:lstStyle/>
          <a:p>
            <a:pPr marL="0" indent="0">
              <a:buNone/>
            </a:pPr>
            <a:r>
              <a:rPr lang="en-US" sz="1200" b="1" kern="0" spc="300">
                <a:solidFill>
                  <a:srgbClr val="F59E0B"/>
                </a:solidFill>
                <a:latin typeface="Calibri" pitchFamily="34" charset="0"/>
                <a:ea typeface="Calibri" pitchFamily="34" charset="-122"/>
                <a:cs typeface="Calibri" pitchFamily="34" charset="-120"/>
              </a:rPr>
              <a:t>Explanation</a:t>
            </a:r>
            <a:endParaRPr lang="en-US" sz="1200"/>
          </a:p>
        </p:txBody>
      </p:sp>
      <p:sp>
        <p:nvSpPr>
          <p:cNvPr id="12" name="Text 10"/>
          <p:cNvSpPr/>
          <p:nvPr/>
        </p:nvSpPr>
        <p:spPr>
          <a:xfrm>
            <a:off x="548640" y="3154680"/>
            <a:ext cx="11064240" cy="2788920"/>
          </a:xfrm>
          <a:prstGeom prst="rect">
            <a:avLst/>
          </a:prstGeom>
          <a:noFill/>
          <a:ln/>
        </p:spPr>
        <p:txBody>
          <a:bodyPr wrap="square" rtlCol="0" anchor="t"/>
          <a:lstStyle/>
          <a:p>
            <a:pPr marL="0" indent="0">
              <a:buNone/>
            </a:pPr>
            <a:r>
              <a:rPr lang="en-US" sz="1600">
                <a:solidFill>
                  <a:srgbClr val="13315C"/>
                </a:solidFill>
                <a:latin typeface="Calibri" pitchFamily="34" charset="0"/>
                <a:ea typeface="Calibri" pitchFamily="34" charset="-122"/>
                <a:cs typeface="Calibri" pitchFamily="34" charset="-120"/>
              </a:rPr>
              <a:t>do-while is a post-test loop: the body runs first, then the condition is checked. Even if the condition is false on the first check, the body has already executed once, guaranteeing a single pass.</a:t>
            </a:r>
            <a:endParaRPr lang="en-US" sz="1600"/>
          </a:p>
        </p:txBody>
      </p:sp>
      <p:sp>
        <p:nvSpPr>
          <p:cNvPr id="13" name="Shape 11"/>
          <p:cNvSpPr/>
          <p:nvPr/>
        </p:nvSpPr>
        <p:spPr>
          <a:xfrm>
            <a:off x="548640" y="6492240"/>
            <a:ext cx="11064240" cy="0"/>
          </a:xfrm>
          <a:prstGeom prst="line">
            <a:avLst/>
          </a:prstGeom>
          <a:noFill/>
          <a:ln w="9525">
            <a:solidFill>
              <a:srgbClr val="E5E7EB"/>
            </a:solidFill>
            <a:prstDash val="solid"/>
          </a:ln>
        </p:spPr>
        <p:txBody>
          <a:bodyPr/>
          <a:lstStyle/>
          <a:p>
            <a:endParaRPr lang="en-US"/>
          </a:p>
        </p:txBody>
      </p:sp>
      <p:sp>
        <p:nvSpPr>
          <p:cNvPr id="14" name="Text 12"/>
          <p:cNvSpPr/>
          <p:nvPr/>
        </p:nvSpPr>
        <p:spPr>
          <a:xfrm>
            <a:off x="548640" y="6537960"/>
            <a:ext cx="5486400" cy="274320"/>
          </a:xfrm>
          <a:prstGeom prst="rect">
            <a:avLst/>
          </a:prstGeom>
          <a:noFill/>
          <a:ln/>
        </p:spPr>
        <p:txBody>
          <a:bodyPr wrap="square" rtlCol="0" anchor="ctr"/>
          <a:lstStyle/>
          <a:p>
            <a:pPr marL="0" indent="0">
              <a:buNone/>
            </a:pPr>
            <a:r>
              <a:rPr lang="en-US" sz="1000">
                <a:solidFill>
                  <a:srgbClr val="6B7280"/>
                </a:solidFill>
                <a:latin typeface="Calibri" pitchFamily="34" charset="0"/>
                <a:ea typeface="Calibri" pitchFamily="34" charset="-122"/>
                <a:cs typeface="Calibri" pitchFamily="34" charset="-120"/>
              </a:rPr>
              <a:t>C# Concepts Quiz</a:t>
            </a:r>
            <a:endParaRPr lang="en-US" sz="10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F59E0B"/>
          </a:solidFill>
          <a:ln w="12700">
            <a:solidFill>
              <a:srgbClr val="F59E0B"/>
            </a:solidFill>
            <a:prstDash val="solid"/>
          </a:ln>
        </p:spPr>
        <p:txBody>
          <a:bodyPr/>
          <a:lstStyle/>
          <a:p>
            <a:endParaRPr lang="en-US"/>
          </a:p>
        </p:txBody>
      </p:sp>
      <p:sp>
        <p:nvSpPr>
          <p:cNvPr id="3" name="Shape 1"/>
          <p:cNvSpPr/>
          <p:nvPr/>
        </p:nvSpPr>
        <p:spPr>
          <a:xfrm>
            <a:off x="548640" y="365760"/>
            <a:ext cx="4023360" cy="411480"/>
          </a:xfrm>
          <a:prstGeom prst="rect">
            <a:avLst/>
          </a:prstGeom>
          <a:solidFill>
            <a:srgbClr val="FFF7E6"/>
          </a:solidFill>
          <a:ln w="9525">
            <a:solidFill>
              <a:srgbClr val="F59E0B"/>
            </a:solidFill>
            <a:prstDash val="solid"/>
          </a:ln>
        </p:spPr>
        <p:txBody>
          <a:bodyPr/>
          <a:lstStyle/>
          <a:p>
            <a:endParaRPr lang="en-US"/>
          </a:p>
        </p:txBody>
      </p:sp>
      <p:sp>
        <p:nvSpPr>
          <p:cNvPr id="4" name="Text 2"/>
          <p:cNvSpPr/>
          <p:nvPr/>
        </p:nvSpPr>
        <p:spPr>
          <a:xfrm>
            <a:off x="548640" y="365760"/>
            <a:ext cx="4023360" cy="411480"/>
          </a:xfrm>
          <a:prstGeom prst="rect">
            <a:avLst/>
          </a:prstGeom>
          <a:noFill/>
          <a:ln/>
        </p:spPr>
        <p:txBody>
          <a:bodyPr wrap="square" rtlCol="0" anchor="ctr"/>
          <a:lstStyle/>
          <a:p>
            <a:pPr marL="0" indent="0" algn="ctr">
              <a:buNone/>
            </a:pPr>
            <a:r>
              <a:rPr lang="en-US" sz="1100" b="1" kern="0" spc="200">
                <a:solidFill>
                  <a:srgbClr val="0B2545"/>
                </a:solidFill>
                <a:latin typeface="Calibri" pitchFamily="34" charset="0"/>
                <a:ea typeface="Calibri" pitchFamily="34" charset="-122"/>
                <a:cs typeface="Calibri" pitchFamily="34" charset="-120"/>
              </a:rPr>
              <a:t>SECTION 7 — DO-WHILE LOOPS</a:t>
            </a:r>
            <a:endParaRPr lang="en-US" sz="1100"/>
          </a:p>
        </p:txBody>
      </p:sp>
      <p:sp>
        <p:nvSpPr>
          <p:cNvPr id="5" name="Shape 3"/>
          <p:cNvSpPr/>
          <p:nvPr/>
        </p:nvSpPr>
        <p:spPr>
          <a:xfrm>
            <a:off x="9418320" y="365760"/>
            <a:ext cx="2194560" cy="411480"/>
          </a:xfrm>
          <a:prstGeom prst="rect">
            <a:avLst/>
          </a:prstGeom>
          <a:solidFill>
            <a:srgbClr val="EEF2FF"/>
          </a:solidFill>
          <a:ln w="9525">
            <a:solidFill>
              <a:srgbClr val="0B2545"/>
            </a:solidFill>
            <a:prstDash val="solid"/>
          </a:ln>
        </p:spPr>
        <p:txBody>
          <a:bodyPr/>
          <a:lstStyle/>
          <a:p>
            <a:endParaRPr lang="en-US"/>
          </a:p>
        </p:txBody>
      </p:sp>
      <p:sp>
        <p:nvSpPr>
          <p:cNvPr id="6" name="Text 4"/>
          <p:cNvSpPr/>
          <p:nvPr/>
        </p:nvSpPr>
        <p:spPr>
          <a:xfrm>
            <a:off x="9418320" y="365760"/>
            <a:ext cx="2194560" cy="411480"/>
          </a:xfrm>
          <a:prstGeom prst="rect">
            <a:avLst/>
          </a:prstGeom>
          <a:noFill/>
          <a:ln/>
        </p:spPr>
        <p:txBody>
          <a:bodyPr wrap="square" rtlCol="0" anchor="ctr"/>
          <a:lstStyle/>
          <a:p>
            <a:pPr marL="0" indent="0" algn="ctr">
              <a:buNone/>
            </a:pPr>
            <a:r>
              <a:rPr lang="en-US" sz="1100" b="1" kern="0" spc="200">
                <a:solidFill>
                  <a:srgbClr val="0B2545"/>
                </a:solidFill>
                <a:latin typeface="Calibri" pitchFamily="34" charset="0"/>
                <a:ea typeface="Calibri" pitchFamily="34" charset="-122"/>
                <a:cs typeface="Calibri" pitchFamily="34" charset="-120"/>
              </a:rPr>
              <a:t>Q18  ·  QUESTION</a:t>
            </a:r>
            <a:endParaRPr lang="en-US" sz="1100"/>
          </a:p>
        </p:txBody>
      </p:sp>
      <p:sp>
        <p:nvSpPr>
          <p:cNvPr id="7" name="Text 5"/>
          <p:cNvSpPr/>
          <p:nvPr/>
        </p:nvSpPr>
        <p:spPr>
          <a:xfrm>
            <a:off x="548640" y="1005840"/>
            <a:ext cx="11064240" cy="320040"/>
          </a:xfrm>
          <a:prstGeom prst="rect">
            <a:avLst/>
          </a:prstGeom>
          <a:noFill/>
          <a:ln/>
        </p:spPr>
        <p:txBody>
          <a:bodyPr wrap="square" rtlCol="0" anchor="ctr"/>
          <a:lstStyle/>
          <a:p>
            <a:pPr marL="0" indent="0">
              <a:buNone/>
            </a:pPr>
            <a:r>
              <a:rPr lang="en-US" sz="1200" b="1" kern="0" spc="300">
                <a:solidFill>
                  <a:srgbClr val="F59E0B"/>
                </a:solidFill>
                <a:latin typeface="Calibri" pitchFamily="34" charset="0"/>
                <a:ea typeface="Calibri" pitchFamily="34" charset="-122"/>
                <a:cs typeface="Calibri" pitchFamily="34" charset="-120"/>
              </a:rPr>
              <a:t>MULTIPLE CHOICE</a:t>
            </a:r>
            <a:endParaRPr lang="en-US" sz="1200"/>
          </a:p>
        </p:txBody>
      </p:sp>
      <p:sp>
        <p:nvSpPr>
          <p:cNvPr id="8" name="Text 6"/>
          <p:cNvSpPr/>
          <p:nvPr/>
        </p:nvSpPr>
        <p:spPr>
          <a:xfrm>
            <a:off x="548640" y="1371600"/>
            <a:ext cx="11064240" cy="1097280"/>
          </a:xfrm>
          <a:prstGeom prst="rect">
            <a:avLst/>
          </a:prstGeom>
          <a:noFill/>
          <a:ln/>
        </p:spPr>
        <p:txBody>
          <a:bodyPr wrap="square" rtlCol="0" anchor="t"/>
          <a:lstStyle/>
          <a:p>
            <a:pPr marL="0" indent="0">
              <a:buNone/>
            </a:pPr>
            <a:r>
              <a:rPr lang="en-US" sz="2600" b="1">
                <a:solidFill>
                  <a:srgbClr val="0B2545"/>
                </a:solidFill>
                <a:latin typeface="Calibri" pitchFamily="34" charset="0"/>
                <a:ea typeface="Calibri" pitchFamily="34" charset="-122"/>
                <a:cs typeface="Calibri" pitchFamily="34" charset="-120"/>
              </a:rPr>
              <a:t>What punctuation must follow the while(condition) at the end of a do-while loop?</a:t>
            </a:r>
            <a:endParaRPr lang="en-US" sz="2600"/>
          </a:p>
        </p:txBody>
      </p:sp>
      <p:sp>
        <p:nvSpPr>
          <p:cNvPr id="9" name="Shape 7"/>
          <p:cNvSpPr/>
          <p:nvPr/>
        </p:nvSpPr>
        <p:spPr>
          <a:xfrm>
            <a:off x="548640" y="2560320"/>
            <a:ext cx="457200" cy="457200"/>
          </a:xfrm>
          <a:prstGeom prst="ellipse">
            <a:avLst/>
          </a:prstGeom>
          <a:solidFill>
            <a:srgbClr val="EEF2FF"/>
          </a:solidFill>
          <a:ln w="12700">
            <a:solidFill>
              <a:srgbClr val="0B2545"/>
            </a:solidFill>
            <a:prstDash val="solid"/>
          </a:ln>
        </p:spPr>
        <p:txBody>
          <a:bodyPr/>
          <a:lstStyle/>
          <a:p>
            <a:endParaRPr lang="en-US"/>
          </a:p>
        </p:txBody>
      </p:sp>
      <p:sp>
        <p:nvSpPr>
          <p:cNvPr id="10" name="Text 8"/>
          <p:cNvSpPr/>
          <p:nvPr/>
        </p:nvSpPr>
        <p:spPr>
          <a:xfrm>
            <a:off x="548640" y="2560320"/>
            <a:ext cx="457200" cy="457200"/>
          </a:xfrm>
          <a:prstGeom prst="rect">
            <a:avLst/>
          </a:prstGeom>
          <a:noFill/>
          <a:ln/>
        </p:spPr>
        <p:txBody>
          <a:bodyPr wrap="square" lIns="0" tIns="0" rIns="0" bIns="0" rtlCol="0" anchor="ctr"/>
          <a:lstStyle/>
          <a:p>
            <a:pPr marL="0" indent="0" algn="ctr">
              <a:buNone/>
            </a:pPr>
            <a:r>
              <a:rPr lang="en-US" sz="1400" b="1">
                <a:solidFill>
                  <a:srgbClr val="0B2545"/>
                </a:solidFill>
                <a:latin typeface="Calibri" pitchFamily="34" charset="0"/>
                <a:ea typeface="Calibri" pitchFamily="34" charset="-122"/>
                <a:cs typeface="Calibri" pitchFamily="34" charset="-120"/>
              </a:rPr>
              <a:t>A</a:t>
            </a:r>
            <a:endParaRPr lang="en-US" sz="1400"/>
          </a:p>
        </p:txBody>
      </p:sp>
      <p:sp>
        <p:nvSpPr>
          <p:cNvPr id="11" name="Text 9"/>
          <p:cNvSpPr/>
          <p:nvPr/>
        </p:nvSpPr>
        <p:spPr>
          <a:xfrm>
            <a:off x="1143000" y="2578608"/>
            <a:ext cx="10469880" cy="457200"/>
          </a:xfrm>
          <a:prstGeom prst="rect">
            <a:avLst/>
          </a:prstGeom>
          <a:noFill/>
          <a:ln/>
        </p:spPr>
        <p:txBody>
          <a:bodyPr wrap="square" lIns="0" tIns="0" rIns="0" bIns="0" rtlCol="0" anchor="ctr"/>
          <a:lstStyle/>
          <a:p>
            <a:pPr marL="0" indent="0">
              <a:buNone/>
            </a:pPr>
            <a:r>
              <a:rPr lang="en-US" sz="1600">
                <a:solidFill>
                  <a:srgbClr val="1F2937"/>
                </a:solidFill>
                <a:latin typeface="Calibri" pitchFamily="34" charset="0"/>
                <a:ea typeface="Calibri" pitchFamily="34" charset="-122"/>
                <a:cs typeface="Calibri" pitchFamily="34" charset="-120"/>
              </a:rPr>
              <a:t>Nothing</a:t>
            </a:r>
            <a:endParaRPr lang="en-US" sz="1600"/>
          </a:p>
        </p:txBody>
      </p:sp>
      <p:sp>
        <p:nvSpPr>
          <p:cNvPr id="12" name="Shape 10"/>
          <p:cNvSpPr/>
          <p:nvPr/>
        </p:nvSpPr>
        <p:spPr>
          <a:xfrm>
            <a:off x="548640" y="3154680"/>
            <a:ext cx="457200" cy="457200"/>
          </a:xfrm>
          <a:prstGeom prst="ellipse">
            <a:avLst/>
          </a:prstGeom>
          <a:solidFill>
            <a:srgbClr val="EEF2FF"/>
          </a:solidFill>
          <a:ln w="12700">
            <a:solidFill>
              <a:srgbClr val="0B2545"/>
            </a:solidFill>
            <a:prstDash val="solid"/>
          </a:ln>
        </p:spPr>
        <p:txBody>
          <a:bodyPr/>
          <a:lstStyle/>
          <a:p>
            <a:endParaRPr lang="en-US"/>
          </a:p>
        </p:txBody>
      </p:sp>
      <p:sp>
        <p:nvSpPr>
          <p:cNvPr id="13" name="Text 11"/>
          <p:cNvSpPr/>
          <p:nvPr/>
        </p:nvSpPr>
        <p:spPr>
          <a:xfrm>
            <a:off x="548640" y="3154680"/>
            <a:ext cx="457200" cy="457200"/>
          </a:xfrm>
          <a:prstGeom prst="rect">
            <a:avLst/>
          </a:prstGeom>
          <a:noFill/>
          <a:ln/>
        </p:spPr>
        <p:txBody>
          <a:bodyPr wrap="square" lIns="0" tIns="0" rIns="0" bIns="0" rtlCol="0" anchor="ctr"/>
          <a:lstStyle/>
          <a:p>
            <a:pPr marL="0" indent="0" algn="ctr">
              <a:buNone/>
            </a:pPr>
            <a:r>
              <a:rPr lang="en-US" sz="1400" b="1">
                <a:solidFill>
                  <a:srgbClr val="0B2545"/>
                </a:solidFill>
                <a:latin typeface="Calibri" pitchFamily="34" charset="0"/>
                <a:ea typeface="Calibri" pitchFamily="34" charset="-122"/>
                <a:cs typeface="Calibri" pitchFamily="34" charset="-120"/>
              </a:rPr>
              <a:t>B</a:t>
            </a:r>
            <a:endParaRPr lang="en-US" sz="1400"/>
          </a:p>
        </p:txBody>
      </p:sp>
      <p:sp>
        <p:nvSpPr>
          <p:cNvPr id="14" name="Text 12"/>
          <p:cNvSpPr/>
          <p:nvPr/>
        </p:nvSpPr>
        <p:spPr>
          <a:xfrm>
            <a:off x="1143000" y="3172968"/>
            <a:ext cx="10469880" cy="457200"/>
          </a:xfrm>
          <a:prstGeom prst="rect">
            <a:avLst/>
          </a:prstGeom>
          <a:noFill/>
          <a:ln/>
        </p:spPr>
        <p:txBody>
          <a:bodyPr wrap="square" lIns="0" tIns="0" rIns="0" bIns="0" rtlCol="0" anchor="ctr"/>
          <a:lstStyle/>
          <a:p>
            <a:pPr marL="0" indent="0">
              <a:buNone/>
            </a:pPr>
            <a:r>
              <a:rPr lang="en-US" sz="1600">
                <a:solidFill>
                  <a:srgbClr val="1F2937"/>
                </a:solidFill>
                <a:latin typeface="Calibri" pitchFamily="34" charset="0"/>
                <a:ea typeface="Calibri" pitchFamily="34" charset="-122"/>
                <a:cs typeface="Calibri" pitchFamily="34" charset="-120"/>
              </a:rPr>
              <a:t>A colon (:)</a:t>
            </a:r>
            <a:endParaRPr lang="en-US" sz="1600"/>
          </a:p>
        </p:txBody>
      </p:sp>
      <p:sp>
        <p:nvSpPr>
          <p:cNvPr id="15" name="Shape 13"/>
          <p:cNvSpPr/>
          <p:nvPr/>
        </p:nvSpPr>
        <p:spPr>
          <a:xfrm>
            <a:off x="548640" y="3749040"/>
            <a:ext cx="457200" cy="457200"/>
          </a:xfrm>
          <a:prstGeom prst="ellipse">
            <a:avLst/>
          </a:prstGeom>
          <a:solidFill>
            <a:srgbClr val="EEF2FF"/>
          </a:solidFill>
          <a:ln w="12700">
            <a:solidFill>
              <a:srgbClr val="0B2545"/>
            </a:solidFill>
            <a:prstDash val="solid"/>
          </a:ln>
        </p:spPr>
        <p:txBody>
          <a:bodyPr/>
          <a:lstStyle/>
          <a:p>
            <a:endParaRPr lang="en-US"/>
          </a:p>
        </p:txBody>
      </p:sp>
      <p:sp>
        <p:nvSpPr>
          <p:cNvPr id="16" name="Text 14"/>
          <p:cNvSpPr/>
          <p:nvPr/>
        </p:nvSpPr>
        <p:spPr>
          <a:xfrm>
            <a:off x="548640" y="3749040"/>
            <a:ext cx="457200" cy="457200"/>
          </a:xfrm>
          <a:prstGeom prst="rect">
            <a:avLst/>
          </a:prstGeom>
          <a:noFill/>
          <a:ln/>
        </p:spPr>
        <p:txBody>
          <a:bodyPr wrap="square" lIns="0" tIns="0" rIns="0" bIns="0" rtlCol="0" anchor="ctr"/>
          <a:lstStyle/>
          <a:p>
            <a:pPr marL="0" indent="0" algn="ctr">
              <a:buNone/>
            </a:pPr>
            <a:r>
              <a:rPr lang="en-US" sz="1400" b="1">
                <a:solidFill>
                  <a:srgbClr val="0B2545"/>
                </a:solidFill>
                <a:latin typeface="Calibri" pitchFamily="34" charset="0"/>
                <a:ea typeface="Calibri" pitchFamily="34" charset="-122"/>
                <a:cs typeface="Calibri" pitchFamily="34" charset="-120"/>
              </a:rPr>
              <a:t>C</a:t>
            </a:r>
            <a:endParaRPr lang="en-US" sz="1400"/>
          </a:p>
        </p:txBody>
      </p:sp>
      <p:sp>
        <p:nvSpPr>
          <p:cNvPr id="17" name="Text 15"/>
          <p:cNvSpPr/>
          <p:nvPr/>
        </p:nvSpPr>
        <p:spPr>
          <a:xfrm>
            <a:off x="1143000" y="3767328"/>
            <a:ext cx="10469880" cy="457200"/>
          </a:xfrm>
          <a:prstGeom prst="rect">
            <a:avLst/>
          </a:prstGeom>
          <a:noFill/>
          <a:ln/>
        </p:spPr>
        <p:txBody>
          <a:bodyPr wrap="square" lIns="0" tIns="0" rIns="0" bIns="0" rtlCol="0" anchor="ctr"/>
          <a:lstStyle/>
          <a:p>
            <a:pPr marL="0" indent="0">
              <a:buNone/>
            </a:pPr>
            <a:r>
              <a:rPr lang="en-US" sz="1600">
                <a:solidFill>
                  <a:srgbClr val="1F2937"/>
                </a:solidFill>
                <a:latin typeface="Calibri" pitchFamily="34" charset="0"/>
                <a:ea typeface="Calibri" pitchFamily="34" charset="-122"/>
                <a:cs typeface="Calibri" pitchFamily="34" charset="-120"/>
              </a:rPr>
              <a:t>A semicolon (;)</a:t>
            </a:r>
            <a:endParaRPr lang="en-US" sz="1600"/>
          </a:p>
        </p:txBody>
      </p:sp>
      <p:sp>
        <p:nvSpPr>
          <p:cNvPr id="18" name="Shape 16"/>
          <p:cNvSpPr/>
          <p:nvPr/>
        </p:nvSpPr>
        <p:spPr>
          <a:xfrm>
            <a:off x="548640" y="4343400"/>
            <a:ext cx="457200" cy="457200"/>
          </a:xfrm>
          <a:prstGeom prst="ellipse">
            <a:avLst/>
          </a:prstGeom>
          <a:solidFill>
            <a:srgbClr val="EEF2FF"/>
          </a:solidFill>
          <a:ln w="12700">
            <a:solidFill>
              <a:srgbClr val="0B2545"/>
            </a:solidFill>
            <a:prstDash val="solid"/>
          </a:ln>
        </p:spPr>
        <p:txBody>
          <a:bodyPr/>
          <a:lstStyle/>
          <a:p>
            <a:endParaRPr lang="en-US"/>
          </a:p>
        </p:txBody>
      </p:sp>
      <p:sp>
        <p:nvSpPr>
          <p:cNvPr id="19" name="Text 17"/>
          <p:cNvSpPr/>
          <p:nvPr/>
        </p:nvSpPr>
        <p:spPr>
          <a:xfrm>
            <a:off x="548640" y="4343400"/>
            <a:ext cx="457200" cy="457200"/>
          </a:xfrm>
          <a:prstGeom prst="rect">
            <a:avLst/>
          </a:prstGeom>
          <a:noFill/>
          <a:ln/>
        </p:spPr>
        <p:txBody>
          <a:bodyPr wrap="square" lIns="0" tIns="0" rIns="0" bIns="0" rtlCol="0" anchor="ctr"/>
          <a:lstStyle/>
          <a:p>
            <a:pPr marL="0" indent="0" algn="ctr">
              <a:buNone/>
            </a:pPr>
            <a:r>
              <a:rPr lang="en-US" sz="1400" b="1">
                <a:solidFill>
                  <a:srgbClr val="0B2545"/>
                </a:solidFill>
                <a:latin typeface="Calibri" pitchFamily="34" charset="0"/>
                <a:ea typeface="Calibri" pitchFamily="34" charset="-122"/>
                <a:cs typeface="Calibri" pitchFamily="34" charset="-120"/>
              </a:rPr>
              <a:t>D</a:t>
            </a:r>
            <a:endParaRPr lang="en-US" sz="1400"/>
          </a:p>
        </p:txBody>
      </p:sp>
      <p:sp>
        <p:nvSpPr>
          <p:cNvPr id="20" name="Text 18"/>
          <p:cNvSpPr/>
          <p:nvPr/>
        </p:nvSpPr>
        <p:spPr>
          <a:xfrm>
            <a:off x="1143000" y="4361688"/>
            <a:ext cx="10469880" cy="457200"/>
          </a:xfrm>
          <a:prstGeom prst="rect">
            <a:avLst/>
          </a:prstGeom>
          <a:noFill/>
          <a:ln/>
        </p:spPr>
        <p:txBody>
          <a:bodyPr wrap="square" lIns="0" tIns="0" rIns="0" bIns="0" rtlCol="0" anchor="ctr"/>
          <a:lstStyle/>
          <a:p>
            <a:pPr marL="0" indent="0">
              <a:buNone/>
            </a:pPr>
            <a:r>
              <a:rPr lang="en-US" sz="1600">
                <a:solidFill>
                  <a:srgbClr val="1F2937"/>
                </a:solidFill>
                <a:latin typeface="Calibri" pitchFamily="34" charset="0"/>
                <a:ea typeface="Calibri" pitchFamily="34" charset="-122"/>
                <a:cs typeface="Calibri" pitchFamily="34" charset="-120"/>
              </a:rPr>
              <a:t>A comma (,)</a:t>
            </a:r>
            <a:endParaRPr lang="en-US" sz="1600"/>
          </a:p>
        </p:txBody>
      </p:sp>
      <p:sp>
        <p:nvSpPr>
          <p:cNvPr id="21" name="Shape 19"/>
          <p:cNvSpPr/>
          <p:nvPr/>
        </p:nvSpPr>
        <p:spPr>
          <a:xfrm>
            <a:off x="548640" y="6492240"/>
            <a:ext cx="11064240" cy="0"/>
          </a:xfrm>
          <a:prstGeom prst="line">
            <a:avLst/>
          </a:prstGeom>
          <a:noFill/>
          <a:ln w="9525">
            <a:solidFill>
              <a:srgbClr val="E5E7EB"/>
            </a:solidFill>
            <a:prstDash val="solid"/>
          </a:ln>
        </p:spPr>
        <p:txBody>
          <a:bodyPr/>
          <a:lstStyle/>
          <a:p>
            <a:endParaRPr lang="en-US"/>
          </a:p>
        </p:txBody>
      </p:sp>
      <p:sp>
        <p:nvSpPr>
          <p:cNvPr id="22" name="Text 20"/>
          <p:cNvSpPr/>
          <p:nvPr/>
        </p:nvSpPr>
        <p:spPr>
          <a:xfrm>
            <a:off x="548640" y="6537960"/>
            <a:ext cx="5486400" cy="274320"/>
          </a:xfrm>
          <a:prstGeom prst="rect">
            <a:avLst/>
          </a:prstGeom>
          <a:noFill/>
          <a:ln/>
        </p:spPr>
        <p:txBody>
          <a:bodyPr wrap="square" rtlCol="0" anchor="ctr"/>
          <a:lstStyle/>
          <a:p>
            <a:pPr marL="0" indent="0">
              <a:buNone/>
            </a:pPr>
            <a:r>
              <a:rPr lang="en-US" sz="1000">
                <a:solidFill>
                  <a:srgbClr val="6B7280"/>
                </a:solidFill>
                <a:latin typeface="Calibri" pitchFamily="34" charset="0"/>
                <a:ea typeface="Calibri" pitchFamily="34" charset="-122"/>
                <a:cs typeface="Calibri" pitchFamily="34" charset="-120"/>
              </a:rPr>
              <a:t>C# Concepts Quiz</a:t>
            </a:r>
            <a:endParaRPr lang="en-US" sz="10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73152"/>
          </a:xfrm>
          <a:prstGeom prst="rect">
            <a:avLst/>
          </a:prstGeom>
          <a:solidFill>
            <a:srgbClr val="F59E0B"/>
          </a:solidFill>
          <a:ln w="12700">
            <a:solidFill>
              <a:srgbClr val="F59E0B"/>
            </a:solidFill>
            <a:prstDash val="solid"/>
          </a:ln>
        </p:spPr>
        <p:txBody>
          <a:bodyPr/>
          <a:lstStyle/>
          <a:p>
            <a:endParaRPr lang="en-US"/>
          </a:p>
        </p:txBody>
      </p:sp>
      <p:sp>
        <p:nvSpPr>
          <p:cNvPr id="3" name="Shape 1"/>
          <p:cNvSpPr/>
          <p:nvPr/>
        </p:nvSpPr>
        <p:spPr>
          <a:xfrm>
            <a:off x="548640" y="365760"/>
            <a:ext cx="4023360" cy="411480"/>
          </a:xfrm>
          <a:prstGeom prst="rect">
            <a:avLst/>
          </a:prstGeom>
          <a:solidFill>
            <a:srgbClr val="FFF7E6"/>
          </a:solidFill>
          <a:ln w="9525">
            <a:solidFill>
              <a:srgbClr val="F59E0B"/>
            </a:solidFill>
            <a:prstDash val="solid"/>
          </a:ln>
        </p:spPr>
        <p:txBody>
          <a:bodyPr/>
          <a:lstStyle/>
          <a:p>
            <a:endParaRPr lang="en-US"/>
          </a:p>
        </p:txBody>
      </p:sp>
      <p:sp>
        <p:nvSpPr>
          <p:cNvPr id="4" name="Text 2"/>
          <p:cNvSpPr/>
          <p:nvPr/>
        </p:nvSpPr>
        <p:spPr>
          <a:xfrm>
            <a:off x="548640" y="365760"/>
            <a:ext cx="4023360" cy="411480"/>
          </a:xfrm>
          <a:prstGeom prst="rect">
            <a:avLst/>
          </a:prstGeom>
          <a:noFill/>
          <a:ln/>
        </p:spPr>
        <p:txBody>
          <a:bodyPr wrap="square" rtlCol="0" anchor="ctr"/>
          <a:lstStyle/>
          <a:p>
            <a:pPr marL="0" indent="0" algn="ctr">
              <a:buNone/>
            </a:pPr>
            <a:r>
              <a:rPr lang="en-US" sz="1100" b="1" kern="0" spc="200">
                <a:solidFill>
                  <a:srgbClr val="0B2545"/>
                </a:solidFill>
                <a:latin typeface="Calibri" pitchFamily="34" charset="0"/>
                <a:ea typeface="Calibri" pitchFamily="34" charset="-122"/>
                <a:cs typeface="Calibri" pitchFamily="34" charset="-120"/>
              </a:rPr>
              <a:t>SECTION 7 — DO-WHILE LOOPS</a:t>
            </a:r>
            <a:endParaRPr lang="en-US" sz="1100"/>
          </a:p>
        </p:txBody>
      </p:sp>
      <p:sp>
        <p:nvSpPr>
          <p:cNvPr id="5" name="Shape 3"/>
          <p:cNvSpPr/>
          <p:nvPr/>
        </p:nvSpPr>
        <p:spPr>
          <a:xfrm>
            <a:off x="9418320" y="365760"/>
            <a:ext cx="2194560" cy="411480"/>
          </a:xfrm>
          <a:prstGeom prst="rect">
            <a:avLst/>
          </a:prstGeom>
          <a:solidFill>
            <a:srgbClr val="ECFDF5"/>
          </a:solidFill>
          <a:ln w="9525">
            <a:solidFill>
              <a:srgbClr val="10B981"/>
            </a:solidFill>
            <a:prstDash val="solid"/>
          </a:ln>
        </p:spPr>
        <p:txBody>
          <a:bodyPr/>
          <a:lstStyle/>
          <a:p>
            <a:endParaRPr lang="en-US"/>
          </a:p>
        </p:txBody>
      </p:sp>
      <p:sp>
        <p:nvSpPr>
          <p:cNvPr id="6" name="Text 4"/>
          <p:cNvSpPr/>
          <p:nvPr/>
        </p:nvSpPr>
        <p:spPr>
          <a:xfrm>
            <a:off x="9418320" y="365760"/>
            <a:ext cx="2194560" cy="411480"/>
          </a:xfrm>
          <a:prstGeom prst="rect">
            <a:avLst/>
          </a:prstGeom>
          <a:noFill/>
          <a:ln/>
        </p:spPr>
        <p:txBody>
          <a:bodyPr wrap="square" rtlCol="0" anchor="ctr"/>
          <a:lstStyle/>
          <a:p>
            <a:pPr marL="0" indent="0" algn="ctr">
              <a:buNone/>
            </a:pPr>
            <a:r>
              <a:rPr lang="en-US" sz="1100" b="1" kern="0" spc="200">
                <a:solidFill>
                  <a:srgbClr val="10B981"/>
                </a:solidFill>
                <a:latin typeface="Calibri" pitchFamily="34" charset="0"/>
                <a:ea typeface="Calibri" pitchFamily="34" charset="-122"/>
                <a:cs typeface="Calibri" pitchFamily="34" charset="-120"/>
              </a:rPr>
              <a:t>Q18  ·  ANSWER</a:t>
            </a:r>
            <a:endParaRPr lang="en-US" sz="1100"/>
          </a:p>
        </p:txBody>
      </p:sp>
      <p:sp>
        <p:nvSpPr>
          <p:cNvPr id="7" name="Text 5"/>
          <p:cNvSpPr/>
          <p:nvPr/>
        </p:nvSpPr>
        <p:spPr>
          <a:xfrm>
            <a:off x="548640" y="1005840"/>
            <a:ext cx="11064240" cy="640080"/>
          </a:xfrm>
          <a:prstGeom prst="rect">
            <a:avLst/>
          </a:prstGeom>
          <a:noFill/>
          <a:ln/>
        </p:spPr>
        <p:txBody>
          <a:bodyPr wrap="square" rtlCol="0" anchor="t"/>
          <a:lstStyle/>
          <a:p>
            <a:pPr marL="0" indent="0">
              <a:buNone/>
            </a:pPr>
            <a:r>
              <a:rPr lang="en-US" sz="1500" i="1">
                <a:solidFill>
                  <a:srgbClr val="6B7280"/>
                </a:solidFill>
                <a:latin typeface="Calibri" pitchFamily="34" charset="0"/>
                <a:ea typeface="Calibri" pitchFamily="34" charset="-122"/>
                <a:cs typeface="Calibri" pitchFamily="34" charset="-120"/>
              </a:rPr>
              <a:t>What punctuation must follow the while(condition) at the end of a do-while loop?</a:t>
            </a:r>
            <a:endParaRPr lang="en-US" sz="1500"/>
          </a:p>
        </p:txBody>
      </p:sp>
      <p:sp>
        <p:nvSpPr>
          <p:cNvPr id="8" name="Shape 6"/>
          <p:cNvSpPr/>
          <p:nvPr/>
        </p:nvSpPr>
        <p:spPr>
          <a:xfrm>
            <a:off x="548640" y="1783080"/>
            <a:ext cx="11064240" cy="0"/>
          </a:xfrm>
          <a:prstGeom prst="line">
            <a:avLst/>
          </a:prstGeom>
          <a:noFill/>
          <a:ln w="12700">
            <a:solidFill>
              <a:srgbClr val="E5E7EB"/>
            </a:solidFill>
            <a:prstDash val="solid"/>
          </a:ln>
        </p:spPr>
        <p:txBody>
          <a:bodyPr/>
          <a:lstStyle/>
          <a:p>
            <a:endParaRPr lang="en-US"/>
          </a:p>
        </p:txBody>
      </p:sp>
      <p:sp>
        <p:nvSpPr>
          <p:cNvPr id="9" name="Shape 7"/>
          <p:cNvSpPr/>
          <p:nvPr/>
        </p:nvSpPr>
        <p:spPr>
          <a:xfrm>
            <a:off x="548640" y="1965960"/>
            <a:ext cx="11064240" cy="640080"/>
          </a:xfrm>
          <a:prstGeom prst="rect">
            <a:avLst/>
          </a:prstGeom>
          <a:solidFill>
            <a:srgbClr val="ECFDF5"/>
          </a:solidFill>
          <a:ln w="12700">
            <a:solidFill>
              <a:srgbClr val="10B981"/>
            </a:solidFill>
            <a:prstDash val="solid"/>
          </a:ln>
        </p:spPr>
        <p:txBody>
          <a:bodyPr/>
          <a:lstStyle/>
          <a:p>
            <a:endParaRPr lang="en-US"/>
          </a:p>
        </p:txBody>
      </p:sp>
      <p:sp>
        <p:nvSpPr>
          <p:cNvPr id="10" name="Text 8"/>
          <p:cNvSpPr/>
          <p:nvPr/>
        </p:nvSpPr>
        <p:spPr>
          <a:xfrm>
            <a:off x="777240" y="1965960"/>
            <a:ext cx="10607040" cy="640080"/>
          </a:xfrm>
          <a:prstGeom prst="rect">
            <a:avLst/>
          </a:prstGeom>
          <a:noFill/>
          <a:ln/>
        </p:spPr>
        <p:txBody>
          <a:bodyPr wrap="square" rtlCol="0" anchor="ctr"/>
          <a:lstStyle/>
          <a:p>
            <a:pPr marL="0" indent="0">
              <a:buNone/>
            </a:pPr>
            <a:r>
              <a:rPr lang="en-US" sz="1800" b="1">
                <a:solidFill>
                  <a:srgbClr val="065F46"/>
                </a:solidFill>
                <a:latin typeface="Calibri" pitchFamily="34" charset="0"/>
                <a:ea typeface="Calibri" pitchFamily="34" charset="-122"/>
                <a:cs typeface="Calibri" pitchFamily="34" charset="-120"/>
              </a:rPr>
              <a:t>Correct answer: C — a semicolon.</a:t>
            </a:r>
            <a:endParaRPr lang="en-US" sz="1800"/>
          </a:p>
        </p:txBody>
      </p:sp>
      <p:sp>
        <p:nvSpPr>
          <p:cNvPr id="11" name="Text 9"/>
          <p:cNvSpPr/>
          <p:nvPr/>
        </p:nvSpPr>
        <p:spPr>
          <a:xfrm>
            <a:off x="548640" y="2788920"/>
            <a:ext cx="11064240" cy="320040"/>
          </a:xfrm>
          <a:prstGeom prst="rect">
            <a:avLst/>
          </a:prstGeom>
          <a:noFill/>
          <a:ln/>
        </p:spPr>
        <p:txBody>
          <a:bodyPr wrap="square" rtlCol="0" anchor="ctr"/>
          <a:lstStyle/>
          <a:p>
            <a:pPr marL="0" indent="0">
              <a:buNone/>
            </a:pPr>
            <a:r>
              <a:rPr lang="en-US" sz="1200" b="1" kern="0" spc="300">
                <a:solidFill>
                  <a:srgbClr val="F59E0B"/>
                </a:solidFill>
                <a:latin typeface="Calibri" pitchFamily="34" charset="0"/>
                <a:ea typeface="Calibri" pitchFamily="34" charset="-122"/>
                <a:cs typeface="Calibri" pitchFamily="34" charset="-120"/>
              </a:rPr>
              <a:t>Explanation</a:t>
            </a:r>
            <a:endParaRPr lang="en-US" sz="1200"/>
          </a:p>
        </p:txBody>
      </p:sp>
      <p:sp>
        <p:nvSpPr>
          <p:cNvPr id="12" name="Text 10"/>
          <p:cNvSpPr/>
          <p:nvPr/>
        </p:nvSpPr>
        <p:spPr>
          <a:xfrm>
            <a:off x="548640" y="3154680"/>
            <a:ext cx="11064240" cy="2788920"/>
          </a:xfrm>
          <a:prstGeom prst="rect">
            <a:avLst/>
          </a:prstGeom>
          <a:noFill/>
          <a:ln/>
        </p:spPr>
        <p:txBody>
          <a:bodyPr wrap="square" rtlCol="0" anchor="t"/>
          <a:lstStyle/>
          <a:p>
            <a:pPr marL="0" indent="0">
              <a:buNone/>
            </a:pPr>
            <a:r>
              <a:rPr lang="en-US" sz="1600">
                <a:solidFill>
                  <a:srgbClr val="13315C"/>
                </a:solidFill>
                <a:latin typeface="Calibri" pitchFamily="34" charset="0"/>
                <a:ea typeface="Calibri" pitchFamily="34" charset="-122"/>
                <a:cs typeface="Calibri" pitchFamily="34" charset="-120"/>
              </a:rPr>
              <a:t>The syntax is do { ... } while (condition); A trailing semicolon after the closing parenthesis of while is required by the C# grammar and forgetting it is a common compile error.</a:t>
            </a:r>
            <a:endParaRPr lang="en-US" sz="1600"/>
          </a:p>
        </p:txBody>
      </p:sp>
      <p:sp>
        <p:nvSpPr>
          <p:cNvPr id="13" name="Shape 11"/>
          <p:cNvSpPr/>
          <p:nvPr/>
        </p:nvSpPr>
        <p:spPr>
          <a:xfrm>
            <a:off x="548640" y="6492240"/>
            <a:ext cx="11064240" cy="0"/>
          </a:xfrm>
          <a:prstGeom prst="line">
            <a:avLst/>
          </a:prstGeom>
          <a:noFill/>
          <a:ln w="9525">
            <a:solidFill>
              <a:srgbClr val="E5E7EB"/>
            </a:solidFill>
            <a:prstDash val="solid"/>
          </a:ln>
        </p:spPr>
        <p:txBody>
          <a:bodyPr/>
          <a:lstStyle/>
          <a:p>
            <a:endParaRPr lang="en-US"/>
          </a:p>
        </p:txBody>
      </p:sp>
      <p:sp>
        <p:nvSpPr>
          <p:cNvPr id="14" name="Text 12"/>
          <p:cNvSpPr/>
          <p:nvPr/>
        </p:nvSpPr>
        <p:spPr>
          <a:xfrm>
            <a:off x="548640" y="6537960"/>
            <a:ext cx="5486400" cy="274320"/>
          </a:xfrm>
          <a:prstGeom prst="rect">
            <a:avLst/>
          </a:prstGeom>
          <a:noFill/>
          <a:ln/>
        </p:spPr>
        <p:txBody>
          <a:bodyPr wrap="square" rtlCol="0" anchor="ctr"/>
          <a:lstStyle/>
          <a:p>
            <a:pPr marL="0" indent="0">
              <a:buNone/>
            </a:pPr>
            <a:r>
              <a:rPr lang="en-US" sz="1000">
                <a:solidFill>
                  <a:srgbClr val="6B7280"/>
                </a:solidFill>
                <a:latin typeface="Calibri" pitchFamily="34" charset="0"/>
                <a:ea typeface="Calibri" pitchFamily="34" charset="-122"/>
                <a:cs typeface="Calibri" pitchFamily="34" charset="-120"/>
              </a:rPr>
              <a:t>C# Concepts Quiz</a:t>
            </a:r>
            <a:endParaRPr lang="en-US" sz="10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301</TotalTime>
  <Words>1603</Words>
  <Application>Microsoft Office PowerPoint</Application>
  <PresentationFormat>Widescreen</PresentationFormat>
  <Paragraphs>243</Paragraphs>
  <Slides>25</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Aptos</vt:lpstr>
      <vt:lpstr>Aptos Display</vt: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Daniela Trapani</dc:creator>
  <cp:lastModifiedBy>Daniela Trapani</cp:lastModifiedBy>
  <cp:revision>1</cp:revision>
  <dcterms:created xsi:type="dcterms:W3CDTF">2026-06-15T22:44:22Z</dcterms:created>
  <dcterms:modified xsi:type="dcterms:W3CDTF">2026-06-16T13:38:21Z</dcterms:modified>
</cp:coreProperties>
</file>