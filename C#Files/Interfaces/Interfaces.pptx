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00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89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undo custSel delSld modSld">
      <pc:chgData name="Daniela Trapani" userId="30b41bef89cfceee" providerId="LiveId" clId="{ADEB5723-9D39-45AE-898F-3FDA33EC1B39}" dt="2026-06-24T15:19:09.053" v="30" actId="20577"/>
      <pc:docMkLst>
        <pc:docMk/>
      </pc:docMkLst>
      <pc:sldChg chg="modSp mod">
        <pc:chgData name="Daniela Trapani" userId="30b41bef89cfceee" providerId="LiveId" clId="{ADEB5723-9D39-45AE-898F-3FDA33EC1B39}" dt="2026-06-24T15:19:09.053" v="30" actId="20577"/>
        <pc:sldMkLst>
          <pc:docMk/>
          <pc:sldMk cId="0" sldId="261"/>
        </pc:sldMkLst>
        <pc:spChg chg="mod">
          <ac:chgData name="Daniela Trapani" userId="30b41bef89cfceee" providerId="LiveId" clId="{ADEB5723-9D39-45AE-898F-3FDA33EC1B39}" dt="2026-06-24T15:19:09.053" v="30" actId="20577"/>
          <ac:spMkLst>
            <pc:docMk/>
            <pc:sldMk cId="0" sldId="261"/>
            <ac:spMk id="12" creationId="{00000000-0000-0000-0000-000000000000}"/>
          </ac:spMkLst>
        </pc:spChg>
      </pc:sldChg>
      <pc:sldChg chg="del">
        <pc:chgData name="Daniela Trapani" userId="30b41bef89cfceee" providerId="LiveId" clId="{ADEB5723-9D39-45AE-898F-3FDA33EC1B39}" dt="2026-06-24T14:44:09.077" v="1" actId="2696"/>
        <pc:sldMkLst>
          <pc:docMk/>
          <pc:sldMk cId="0" sldId="265"/>
        </pc:sldMkLst>
      </pc:sldChg>
      <pc:sldChg chg="del">
        <pc:chgData name="Daniela Trapani" userId="30b41bef89cfceee" providerId="LiveId" clId="{ADEB5723-9D39-45AE-898F-3FDA33EC1B39}" dt="2026-06-24T14:44:00.838" v="0" actId="2696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32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0" y="182880"/>
            <a:ext cx="2514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360" b="1" dirty="0">
                <a:solidFill>
                  <a:srgbClr val="153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736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20" b="1" kern="0" spc="200" dirty="0">
                <a:solidFill>
                  <a:srgbClr val="6CA8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FOR NEW OBJECT-ORIENTED DEVELOPERS</a:t>
            </a:r>
            <a:endParaRPr lang="en-US" sz="1420" dirty="0"/>
          </a:p>
        </p:txBody>
      </p:sp>
      <p:sp>
        <p:nvSpPr>
          <p:cNvPr id="4" name="Text 2"/>
          <p:cNvSpPr/>
          <p:nvPr/>
        </p:nvSpPr>
        <p:spPr>
          <a:xfrm>
            <a:off x="502920" y="166420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</a:t>
            </a:r>
            <a:endParaRPr lang="en-US" sz="5020" dirty="0"/>
          </a:p>
        </p:txBody>
      </p:sp>
      <p:sp>
        <p:nvSpPr>
          <p:cNvPr id="5" name="Text 3"/>
          <p:cNvSpPr/>
          <p:nvPr/>
        </p:nvSpPr>
        <p:spPr>
          <a:xfrm>
            <a:off x="502920" y="2432304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20" b="1" dirty="0">
                <a:solidFill>
                  <a:srgbClr val="6CA8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Interfaces in C#</a:t>
            </a:r>
            <a:endParaRPr lang="en-US" sz="5020" dirty="0"/>
          </a:p>
        </p:txBody>
      </p:sp>
      <p:sp>
        <p:nvSpPr>
          <p:cNvPr id="6" name="Text 4"/>
          <p:cNvSpPr/>
          <p:nvPr/>
        </p:nvSpPr>
        <p:spPr>
          <a:xfrm>
            <a:off x="502920" y="33467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10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beginner's guide to contracts, polymorphism, and clean design.</a:t>
            </a:r>
            <a:endParaRPr lang="en-US" sz="1710" dirty="0"/>
          </a:p>
        </p:txBody>
      </p:sp>
      <p:sp>
        <p:nvSpPr>
          <p:cNvPr id="7" name="Shape 5"/>
          <p:cNvSpPr/>
          <p:nvPr/>
        </p:nvSpPr>
        <p:spPr>
          <a:xfrm>
            <a:off x="521208" y="4005072"/>
            <a:ext cx="13716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133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• Why • How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8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you'll learn</a:t>
            </a:r>
            <a:endParaRPr lang="en-US" sz="308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Interfaces in C#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7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886200" cy="932688"/>
          </a:xfrm>
          <a:prstGeom prst="roundRect">
            <a:avLst>
              <a:gd name="adj" fmla="val 4902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52704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2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420" dirty="0"/>
          </a:p>
        </p:txBody>
      </p:sp>
      <p:sp>
        <p:nvSpPr>
          <p:cNvPr id="8" name="Text 6"/>
          <p:cNvSpPr/>
          <p:nvPr/>
        </p:nvSpPr>
        <p:spPr>
          <a:xfrm>
            <a:off x="1463040" y="156362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idea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63040" y="18562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an interface is and the contract it represents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886200" cy="932688"/>
          </a:xfrm>
          <a:prstGeom prst="roundRect">
            <a:avLst>
              <a:gd name="adj" fmla="val 4902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73752" y="152704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2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420" dirty="0"/>
          </a:p>
        </p:txBody>
      </p:sp>
      <p:sp>
        <p:nvSpPr>
          <p:cNvPr id="12" name="Text 10"/>
          <p:cNvSpPr/>
          <p:nvPr/>
        </p:nvSpPr>
        <p:spPr>
          <a:xfrm>
            <a:off x="5669280" y="156362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vs class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669280" y="18562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interfaces differ from classes and abstract classes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514600"/>
            <a:ext cx="3886200" cy="932688"/>
          </a:xfrm>
          <a:prstGeom prst="roundRect">
            <a:avLst>
              <a:gd name="adj" fmla="val 4902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262432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2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420" dirty="0"/>
          </a:p>
        </p:txBody>
      </p:sp>
      <p:sp>
        <p:nvSpPr>
          <p:cNvPr id="16" name="Text 14"/>
          <p:cNvSpPr/>
          <p:nvPr/>
        </p:nvSpPr>
        <p:spPr>
          <a:xfrm>
            <a:off x="1463040" y="266090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Defining &amp; implementing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63040" y="29535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 an interface and fulfilling it in code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3886200" cy="932688"/>
          </a:xfrm>
          <a:prstGeom prst="roundRect">
            <a:avLst>
              <a:gd name="adj" fmla="val 4902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73752" y="262432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2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420" dirty="0"/>
          </a:p>
        </p:txBody>
      </p:sp>
      <p:sp>
        <p:nvSpPr>
          <p:cNvPr id="20" name="Text 18"/>
          <p:cNvSpPr/>
          <p:nvPr/>
        </p:nvSpPr>
        <p:spPr>
          <a:xfrm>
            <a:off x="5669280" y="266090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669280" y="29535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contract, many interchangeable behaviors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611880"/>
            <a:ext cx="3886200" cy="932688"/>
          </a:xfrm>
          <a:prstGeom prst="roundRect">
            <a:avLst>
              <a:gd name="adj" fmla="val 4902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372160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2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420" dirty="0"/>
          </a:p>
        </p:txBody>
      </p:sp>
      <p:sp>
        <p:nvSpPr>
          <p:cNvPr id="24" name="Text 22"/>
          <p:cNvSpPr/>
          <p:nvPr/>
        </p:nvSpPr>
        <p:spPr>
          <a:xfrm>
            <a:off x="1463040" y="37581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patterns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63040" y="40507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Payments, notifications, and dependency injection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611880"/>
            <a:ext cx="3886200" cy="932688"/>
          </a:xfrm>
          <a:prstGeom prst="roundRect">
            <a:avLst>
              <a:gd name="adj" fmla="val 4902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372160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2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3420" dirty="0"/>
          </a:p>
        </p:txBody>
      </p:sp>
      <p:sp>
        <p:nvSpPr>
          <p:cNvPr id="28" name="Text 26"/>
          <p:cNvSpPr/>
          <p:nvPr/>
        </p:nvSpPr>
        <p:spPr>
          <a:xfrm>
            <a:off x="5669280" y="37581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5669280" y="40507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Naming, sizing, and mistakes to avoid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8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an interface?</a:t>
            </a:r>
            <a:endParaRPr lang="en-US" sz="308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Interfaces in C#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7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interface is a </a:t>
            </a:r>
            <a:r>
              <a:rPr lang="en-US" sz="217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</a:t>
            </a:r>
            <a:r>
              <a:rPr lang="en-US" sz="217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17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4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defines </a:t>
            </a:r>
            <a:r>
              <a:rPr lang="en-US" sz="154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</a:t>
            </a:r>
            <a:r>
              <a:rPr lang="en-US" sz="154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type can do — the methods and properties it promises to provide — without saying </a:t>
            </a:r>
            <a:r>
              <a:rPr lang="en-US" sz="154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</a:t>
            </a:r>
            <a:r>
              <a:rPr lang="en-US" sz="154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any of it works.</a:t>
            </a:r>
            <a:endParaRPr lang="en-US" sz="154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4160520" cy="1572768"/>
          </a:xfrm>
          <a:prstGeom prst="roundRect">
            <a:avLst>
              <a:gd name="adj" fmla="val 2907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072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OF A WALL SOCKET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346704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7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device with the right plug works — a lamp, a laptop, a phone. The socket is the contract; the device decides what to do with the power.</a:t>
            </a:r>
            <a:endParaRPr lang="en-US" sz="1370" dirty="0"/>
          </a:p>
        </p:txBody>
      </p:sp>
      <p:sp>
        <p:nvSpPr>
          <p:cNvPr id="11" name="Shape 9"/>
          <p:cNvSpPr/>
          <p:nvPr/>
        </p:nvSpPr>
        <p:spPr>
          <a:xfrm>
            <a:off x="4983480" y="1463040"/>
            <a:ext cx="3657600" cy="2560320"/>
          </a:xfrm>
          <a:prstGeom prst="roundRect">
            <a:avLst>
              <a:gd name="adj" fmla="val 2500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B33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83480" y="1463040"/>
            <a:ext cx="3657600" cy="310896"/>
          </a:xfrm>
          <a:prstGeom prst="rect">
            <a:avLst/>
          </a:prstGeom>
          <a:solidFill>
            <a:srgbClr val="0A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84648" y="15819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67528" y="15819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50408" y="15819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18120" y="1463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74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5221224" y="1883664"/>
            <a:ext cx="32004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20" dirty="0">
                <a:solidFill>
                  <a:srgbClr val="6B7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contract: every logger</a:t>
            </a:r>
            <a:endParaRPr lang="en-US" sz="152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20" dirty="0">
                <a:solidFill>
                  <a:srgbClr val="6B7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must know how to Log.</a:t>
            </a:r>
            <a:endParaRPr lang="en-US" sz="152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2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2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r>
              <a:rPr lang="en-US" sz="152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ILogger</a:t>
            </a:r>
            <a:endParaRPr lang="en-US" sz="152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2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</a:t>
            </a:r>
            <a:r>
              <a:rPr lang="en-US" sz="15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5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5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message);</a:t>
            </a:r>
            <a:endParaRPr lang="en-US" sz="152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9834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method bodies — just the promise.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72625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8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vs. class vs. abstract</a:t>
            </a:r>
            <a:endParaRPr lang="en-US" sz="308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Interfaces in C#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70" dirty="0"/>
          </a:p>
        </p:txBody>
      </p:sp>
      <p:sp>
        <p:nvSpPr>
          <p:cNvPr id="6" name="Shape 4"/>
          <p:cNvSpPr/>
          <p:nvPr/>
        </p:nvSpPr>
        <p:spPr>
          <a:xfrm>
            <a:off x="502920" y="1193220"/>
            <a:ext cx="2670048" cy="2944368"/>
          </a:xfrm>
          <a:prstGeom prst="roundRect">
            <a:avLst>
              <a:gd name="adj" fmla="val 1027"/>
            </a:avLst>
          </a:prstGeom>
          <a:solidFill>
            <a:srgbClr val="FFFFFF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193220"/>
            <a:ext cx="2670048" cy="566928"/>
          </a:xfrm>
          <a:prstGeom prst="roundRect">
            <a:avLst>
              <a:gd name="adj" fmla="val 4839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76684"/>
            <a:ext cx="2670048" cy="283464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1932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</a:t>
            </a:r>
            <a:endParaRPr lang="en-US" sz="1710" dirty="0"/>
          </a:p>
        </p:txBody>
      </p:sp>
      <p:sp>
        <p:nvSpPr>
          <p:cNvPr id="10" name="Text 8"/>
          <p:cNvSpPr/>
          <p:nvPr/>
        </p:nvSpPr>
        <p:spPr>
          <a:xfrm>
            <a:off x="667512" y="186987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kern="0" spc="10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BLUEPRINT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04088" y="2244780"/>
            <a:ext cx="23042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 fields, state &amp; full method bodies</a:t>
            </a:r>
            <a:endParaRPr lang="en-US" sz="1600" dirty="0"/>
          </a:p>
          <a:p>
            <a:pPr marL="152400" indent="-1524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 from only ONE class</a:t>
            </a:r>
            <a:endParaRPr lang="en-US" sz="1600" dirty="0"/>
          </a:p>
          <a:p>
            <a:pPr marL="152400" indent="-1524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objects with new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74136" y="1193220"/>
            <a:ext cx="2670048" cy="2944368"/>
          </a:xfrm>
          <a:prstGeom prst="roundRect">
            <a:avLst>
              <a:gd name="adj" fmla="val 1027"/>
            </a:avLst>
          </a:prstGeom>
          <a:solidFill>
            <a:srgbClr val="FFFFFF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74136" y="1193220"/>
            <a:ext cx="2670048" cy="566928"/>
          </a:xfrm>
          <a:prstGeom prst="roundRect">
            <a:avLst>
              <a:gd name="adj" fmla="val 4839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74136" y="1476684"/>
            <a:ext cx="2670048" cy="2834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65576" y="11932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</a:t>
            </a:r>
            <a:endParaRPr lang="en-US" sz="1710" dirty="0"/>
          </a:p>
        </p:txBody>
      </p:sp>
      <p:sp>
        <p:nvSpPr>
          <p:cNvPr id="16" name="Text 14"/>
          <p:cNvSpPr/>
          <p:nvPr/>
        </p:nvSpPr>
        <p:spPr>
          <a:xfrm>
            <a:off x="3538728" y="186987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kern="0" spc="1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BLUEPRINT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3575304" y="2244780"/>
            <a:ext cx="23042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 of implemented &amp; unfinished methods</a:t>
            </a:r>
            <a:endParaRPr lang="en-US" sz="1600" dirty="0"/>
          </a:p>
          <a:p>
            <a:pPr marL="152400" indent="-1524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 from only ONE base</a:t>
            </a:r>
            <a:endParaRPr lang="en-US" sz="1600" dirty="0"/>
          </a:p>
          <a:p>
            <a:pPr marL="152400" indent="-1524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be instantiated directly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5352" y="1193220"/>
            <a:ext cx="2670048" cy="2944368"/>
          </a:xfrm>
          <a:prstGeom prst="roundRect">
            <a:avLst>
              <a:gd name="adj" fmla="val 1027"/>
            </a:avLst>
          </a:prstGeom>
          <a:solidFill>
            <a:srgbClr val="FFFFFF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45352" y="1193220"/>
            <a:ext cx="2670048" cy="566928"/>
          </a:xfrm>
          <a:prstGeom prst="roundRect">
            <a:avLst>
              <a:gd name="adj" fmla="val 4839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45352" y="1476684"/>
            <a:ext cx="2670048" cy="28346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36792" y="11932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</a:t>
            </a:r>
            <a:endParaRPr lang="en-US" sz="1710" dirty="0"/>
          </a:p>
        </p:txBody>
      </p:sp>
      <p:sp>
        <p:nvSpPr>
          <p:cNvPr id="22" name="Text 20"/>
          <p:cNvSpPr/>
          <p:nvPr/>
        </p:nvSpPr>
        <p:spPr>
          <a:xfrm>
            <a:off x="6409944" y="186987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PURE CONTRACT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6446520" y="2244780"/>
            <a:ext cx="23042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signatures, no state (by default)</a:t>
            </a:r>
            <a:endParaRPr lang="en-US" sz="1600" dirty="0"/>
          </a:p>
          <a:p>
            <a:pPr marL="152400" indent="-1524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MANY at once</a:t>
            </a:r>
            <a:endParaRPr lang="en-US" sz="1600" dirty="0"/>
          </a:p>
          <a:p>
            <a:pPr marL="152400" indent="-1524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be instantiated directly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4219884"/>
            <a:ext cx="8321040" cy="534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of thumb:  </a:t>
            </a:r>
            <a:r>
              <a:rPr lang="en-US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 class for “is-a” (a Dog is an Animal), and an interface for “can-do” (a Dog can Bark).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8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Defining an interface</a:t>
            </a:r>
            <a:endParaRPr lang="en-US" sz="308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Interfaces in C#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7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4297680" cy="3191406"/>
          </a:xfrm>
          <a:prstGeom prst="roundRect">
            <a:avLst>
              <a:gd name="adj" fmla="val 2258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B33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4297680" cy="310896"/>
          </a:xfrm>
          <a:prstGeom prst="rect">
            <a:avLst/>
          </a:prstGeom>
          <a:solidFill>
            <a:srgbClr val="0A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4088" y="15819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6968" y="15819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9848" y="15819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77640" y="1463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74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740664" y="1883664"/>
            <a:ext cx="38404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r>
              <a:rPr lang="en-US" sz="16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IShape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6B7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 method the type must provide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</a:t>
            </a:r>
            <a:r>
              <a:rPr lang="en-US" sz="16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6B7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 read-only property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{ </a:t>
            </a: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74920" y="1495415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49240" y="1403975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Prefix the name with 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1714871"/>
            <a:ext cx="3291840" cy="65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IShape, ILogger, IRepository — a long-standing C# convention.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4920" y="2513846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49240" y="242240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signatures only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73330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Methods, properties, events — but no bodies and no fields.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74920" y="3532277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49240" y="3440837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 are public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3751733"/>
            <a:ext cx="3390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in an interface is implicitly public; no modifiers needed.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8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an interface</a:t>
            </a:r>
            <a:endParaRPr lang="en-US" sz="308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Interfaces in C#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70" dirty="0"/>
          </a:p>
        </p:txBody>
      </p:sp>
      <p:sp>
        <p:nvSpPr>
          <p:cNvPr id="6" name="Shape 4"/>
          <p:cNvSpPr/>
          <p:nvPr/>
        </p:nvSpPr>
        <p:spPr>
          <a:xfrm>
            <a:off x="502920" y="1305644"/>
            <a:ext cx="4800600" cy="3116455"/>
          </a:xfrm>
          <a:prstGeom prst="roundRect">
            <a:avLst>
              <a:gd name="adj" fmla="val 2188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B33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05645"/>
            <a:ext cx="4800600" cy="310896"/>
          </a:xfrm>
          <a:prstGeom prst="rect">
            <a:avLst/>
          </a:prstGeom>
          <a:solidFill>
            <a:srgbClr val="0A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4088" y="1424517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6968" y="1424517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9848" y="1424517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0" y="1305645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74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740664" y="1726269"/>
            <a:ext cx="43434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IShape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radius;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r) =&gt; radius = r;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=&gt; </a:t>
            </a: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"Circle"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</a:t>
            </a: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4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.PI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radius * radius;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0" y="864108"/>
            <a:ext cx="3017520" cy="3593667"/>
          </a:xfrm>
          <a:prstGeom prst="roundRect">
            <a:avLst>
              <a:gd name="adj" fmla="val 1563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29300" y="1032073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29300" y="1431899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IShape — </a:t>
            </a: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declares that Circle fulfills the contract.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2161376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every member — </a:t>
            </a: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compiler won't build until Area() and Name both exist.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52160" y="345982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your own logic — </a:t>
            </a: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class is free to add fields and methods of its own.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GOING FURTHER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8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class, many contracts</a:t>
            </a:r>
            <a:endParaRPr lang="en-US" sz="308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Interfaces in C#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70" dirty="0"/>
          </a:p>
        </p:txBody>
      </p:sp>
      <p:sp>
        <p:nvSpPr>
          <p:cNvPr id="6" name="Text 4"/>
          <p:cNvSpPr/>
          <p:nvPr/>
        </p:nvSpPr>
        <p:spPr>
          <a:xfrm>
            <a:off x="502920" y="127101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class can inherit from only one base class — but it can implement </a:t>
            </a: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many interfaces as you like</a:t>
            </a:r>
            <a:r>
              <a:rPr lang="en-US" sz="20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Just separate them with commas.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5029200" cy="2564892"/>
          </a:xfrm>
          <a:prstGeom prst="roundRect">
            <a:avLst>
              <a:gd name="adj" fmla="val 2692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B33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5029200" cy="310896"/>
          </a:xfrm>
          <a:prstGeom prst="rect">
            <a:avLst/>
          </a:prstGeom>
          <a:solidFill>
            <a:srgbClr val="0A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231343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6968" y="231343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69848" y="231343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21945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74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740664" y="2615183"/>
            <a:ext cx="4572000" cy="203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FileLogger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ILogger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IDisposable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</a:t>
            </a: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m) =&gt;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r>
              <a:rPr lang="en-US" sz="14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.AppendAllText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"log.txt"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m);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</a:t>
            </a: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Dispose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4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.WriteLine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"Cleaned up"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06440" y="2194560"/>
            <a:ext cx="2834640" cy="2377440"/>
          </a:xfrm>
          <a:prstGeom prst="roundRect">
            <a:avLst>
              <a:gd name="adj" fmla="val 2308"/>
            </a:avLst>
          </a:prstGeom>
          <a:solidFill>
            <a:srgbClr val="0F2A4A"/>
          </a:solidFill>
          <a:ln/>
          <a:effectLst>
            <a:outerShdw blurRad="114300" dist="38100" dir="8100000" algn="bl" rotWithShape="0">
              <a:srgbClr val="0B1B33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377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A8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697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20" dirty="0">
                <a:solidFill>
                  <a:srgbClr val="D6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FileLogger now plays two roles: it can be used anywhere an ILogger is expected, and anywhere an IDisposable is expected.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03504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10" i="1" dirty="0">
                <a:solidFill>
                  <a:srgbClr val="9DB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contracts mix and match.</a:t>
            </a:r>
            <a:endParaRPr lang="en-US" sz="13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PAYOFF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8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Polymorphism: one contract, many forms</a:t>
            </a:r>
            <a:endParaRPr lang="en-US" sz="308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Interfaces in C#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7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different classes share an interface, your code can treat them </a:t>
            </a:r>
            <a:r>
              <a:rPr lang="en-US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identically</a:t>
            </a:r>
            <a:r>
              <a:rPr lang="en-US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calling the same method and letting each type respond in its own way.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4715" y="1934181"/>
            <a:ext cx="5437680" cy="2742749"/>
          </a:xfrm>
          <a:prstGeom prst="roundRect">
            <a:avLst>
              <a:gd name="adj" fmla="val 2545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B33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2093827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6968" y="2093827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69848" y="2093827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20574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74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704088" y="2305788"/>
            <a:ext cx="504464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IShape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shapes = { </a:t>
            </a: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(2), </a:t>
            </a: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 };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IShape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shapes)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</a:rPr>
              <a:t>{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4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.WriteLine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s.Name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s.Area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()}</a:t>
            </a: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</a:rPr>
              <a:t>}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4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4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40" dirty="0">
                <a:solidFill>
                  <a:srgbClr val="6B7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Circle: 12.57</a:t>
            </a:r>
            <a:endParaRPr lang="en-US" sz="134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40" dirty="0">
                <a:solidFill>
                  <a:srgbClr val="6B7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Square: 9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6055275" y="2039113"/>
            <a:ext cx="2743200" cy="2637818"/>
          </a:xfrm>
          <a:prstGeom prst="roundRect">
            <a:avLst>
              <a:gd name="adj" fmla="val 2353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3875" y="220130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3875" y="2505269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never asks “which shape is this?” It trusts the contract.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83875" y="35911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Triangle later and this code keeps working — untouched.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PATTERN ·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8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Swappable payment methods</a:t>
            </a:r>
            <a:endParaRPr lang="en-US" sz="308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Interfaces in C#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7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4572000" cy="2926080"/>
          </a:xfrm>
          <a:prstGeom prst="roundRect">
            <a:avLst>
              <a:gd name="adj" fmla="val 2188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B33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4572000" cy="310896"/>
          </a:xfrm>
          <a:prstGeom prst="rect">
            <a:avLst/>
          </a:prstGeom>
          <a:solidFill>
            <a:srgbClr val="0A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4088" y="15819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6968" y="15819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9848" y="15819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51960" y="1463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74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740664" y="1883664"/>
            <a:ext cx="41148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IPaymentMethod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</a:t>
            </a: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amount);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CreditCard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IPaymentMethod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r>
              <a:rPr lang="en-US" sz="1400" dirty="0">
                <a:solidFill>
                  <a:srgbClr val="6B7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PayPal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IPaymentMethod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r>
              <a:rPr lang="en-US" sz="1400" dirty="0">
                <a:solidFill>
                  <a:srgbClr val="6B7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ApplePay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</a:t>
            </a:r>
            <a:r>
              <a:rPr lang="en-US" sz="1400" dirty="0" err="1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IPaymentMethod</a:t>
            </a: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r>
              <a:rPr lang="en-US" sz="1400" dirty="0">
                <a:solidFill>
                  <a:srgbClr val="6B7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12080" y="146304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40680" y="1645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9385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checkout just needs something that can Pay(). It doesn't care if that's a card, PayPal, or Apple Pay.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5440680" y="2926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new provider tomorrow?  </a:t>
            </a:r>
            <a:r>
              <a:rPr lang="en-US" sz="142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one new class that implements IPaymentMethod — the checkout code never changes.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THIS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8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</a:t>
            </a:r>
            <a:endParaRPr lang="en-US" sz="308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Interfaces in C#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7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82296" cy="1371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20" b="1" dirty="0">
                <a:solidFill>
                  <a:srgbClr val="DCE9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420" dirty="0"/>
          </a:p>
        </p:txBody>
      </p:sp>
      <p:sp>
        <p:nvSpPr>
          <p:cNvPr id="9" name="Text 7"/>
          <p:cNvSpPr/>
          <p:nvPr/>
        </p:nvSpPr>
        <p:spPr>
          <a:xfrm>
            <a:off x="1280160" y="1664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7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it with I</a:t>
            </a:r>
            <a:endParaRPr lang="en-US" sz="1770" dirty="0"/>
          </a:p>
        </p:txBody>
      </p:sp>
      <p:sp>
        <p:nvSpPr>
          <p:cNvPr id="10" name="Text 8"/>
          <p:cNvSpPr/>
          <p:nvPr/>
        </p:nvSpPr>
        <p:spPr>
          <a:xfrm>
            <a:off x="1280160" y="204825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1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interface names with a capital I — IRepository, IClock. It signals intent at a glance.</a:t>
            </a:r>
            <a:endParaRPr lang="en-US" sz="1310" dirty="0"/>
          </a:p>
        </p:txBody>
      </p:sp>
      <p:sp>
        <p:nvSpPr>
          <p:cNvPr id="11" name="Shape 9"/>
          <p:cNvSpPr/>
          <p:nvPr/>
        </p:nvSpPr>
        <p:spPr>
          <a:xfrm>
            <a:off x="4709160" y="1481328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481328"/>
            <a:ext cx="82296" cy="1371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65192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20" b="1" dirty="0">
                <a:solidFill>
                  <a:srgbClr val="DCE9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420" dirty="0"/>
          </a:p>
        </p:txBody>
      </p:sp>
      <p:sp>
        <p:nvSpPr>
          <p:cNvPr id="14" name="Text 12"/>
          <p:cNvSpPr/>
          <p:nvPr/>
        </p:nvSpPr>
        <p:spPr>
          <a:xfrm>
            <a:off x="5486400" y="1664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7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them small</a:t>
            </a:r>
            <a:endParaRPr lang="en-US" sz="1770" dirty="0"/>
          </a:p>
        </p:txBody>
      </p:sp>
      <p:sp>
        <p:nvSpPr>
          <p:cNvPr id="15" name="Text 13"/>
          <p:cNvSpPr/>
          <p:nvPr/>
        </p:nvSpPr>
        <p:spPr>
          <a:xfrm>
            <a:off x="5486400" y="204825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1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focused interface with one job is easier to implement, test, and reuse.</a:t>
            </a:r>
            <a:endParaRPr lang="en-US" sz="1310" dirty="0"/>
          </a:p>
        </p:txBody>
      </p:sp>
      <p:sp>
        <p:nvSpPr>
          <p:cNvPr id="16" name="Shape 14"/>
          <p:cNvSpPr/>
          <p:nvPr/>
        </p:nvSpPr>
        <p:spPr>
          <a:xfrm>
            <a:off x="502920" y="3035808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3035808"/>
            <a:ext cx="82296" cy="1371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8952" y="3236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20" b="1" dirty="0">
                <a:solidFill>
                  <a:srgbClr val="DCE9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420" dirty="0"/>
          </a:p>
        </p:txBody>
      </p:sp>
      <p:sp>
        <p:nvSpPr>
          <p:cNvPr id="19" name="Text 17"/>
          <p:cNvSpPr/>
          <p:nvPr/>
        </p:nvSpPr>
        <p:spPr>
          <a:xfrm>
            <a:off x="1280160" y="3218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7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over mega</a:t>
            </a:r>
            <a:endParaRPr lang="en-US" sz="1770" dirty="0"/>
          </a:p>
        </p:txBody>
      </p:sp>
      <p:sp>
        <p:nvSpPr>
          <p:cNvPr id="20" name="Text 18"/>
          <p:cNvSpPr/>
          <p:nvPr/>
        </p:nvSpPr>
        <p:spPr>
          <a:xfrm>
            <a:off x="1280160" y="360273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1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 several specific interfaces to one giant one. Classes implement only what they need.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4709160" y="3035808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3035808"/>
            <a:ext cx="82296" cy="1371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65192" y="3236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20" b="1" dirty="0">
                <a:solidFill>
                  <a:srgbClr val="DCE9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420" dirty="0"/>
          </a:p>
        </p:txBody>
      </p:sp>
      <p:sp>
        <p:nvSpPr>
          <p:cNvPr id="24" name="Text 22"/>
          <p:cNvSpPr/>
          <p:nvPr/>
        </p:nvSpPr>
        <p:spPr>
          <a:xfrm>
            <a:off x="5486400" y="3218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7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to the contract</a:t>
            </a:r>
            <a:endParaRPr lang="en-US" sz="1770" dirty="0"/>
          </a:p>
        </p:txBody>
      </p:sp>
      <p:sp>
        <p:nvSpPr>
          <p:cNvPr id="25" name="Text 23"/>
          <p:cNvSpPr/>
          <p:nvPr/>
        </p:nvSpPr>
        <p:spPr>
          <a:xfrm>
            <a:off x="5486400" y="360273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1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variables and parameters as the interface, not the concrete class, for flexibility.</a:t>
            </a:r>
            <a:endParaRPr lang="en-US" sz="13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THIS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8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beginner mistakes</a:t>
            </a:r>
            <a:endParaRPr lang="en-US" sz="308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Interfaces in C#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7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713232"/>
          </a:xfrm>
          <a:prstGeom prst="roundRect">
            <a:avLst>
              <a:gd name="adj" fmla="val 5128"/>
            </a:avLst>
          </a:prstGeom>
          <a:solidFill>
            <a:srgbClr val="FBFC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18488"/>
            <a:ext cx="310896" cy="310896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E05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1216152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kitchen-sink interface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6152" y="177393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Cramming unrelated methods into one interface forces classes to implement things they don't need.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221992"/>
            <a:ext cx="81381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310896" cy="310896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E05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1216152" y="2313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Abstracting too early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6152" y="2578608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create an interface for a class that will only ever have one implementation. Add it when you need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026664"/>
            <a:ext cx="8138160" cy="713232"/>
          </a:xfrm>
          <a:prstGeom prst="roundRect">
            <a:avLst>
              <a:gd name="adj" fmla="val 5128"/>
            </a:avLst>
          </a:prstGeom>
          <a:solidFill>
            <a:srgbClr val="FBFC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227832"/>
            <a:ext cx="310896" cy="310896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E05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1216152" y="3118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Forgetting members are public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6152" y="3383280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can't mark an interface method private — everything in the contract is public by design.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831336"/>
            <a:ext cx="8138160" cy="85309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4032504"/>
            <a:ext cx="310896" cy="310896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E05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480" dirty="0"/>
          </a:p>
        </p:txBody>
      </p:sp>
      <p:sp>
        <p:nvSpPr>
          <p:cNvPr id="24" name="Text 22"/>
          <p:cNvSpPr/>
          <p:nvPr/>
        </p:nvSpPr>
        <p:spPr>
          <a:xfrm>
            <a:off x="1216152" y="39227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Confusing “is-a” with “can-do”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16152" y="4187952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 models what something IS; an interface models what something CAN DO. Reach for the right tool.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8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308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Interfaces in C#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8CA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7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931920" cy="1325880"/>
          </a:xfrm>
          <a:prstGeom prst="roundRect">
            <a:avLst>
              <a:gd name="adj" fmla="val 3448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592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4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740" dirty="0"/>
          </a:p>
        </p:txBody>
      </p:sp>
      <p:sp>
        <p:nvSpPr>
          <p:cNvPr id="8" name="Text 6"/>
          <p:cNvSpPr/>
          <p:nvPr/>
        </p:nvSpPr>
        <p:spPr>
          <a:xfrm>
            <a:off x="1280160" y="15925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contract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280160" y="195831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interface defines WHAT a type can do, never HOW.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481328"/>
            <a:ext cx="3931920" cy="1325880"/>
          </a:xfrm>
          <a:prstGeom prst="roundRect">
            <a:avLst>
              <a:gd name="adj" fmla="val 3448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57007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4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740" dirty="0"/>
          </a:p>
        </p:txBody>
      </p:sp>
      <p:sp>
        <p:nvSpPr>
          <p:cNvPr id="12" name="Text 10"/>
          <p:cNvSpPr/>
          <p:nvPr/>
        </p:nvSpPr>
        <p:spPr>
          <a:xfrm>
            <a:off x="5486400" y="1570071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 freely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5486400" y="1935831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class implements many interfaces — small contracts combine.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2990088"/>
            <a:ext cx="3931920" cy="1325880"/>
          </a:xfrm>
          <a:prstGeom prst="roundRect">
            <a:avLst>
              <a:gd name="adj" fmla="val 3448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08632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4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740" dirty="0"/>
          </a:p>
        </p:txBody>
      </p:sp>
      <p:sp>
        <p:nvSpPr>
          <p:cNvPr id="16" name="Text 14"/>
          <p:cNvSpPr/>
          <p:nvPr/>
        </p:nvSpPr>
        <p:spPr>
          <a:xfrm>
            <a:off x="1280160" y="308632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280160" y="345208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interface, different behavior, interchangeable at runtime.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2990088"/>
            <a:ext cx="3931920" cy="1325880"/>
          </a:xfrm>
          <a:prstGeom prst="roundRect">
            <a:avLst>
              <a:gd name="adj" fmla="val 3448"/>
            </a:avLst>
          </a:prstGeom>
          <a:solidFill>
            <a:srgbClr val="EEF4FE"/>
          </a:solidFill>
          <a:ln w="12700">
            <a:solidFill>
              <a:srgbClr val="D9E3F2"/>
            </a:solidFill>
            <a:prstDash val="solid"/>
          </a:ln>
          <a:effectLst>
            <a:outerShdw blurRad="88900" dist="25400" dir="8100000" algn="bl" rotWithShape="0">
              <a:srgbClr val="8FA8C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307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4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740" dirty="0"/>
          </a:p>
        </p:txBody>
      </p:sp>
      <p:sp>
        <p:nvSpPr>
          <p:cNvPr id="20" name="Text 18"/>
          <p:cNvSpPr/>
          <p:nvPr/>
        </p:nvSpPr>
        <p:spPr>
          <a:xfrm>
            <a:off x="5486400" y="30713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&amp; testable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5486400" y="343709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4455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Coding to interfaces unlocks dependency injection and easy testing.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2926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500" b="1" dirty="0">
                <a:solidFill>
                  <a:srgbClr val="1531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8500" dirty="0"/>
          </a:p>
        </p:txBody>
      </p:sp>
      <p:sp>
        <p:nvSpPr>
          <p:cNvPr id="3" name="Text 1"/>
          <p:cNvSpPr/>
          <p:nvPr/>
        </p:nvSpPr>
        <p:spPr>
          <a:xfrm>
            <a:off x="2514600" y="14173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20" b="1" kern="0" spc="200" dirty="0">
                <a:solidFill>
                  <a:srgbClr val="6CA8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READY</a:t>
            </a:r>
            <a:endParaRPr lang="en-US" sz="1420" dirty="0"/>
          </a:p>
        </p:txBody>
      </p:sp>
      <p:sp>
        <p:nvSpPr>
          <p:cNvPr id="4" name="Text 2"/>
          <p:cNvSpPr/>
          <p:nvPr/>
        </p:nvSpPr>
        <p:spPr>
          <a:xfrm>
            <a:off x="2514600" y="178308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7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small. Code to contracts.</a:t>
            </a:r>
            <a:endParaRPr lang="en-US" sz="3760" dirty="0"/>
          </a:p>
        </p:txBody>
      </p:sp>
      <p:sp>
        <p:nvSpPr>
          <p:cNvPr id="5" name="Text 3"/>
          <p:cNvSpPr/>
          <p:nvPr/>
        </p:nvSpPr>
        <p:spPr>
          <a:xfrm>
            <a:off x="2514600" y="2944368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40" dirty="0">
                <a:solidFill>
                  <a:srgbClr val="B9CB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a tiny interface, implement it in a class, and call it through the contract. That single habit is the foundation of clean, flexible object-oriented code.</a:t>
            </a:r>
            <a:endParaRPr lang="en-US" sz="1540" dirty="0"/>
          </a:p>
        </p:txBody>
      </p:sp>
      <p:sp>
        <p:nvSpPr>
          <p:cNvPr id="6" name="Shape 4"/>
          <p:cNvSpPr/>
          <p:nvPr/>
        </p:nvSpPr>
        <p:spPr>
          <a:xfrm>
            <a:off x="2532888" y="4069080"/>
            <a:ext cx="13716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14600" y="4206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10" i="1" dirty="0">
                <a:solidFill>
                  <a:srgbClr val="7E9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• Why • How — now go build something.</a:t>
            </a:r>
            <a:endParaRPr lang="en-US" sz="13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1195</Words>
  <Application>Microsoft Office PowerPoint</Application>
  <PresentationFormat>On-screen Show (16:9)</PresentationFormat>
  <Paragraphs>219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2026-06-22T23:54:16Z</dcterms:created>
  <dcterms:modified xsi:type="dcterms:W3CDTF">2026-06-24T18:04:01Z</dcterms:modified>
</cp:coreProperties>
</file>